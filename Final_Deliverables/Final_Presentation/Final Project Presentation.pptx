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57" r:id="rId6"/>
    <p:sldId id="259" r:id="rId7"/>
    <p:sldId id="260" r:id="rId8"/>
    <p:sldId id="258" r:id="rId9"/>
    <p:sldId id="266" r:id="rId10"/>
    <p:sldId id="267" r:id="rId11"/>
    <p:sldId id="268" r:id="rId12"/>
    <p:sldId id="269" r:id="rId13"/>
    <p:sldId id="271" r:id="rId14"/>
    <p:sldId id="272" r:id="rId15"/>
    <p:sldId id="273" r:id="rId16"/>
    <p:sldId id="263" r:id="rId17"/>
    <p:sldId id="262" r:id="rId18"/>
    <p:sldId id="270" r:id="rId19"/>
    <p:sldId id="274" r:id="rId20"/>
    <p:sldId id="276"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1ADB9-6053-4CC9-841A-CB55849825A9}" v="24" dt="2026-05-01T00:52:47.702"/>
    <p1510:client id="{5DC750C4-2F85-206C-4E8F-BFF40C059752}" v="524" dt="2026-04-30T20:55:01.849"/>
    <p1510:client id="{95B47632-C087-1EB7-E403-62795775273B}" v="1" dt="2026-05-01T00:41:54.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117" autoAdjust="0"/>
  </p:normalViewPr>
  <p:slideViewPr>
    <p:cSldViewPr snapToGrid="0">
      <p:cViewPr varScale="1">
        <p:scale>
          <a:sx n="33" d="100"/>
          <a:sy n="33" d="100"/>
        </p:scale>
        <p:origin x="1461"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image" Target="../media/image16.svg"/></Relationships>
</file>

<file path=ppt/diagrams/_rels/data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5.svg"/><Relationship Id="rId5" Type="http://schemas.openxmlformats.org/officeDocument/2006/relationships/image" Target="../media/image29.svg"/><Relationship Id="rId4" Type="http://schemas.openxmlformats.org/officeDocument/2006/relationships/image" Target="../media/image28.svg"/></Relationships>
</file>

<file path=ppt/diagrams/_rels/data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svg"/><Relationship Id="rId1" Type="http://schemas.openxmlformats.org/officeDocument/2006/relationships/image" Target="../media/image38.svg"/><Relationship Id="rId5" Type="http://schemas.openxmlformats.org/officeDocument/2006/relationships/image" Target="../media/image42.svg"/><Relationship Id="rId4" Type="http://schemas.openxmlformats.org/officeDocument/2006/relationships/image" Target="../media/image41.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image" Target="../media/image1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5.svg"/><Relationship Id="rId5" Type="http://schemas.openxmlformats.org/officeDocument/2006/relationships/image" Target="../media/image29.svg"/><Relationship Id="rId4" Type="http://schemas.openxmlformats.org/officeDocument/2006/relationships/image" Target="../media/image2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svg"/><Relationship Id="rId1" Type="http://schemas.openxmlformats.org/officeDocument/2006/relationships/image" Target="../media/image38.svg"/><Relationship Id="rId5" Type="http://schemas.openxmlformats.org/officeDocument/2006/relationships/image" Target="../media/image42.svg"/><Relationship Id="rId4" Type="http://schemas.openxmlformats.org/officeDocument/2006/relationships/image" Target="../media/image4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9C3409-D318-4E6F-BAE8-8B4B152B909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0F6B31A-D26E-4531-A008-37AF462B028A}">
      <dgm:prSet/>
      <dgm:spPr/>
      <dgm:t>
        <a:bodyPr/>
        <a:lstStyle/>
        <a:p>
          <a:pPr>
            <a:defRPr b="1"/>
          </a:pPr>
          <a:r>
            <a:rPr lang="en-US"/>
            <a:t>Evaluate current outreach methods: </a:t>
          </a:r>
        </a:p>
      </dgm:t>
    </dgm:pt>
    <dgm:pt modelId="{3259D465-1AFD-48FC-85C8-0A10CB878647}" type="parTrans" cxnId="{C879FA3F-767C-4655-9D07-0D73E7F8D705}">
      <dgm:prSet/>
      <dgm:spPr/>
      <dgm:t>
        <a:bodyPr/>
        <a:lstStyle/>
        <a:p>
          <a:endParaRPr lang="en-US"/>
        </a:p>
      </dgm:t>
    </dgm:pt>
    <dgm:pt modelId="{E9EA7A2F-85DF-4541-B20B-CE49A3EDD69B}" type="sibTrans" cxnId="{C879FA3F-767C-4655-9D07-0D73E7F8D705}">
      <dgm:prSet/>
      <dgm:spPr/>
      <dgm:t>
        <a:bodyPr/>
        <a:lstStyle/>
        <a:p>
          <a:endParaRPr lang="en-US"/>
        </a:p>
      </dgm:t>
    </dgm:pt>
    <dgm:pt modelId="{E8FF19D7-01FC-44F0-9D4E-2688DE4A34DE}">
      <dgm:prSet/>
      <dgm:spPr/>
      <dgm:t>
        <a:bodyPr/>
        <a:lstStyle/>
        <a:p>
          <a:r>
            <a:rPr lang="en-US"/>
            <a:t>Street outreach </a:t>
          </a:r>
        </a:p>
      </dgm:t>
    </dgm:pt>
    <dgm:pt modelId="{A3C04D79-D22D-4346-802B-0E07ADB645C3}" type="parTrans" cxnId="{35222399-0F75-4F3B-9F62-F4ADCFF52ECF}">
      <dgm:prSet/>
      <dgm:spPr/>
      <dgm:t>
        <a:bodyPr/>
        <a:lstStyle/>
        <a:p>
          <a:endParaRPr lang="en-US"/>
        </a:p>
      </dgm:t>
    </dgm:pt>
    <dgm:pt modelId="{E0D9FBD9-03C9-418B-99E7-E4C6DDFB6EF0}" type="sibTrans" cxnId="{35222399-0F75-4F3B-9F62-F4ADCFF52ECF}">
      <dgm:prSet/>
      <dgm:spPr/>
      <dgm:t>
        <a:bodyPr/>
        <a:lstStyle/>
        <a:p>
          <a:endParaRPr lang="en-US"/>
        </a:p>
      </dgm:t>
    </dgm:pt>
    <dgm:pt modelId="{4E2CB250-2CBA-420F-BBE9-77C24C2CA29A}">
      <dgm:prSet/>
      <dgm:spPr/>
      <dgm:t>
        <a:bodyPr/>
        <a:lstStyle/>
        <a:p>
          <a:r>
            <a:rPr lang="en-US"/>
            <a:t>Shelters </a:t>
          </a:r>
        </a:p>
      </dgm:t>
    </dgm:pt>
    <dgm:pt modelId="{B873C205-9E5D-4B75-BF13-7D9B14FA42EC}" type="parTrans" cxnId="{CA143CC1-E720-4576-86DE-46C231690B7C}">
      <dgm:prSet/>
      <dgm:spPr/>
      <dgm:t>
        <a:bodyPr/>
        <a:lstStyle/>
        <a:p>
          <a:endParaRPr lang="en-US"/>
        </a:p>
      </dgm:t>
    </dgm:pt>
    <dgm:pt modelId="{A4FA2E24-84F3-420E-8F36-E162AE3AF07E}" type="sibTrans" cxnId="{CA143CC1-E720-4576-86DE-46C231690B7C}">
      <dgm:prSet/>
      <dgm:spPr/>
      <dgm:t>
        <a:bodyPr/>
        <a:lstStyle/>
        <a:p>
          <a:endParaRPr lang="en-US"/>
        </a:p>
      </dgm:t>
    </dgm:pt>
    <dgm:pt modelId="{CC21A88B-39A4-4514-99AE-8999979579A7}">
      <dgm:prSet/>
      <dgm:spPr/>
      <dgm:t>
        <a:bodyPr/>
        <a:lstStyle/>
        <a:p>
          <a:r>
            <a:rPr lang="en-US"/>
            <a:t>Community events </a:t>
          </a:r>
        </a:p>
      </dgm:t>
    </dgm:pt>
    <dgm:pt modelId="{042B7611-E004-448D-A583-3992DC5334C1}" type="parTrans" cxnId="{50296316-8A5F-4489-A02E-18CB308A51AE}">
      <dgm:prSet/>
      <dgm:spPr/>
      <dgm:t>
        <a:bodyPr/>
        <a:lstStyle/>
        <a:p>
          <a:endParaRPr lang="en-US"/>
        </a:p>
      </dgm:t>
    </dgm:pt>
    <dgm:pt modelId="{3DDC3AE0-0A37-48A0-83BF-86692AD25455}" type="sibTrans" cxnId="{50296316-8A5F-4489-A02E-18CB308A51AE}">
      <dgm:prSet/>
      <dgm:spPr/>
      <dgm:t>
        <a:bodyPr/>
        <a:lstStyle/>
        <a:p>
          <a:endParaRPr lang="en-US"/>
        </a:p>
      </dgm:t>
    </dgm:pt>
    <dgm:pt modelId="{ACB39542-6800-4E03-B672-516DD464D20A}">
      <dgm:prSet/>
      <dgm:spPr/>
      <dgm:t>
        <a:bodyPr/>
        <a:lstStyle/>
        <a:p>
          <a:pPr>
            <a:defRPr b="1"/>
          </a:pPr>
          <a:r>
            <a:rPr lang="en-US"/>
            <a:t>Test new strategies: </a:t>
          </a:r>
        </a:p>
      </dgm:t>
    </dgm:pt>
    <dgm:pt modelId="{2DAFF70C-92CC-4F07-9A8A-D4FC4F34403B}" type="parTrans" cxnId="{34F9A402-4A85-4443-A1EF-27D1545E3A7D}">
      <dgm:prSet/>
      <dgm:spPr/>
      <dgm:t>
        <a:bodyPr/>
        <a:lstStyle/>
        <a:p>
          <a:endParaRPr lang="en-US"/>
        </a:p>
      </dgm:t>
    </dgm:pt>
    <dgm:pt modelId="{C8BFBB1A-C412-4702-96E6-058EBA918B0E}" type="sibTrans" cxnId="{34F9A402-4A85-4443-A1EF-27D1545E3A7D}">
      <dgm:prSet/>
      <dgm:spPr/>
      <dgm:t>
        <a:bodyPr/>
        <a:lstStyle/>
        <a:p>
          <a:endParaRPr lang="en-US"/>
        </a:p>
      </dgm:t>
    </dgm:pt>
    <dgm:pt modelId="{547AA161-72C4-45BD-BB39-4A76F1680F26}">
      <dgm:prSet/>
      <dgm:spPr/>
      <dgm:t>
        <a:bodyPr/>
        <a:lstStyle/>
        <a:p>
          <a:r>
            <a:rPr lang="en-US"/>
            <a:t>Digital outreach </a:t>
          </a:r>
        </a:p>
      </dgm:t>
    </dgm:pt>
    <dgm:pt modelId="{8F9944DA-F64E-4EF2-8245-4A5A1D5E444D}" type="parTrans" cxnId="{CB0B833F-8BF7-4468-AC97-88B6085EF02C}">
      <dgm:prSet/>
      <dgm:spPr/>
      <dgm:t>
        <a:bodyPr/>
        <a:lstStyle/>
        <a:p>
          <a:endParaRPr lang="en-US"/>
        </a:p>
      </dgm:t>
    </dgm:pt>
    <dgm:pt modelId="{FCDA1B78-1251-4E8E-AF47-46EF94BD2504}" type="sibTrans" cxnId="{CB0B833F-8BF7-4468-AC97-88B6085EF02C}">
      <dgm:prSet/>
      <dgm:spPr/>
      <dgm:t>
        <a:bodyPr/>
        <a:lstStyle/>
        <a:p>
          <a:endParaRPr lang="en-US"/>
        </a:p>
      </dgm:t>
    </dgm:pt>
    <dgm:pt modelId="{29E7F432-98CD-43C9-9A84-228E1B87A6BD}">
      <dgm:prSet/>
      <dgm:spPr/>
      <dgm:t>
        <a:bodyPr/>
        <a:lstStyle/>
        <a:p>
          <a:r>
            <a:rPr lang="en-US"/>
            <a:t>Community partnerships </a:t>
          </a:r>
        </a:p>
      </dgm:t>
    </dgm:pt>
    <dgm:pt modelId="{DFC1E0D3-6195-4452-A800-6D7F5C5ECE16}" type="parTrans" cxnId="{E3F50C02-3B42-4B1F-8AD3-62B3E448EA28}">
      <dgm:prSet/>
      <dgm:spPr/>
      <dgm:t>
        <a:bodyPr/>
        <a:lstStyle/>
        <a:p>
          <a:endParaRPr lang="en-US"/>
        </a:p>
      </dgm:t>
    </dgm:pt>
    <dgm:pt modelId="{5EB521A1-A8F8-40B1-AEEF-C8BAFA3E0DE2}" type="sibTrans" cxnId="{E3F50C02-3B42-4B1F-8AD3-62B3E448EA28}">
      <dgm:prSet/>
      <dgm:spPr/>
      <dgm:t>
        <a:bodyPr/>
        <a:lstStyle/>
        <a:p>
          <a:endParaRPr lang="en-US"/>
        </a:p>
      </dgm:t>
    </dgm:pt>
    <dgm:pt modelId="{5A54279C-C29B-4904-8654-FF36D5C29EA7}">
      <dgm:prSet/>
      <dgm:spPr/>
      <dgm:t>
        <a:bodyPr/>
        <a:lstStyle/>
        <a:p>
          <a:r>
            <a:rPr lang="en-US"/>
            <a:t>Peer‑to‑peer engagement</a:t>
          </a:r>
        </a:p>
      </dgm:t>
    </dgm:pt>
    <dgm:pt modelId="{88D6F348-1666-4CA2-A7B6-E5B4831CC6C8}" type="parTrans" cxnId="{E8AB3456-D112-44B0-A8B4-94859EAA0C63}">
      <dgm:prSet/>
      <dgm:spPr/>
      <dgm:t>
        <a:bodyPr/>
        <a:lstStyle/>
        <a:p>
          <a:endParaRPr lang="en-US"/>
        </a:p>
      </dgm:t>
    </dgm:pt>
    <dgm:pt modelId="{33C68FF1-051E-46A7-B8DE-C726C65BD49D}" type="sibTrans" cxnId="{E8AB3456-D112-44B0-A8B4-94859EAA0C63}">
      <dgm:prSet/>
      <dgm:spPr/>
      <dgm:t>
        <a:bodyPr/>
        <a:lstStyle/>
        <a:p>
          <a:endParaRPr lang="en-US"/>
        </a:p>
      </dgm:t>
    </dgm:pt>
    <dgm:pt modelId="{CBBFDAC6-F2D3-42AE-8187-2FAD7A91AC5F}" type="pres">
      <dgm:prSet presAssocID="{E29C3409-D318-4E6F-BAE8-8B4B152B9093}" presName="root" presStyleCnt="0">
        <dgm:presLayoutVars>
          <dgm:dir/>
          <dgm:resizeHandles val="exact"/>
        </dgm:presLayoutVars>
      </dgm:prSet>
      <dgm:spPr/>
    </dgm:pt>
    <dgm:pt modelId="{5459316F-8323-4D63-940C-C1938E3F628F}" type="pres">
      <dgm:prSet presAssocID="{C0F6B31A-D26E-4531-A008-37AF462B028A}" presName="compNode" presStyleCnt="0"/>
      <dgm:spPr/>
    </dgm:pt>
    <dgm:pt modelId="{1E3A5BBA-578F-4579-A8CF-1200E84B636B}" type="pres">
      <dgm:prSet presAssocID="{C0F6B31A-D26E-4531-A008-37AF462B028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ouse"/>
        </a:ext>
      </dgm:extLst>
    </dgm:pt>
    <dgm:pt modelId="{28DE0429-79CB-4CDF-9701-74212FCAAF7D}" type="pres">
      <dgm:prSet presAssocID="{C0F6B31A-D26E-4531-A008-37AF462B028A}" presName="iconSpace" presStyleCnt="0"/>
      <dgm:spPr/>
    </dgm:pt>
    <dgm:pt modelId="{1CE8A46D-BF68-4B5C-A93C-392AD012BF2B}" type="pres">
      <dgm:prSet presAssocID="{C0F6B31A-D26E-4531-A008-37AF462B028A}" presName="parTx" presStyleLbl="revTx" presStyleIdx="0" presStyleCnt="4">
        <dgm:presLayoutVars>
          <dgm:chMax val="0"/>
          <dgm:chPref val="0"/>
        </dgm:presLayoutVars>
      </dgm:prSet>
      <dgm:spPr/>
    </dgm:pt>
    <dgm:pt modelId="{7EFAF669-EBC8-49D9-8061-AD9CD9A2D95C}" type="pres">
      <dgm:prSet presAssocID="{C0F6B31A-D26E-4531-A008-37AF462B028A}" presName="txSpace" presStyleCnt="0"/>
      <dgm:spPr/>
    </dgm:pt>
    <dgm:pt modelId="{035590E1-4B88-4A0A-B168-F5F849AB972A}" type="pres">
      <dgm:prSet presAssocID="{C0F6B31A-D26E-4531-A008-37AF462B028A}" presName="desTx" presStyleLbl="revTx" presStyleIdx="1" presStyleCnt="4">
        <dgm:presLayoutVars/>
      </dgm:prSet>
      <dgm:spPr/>
    </dgm:pt>
    <dgm:pt modelId="{B4991777-9E00-47EF-96B0-0FB804BB28C6}" type="pres">
      <dgm:prSet presAssocID="{E9EA7A2F-85DF-4541-B20B-CE49A3EDD69B}" presName="sibTrans" presStyleCnt="0"/>
      <dgm:spPr/>
    </dgm:pt>
    <dgm:pt modelId="{A9804420-0BAA-4B82-B884-78B5F496F987}" type="pres">
      <dgm:prSet presAssocID="{ACB39542-6800-4E03-B672-516DD464D20A}" presName="compNode" presStyleCnt="0"/>
      <dgm:spPr/>
    </dgm:pt>
    <dgm:pt modelId="{4D3BAA88-C6C9-4B59-A1FA-2F439DB01448}" type="pres">
      <dgm:prSet presAssocID="{ACB39542-6800-4E03-B672-516DD464D2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keting"/>
        </a:ext>
      </dgm:extLst>
    </dgm:pt>
    <dgm:pt modelId="{56E546AD-0346-4CEB-A7A7-DB937DFCC7F1}" type="pres">
      <dgm:prSet presAssocID="{ACB39542-6800-4E03-B672-516DD464D20A}" presName="iconSpace" presStyleCnt="0"/>
      <dgm:spPr/>
    </dgm:pt>
    <dgm:pt modelId="{14649F02-B735-4967-B4CA-60550E0236A0}" type="pres">
      <dgm:prSet presAssocID="{ACB39542-6800-4E03-B672-516DD464D20A}" presName="parTx" presStyleLbl="revTx" presStyleIdx="2" presStyleCnt="4">
        <dgm:presLayoutVars>
          <dgm:chMax val="0"/>
          <dgm:chPref val="0"/>
        </dgm:presLayoutVars>
      </dgm:prSet>
      <dgm:spPr/>
    </dgm:pt>
    <dgm:pt modelId="{050B7040-8297-45C1-8CBF-DE6DBF751B4E}" type="pres">
      <dgm:prSet presAssocID="{ACB39542-6800-4E03-B672-516DD464D20A}" presName="txSpace" presStyleCnt="0"/>
      <dgm:spPr/>
    </dgm:pt>
    <dgm:pt modelId="{DD5C4205-4516-431A-A213-3AD970EA49E1}" type="pres">
      <dgm:prSet presAssocID="{ACB39542-6800-4E03-B672-516DD464D20A}" presName="desTx" presStyleLbl="revTx" presStyleIdx="3" presStyleCnt="4">
        <dgm:presLayoutVars/>
      </dgm:prSet>
      <dgm:spPr/>
    </dgm:pt>
  </dgm:ptLst>
  <dgm:cxnLst>
    <dgm:cxn modelId="{E3F50C02-3B42-4B1F-8AD3-62B3E448EA28}" srcId="{ACB39542-6800-4E03-B672-516DD464D20A}" destId="{29E7F432-98CD-43C9-9A84-228E1B87A6BD}" srcOrd="1" destOrd="0" parTransId="{DFC1E0D3-6195-4452-A800-6D7F5C5ECE16}" sibTransId="{5EB521A1-A8F8-40B1-AEEF-C8BAFA3E0DE2}"/>
    <dgm:cxn modelId="{34F9A402-4A85-4443-A1EF-27D1545E3A7D}" srcId="{E29C3409-D318-4E6F-BAE8-8B4B152B9093}" destId="{ACB39542-6800-4E03-B672-516DD464D20A}" srcOrd="1" destOrd="0" parTransId="{2DAFF70C-92CC-4F07-9A8A-D4FC4F34403B}" sibTransId="{C8BFBB1A-C412-4702-96E6-058EBA918B0E}"/>
    <dgm:cxn modelId="{50296316-8A5F-4489-A02E-18CB308A51AE}" srcId="{C0F6B31A-D26E-4531-A008-37AF462B028A}" destId="{CC21A88B-39A4-4514-99AE-8999979579A7}" srcOrd="2" destOrd="0" parTransId="{042B7611-E004-448D-A583-3992DC5334C1}" sibTransId="{3DDC3AE0-0A37-48A0-83BF-86692AD25455}"/>
    <dgm:cxn modelId="{39145E3C-17EA-456D-9A86-0CE946031E8A}" type="presOf" srcId="{E8FF19D7-01FC-44F0-9D4E-2688DE4A34DE}" destId="{035590E1-4B88-4A0A-B168-F5F849AB972A}" srcOrd="0" destOrd="0" presId="urn:microsoft.com/office/officeart/2018/5/layout/CenteredIconLabelDescriptionList"/>
    <dgm:cxn modelId="{CB0B833F-8BF7-4468-AC97-88B6085EF02C}" srcId="{ACB39542-6800-4E03-B672-516DD464D20A}" destId="{547AA161-72C4-45BD-BB39-4A76F1680F26}" srcOrd="0" destOrd="0" parTransId="{8F9944DA-F64E-4EF2-8245-4A5A1D5E444D}" sibTransId="{FCDA1B78-1251-4E8E-AF47-46EF94BD2504}"/>
    <dgm:cxn modelId="{C879FA3F-767C-4655-9D07-0D73E7F8D705}" srcId="{E29C3409-D318-4E6F-BAE8-8B4B152B9093}" destId="{C0F6B31A-D26E-4531-A008-37AF462B028A}" srcOrd="0" destOrd="0" parTransId="{3259D465-1AFD-48FC-85C8-0A10CB878647}" sibTransId="{E9EA7A2F-85DF-4541-B20B-CE49A3EDD69B}"/>
    <dgm:cxn modelId="{1D88DC52-7107-4065-971A-82749F82ADE2}" type="presOf" srcId="{CC21A88B-39A4-4514-99AE-8999979579A7}" destId="{035590E1-4B88-4A0A-B168-F5F849AB972A}" srcOrd="0" destOrd="2" presId="urn:microsoft.com/office/officeart/2018/5/layout/CenteredIconLabelDescriptionList"/>
    <dgm:cxn modelId="{E8AB3456-D112-44B0-A8B4-94859EAA0C63}" srcId="{ACB39542-6800-4E03-B672-516DD464D20A}" destId="{5A54279C-C29B-4904-8654-FF36D5C29EA7}" srcOrd="2" destOrd="0" parTransId="{88D6F348-1666-4CA2-A7B6-E5B4831CC6C8}" sibTransId="{33C68FF1-051E-46A7-B8DE-C726C65BD49D}"/>
    <dgm:cxn modelId="{C39AD87A-17E7-462C-9C3F-38B850CD301E}" type="presOf" srcId="{5A54279C-C29B-4904-8654-FF36D5C29EA7}" destId="{DD5C4205-4516-431A-A213-3AD970EA49E1}" srcOrd="0" destOrd="2" presId="urn:microsoft.com/office/officeart/2018/5/layout/CenteredIconLabelDescriptionList"/>
    <dgm:cxn modelId="{D53A328A-B897-4EF9-8368-A42BE2C43D83}" type="presOf" srcId="{4E2CB250-2CBA-420F-BBE9-77C24C2CA29A}" destId="{035590E1-4B88-4A0A-B168-F5F849AB972A}" srcOrd="0" destOrd="1" presId="urn:microsoft.com/office/officeart/2018/5/layout/CenteredIconLabelDescriptionList"/>
    <dgm:cxn modelId="{35222399-0F75-4F3B-9F62-F4ADCFF52ECF}" srcId="{C0F6B31A-D26E-4531-A008-37AF462B028A}" destId="{E8FF19D7-01FC-44F0-9D4E-2688DE4A34DE}" srcOrd="0" destOrd="0" parTransId="{A3C04D79-D22D-4346-802B-0E07ADB645C3}" sibTransId="{E0D9FBD9-03C9-418B-99E7-E4C6DDFB6EF0}"/>
    <dgm:cxn modelId="{0D52CE99-FC51-4501-9EA6-95319C00796B}" type="presOf" srcId="{29E7F432-98CD-43C9-9A84-228E1B87A6BD}" destId="{DD5C4205-4516-431A-A213-3AD970EA49E1}" srcOrd="0" destOrd="1" presId="urn:microsoft.com/office/officeart/2018/5/layout/CenteredIconLabelDescriptionList"/>
    <dgm:cxn modelId="{6A2050AD-344F-4BFB-BE6D-1885FC58E4A0}" type="presOf" srcId="{C0F6B31A-D26E-4531-A008-37AF462B028A}" destId="{1CE8A46D-BF68-4B5C-A93C-392AD012BF2B}" srcOrd="0" destOrd="0" presId="urn:microsoft.com/office/officeart/2018/5/layout/CenteredIconLabelDescriptionList"/>
    <dgm:cxn modelId="{4BEF2DB8-B9BC-42EA-A1BC-DF72900F113E}" type="presOf" srcId="{E29C3409-D318-4E6F-BAE8-8B4B152B9093}" destId="{CBBFDAC6-F2D3-42AE-8187-2FAD7A91AC5F}" srcOrd="0" destOrd="0" presId="urn:microsoft.com/office/officeart/2018/5/layout/CenteredIconLabelDescriptionList"/>
    <dgm:cxn modelId="{B82AFEC0-7574-4335-BDA8-73983A4A556F}" type="presOf" srcId="{ACB39542-6800-4E03-B672-516DD464D20A}" destId="{14649F02-B735-4967-B4CA-60550E0236A0}" srcOrd="0" destOrd="0" presId="urn:microsoft.com/office/officeart/2018/5/layout/CenteredIconLabelDescriptionList"/>
    <dgm:cxn modelId="{CA143CC1-E720-4576-86DE-46C231690B7C}" srcId="{C0F6B31A-D26E-4531-A008-37AF462B028A}" destId="{4E2CB250-2CBA-420F-BBE9-77C24C2CA29A}" srcOrd="1" destOrd="0" parTransId="{B873C205-9E5D-4B75-BF13-7D9B14FA42EC}" sibTransId="{A4FA2E24-84F3-420E-8F36-E162AE3AF07E}"/>
    <dgm:cxn modelId="{BB64F0F6-1F96-4575-8310-04D87C7C6FD9}" type="presOf" srcId="{547AA161-72C4-45BD-BB39-4A76F1680F26}" destId="{DD5C4205-4516-431A-A213-3AD970EA49E1}" srcOrd="0" destOrd="0" presId="urn:microsoft.com/office/officeart/2018/5/layout/CenteredIconLabelDescriptionList"/>
    <dgm:cxn modelId="{041A41C0-42BA-457A-BB88-0E800C8B07A1}" type="presParOf" srcId="{CBBFDAC6-F2D3-42AE-8187-2FAD7A91AC5F}" destId="{5459316F-8323-4D63-940C-C1938E3F628F}" srcOrd="0" destOrd="0" presId="urn:microsoft.com/office/officeart/2018/5/layout/CenteredIconLabelDescriptionList"/>
    <dgm:cxn modelId="{B0BAA2E7-EAE2-4E94-B880-2E9217612ECD}" type="presParOf" srcId="{5459316F-8323-4D63-940C-C1938E3F628F}" destId="{1E3A5BBA-578F-4579-A8CF-1200E84B636B}" srcOrd="0" destOrd="0" presId="urn:microsoft.com/office/officeart/2018/5/layout/CenteredIconLabelDescriptionList"/>
    <dgm:cxn modelId="{2F00164C-D29F-4B2C-BEF0-DC4517A7875C}" type="presParOf" srcId="{5459316F-8323-4D63-940C-C1938E3F628F}" destId="{28DE0429-79CB-4CDF-9701-74212FCAAF7D}" srcOrd="1" destOrd="0" presId="urn:microsoft.com/office/officeart/2018/5/layout/CenteredIconLabelDescriptionList"/>
    <dgm:cxn modelId="{8D37985A-FEBE-4853-A0C8-20342B060C93}" type="presParOf" srcId="{5459316F-8323-4D63-940C-C1938E3F628F}" destId="{1CE8A46D-BF68-4B5C-A93C-392AD012BF2B}" srcOrd="2" destOrd="0" presId="urn:microsoft.com/office/officeart/2018/5/layout/CenteredIconLabelDescriptionList"/>
    <dgm:cxn modelId="{96B403F3-FF7D-4091-ADD8-C0668E398DD9}" type="presParOf" srcId="{5459316F-8323-4D63-940C-C1938E3F628F}" destId="{7EFAF669-EBC8-49D9-8061-AD9CD9A2D95C}" srcOrd="3" destOrd="0" presId="urn:microsoft.com/office/officeart/2018/5/layout/CenteredIconLabelDescriptionList"/>
    <dgm:cxn modelId="{965F4063-D592-4AC2-A317-21193DA560F3}" type="presParOf" srcId="{5459316F-8323-4D63-940C-C1938E3F628F}" destId="{035590E1-4B88-4A0A-B168-F5F849AB972A}" srcOrd="4" destOrd="0" presId="urn:microsoft.com/office/officeart/2018/5/layout/CenteredIconLabelDescriptionList"/>
    <dgm:cxn modelId="{03F2C2DB-F042-4650-814A-F7C2CE15CE1C}" type="presParOf" srcId="{CBBFDAC6-F2D3-42AE-8187-2FAD7A91AC5F}" destId="{B4991777-9E00-47EF-96B0-0FB804BB28C6}" srcOrd="1" destOrd="0" presId="urn:microsoft.com/office/officeart/2018/5/layout/CenteredIconLabelDescriptionList"/>
    <dgm:cxn modelId="{CDB9E02B-0581-4E67-BEC8-4D5B829D6869}" type="presParOf" srcId="{CBBFDAC6-F2D3-42AE-8187-2FAD7A91AC5F}" destId="{A9804420-0BAA-4B82-B884-78B5F496F987}" srcOrd="2" destOrd="0" presId="urn:microsoft.com/office/officeart/2018/5/layout/CenteredIconLabelDescriptionList"/>
    <dgm:cxn modelId="{40536834-99BF-408C-ABBF-70182EAD1575}" type="presParOf" srcId="{A9804420-0BAA-4B82-B884-78B5F496F987}" destId="{4D3BAA88-C6C9-4B59-A1FA-2F439DB01448}" srcOrd="0" destOrd="0" presId="urn:microsoft.com/office/officeart/2018/5/layout/CenteredIconLabelDescriptionList"/>
    <dgm:cxn modelId="{646B38F6-E36C-424C-ACAE-0E982970C726}" type="presParOf" srcId="{A9804420-0BAA-4B82-B884-78B5F496F987}" destId="{56E546AD-0346-4CEB-A7A7-DB937DFCC7F1}" srcOrd="1" destOrd="0" presId="urn:microsoft.com/office/officeart/2018/5/layout/CenteredIconLabelDescriptionList"/>
    <dgm:cxn modelId="{40AAD2B5-625D-4704-996B-85EC7446C206}" type="presParOf" srcId="{A9804420-0BAA-4B82-B884-78B5F496F987}" destId="{14649F02-B735-4967-B4CA-60550E0236A0}" srcOrd="2" destOrd="0" presId="urn:microsoft.com/office/officeart/2018/5/layout/CenteredIconLabelDescriptionList"/>
    <dgm:cxn modelId="{C824B73C-04DF-4424-9015-5840252A2B77}" type="presParOf" srcId="{A9804420-0BAA-4B82-B884-78B5F496F987}" destId="{050B7040-8297-45C1-8CBF-DE6DBF751B4E}" srcOrd="3" destOrd="0" presId="urn:microsoft.com/office/officeart/2018/5/layout/CenteredIconLabelDescriptionList"/>
    <dgm:cxn modelId="{6219A263-570B-4B7F-9BBB-C94AAD3F2355}" type="presParOf" srcId="{A9804420-0BAA-4B82-B884-78B5F496F987}" destId="{DD5C4205-4516-431A-A213-3AD970EA49E1}"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5626A5-ABA6-4DDA-B95D-847A24A99BF2}"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3E91AC01-C58B-446C-8506-8F3610D62D0B}">
      <dgm:prSet/>
      <dgm:spPr/>
      <dgm:t>
        <a:bodyPr/>
        <a:lstStyle/>
        <a:p>
          <a:r>
            <a:rPr lang="en-US"/>
            <a:t>Match individuals to housing programs based on needs + eligibility</a:t>
          </a:r>
        </a:p>
      </dgm:t>
    </dgm:pt>
    <dgm:pt modelId="{9F7BE492-C530-4695-9B3D-8AD6CF685C84}" type="parTrans" cxnId="{BE1E86C6-792B-4E82-9EDC-D2E605B96FFC}">
      <dgm:prSet/>
      <dgm:spPr/>
      <dgm:t>
        <a:bodyPr/>
        <a:lstStyle/>
        <a:p>
          <a:endParaRPr lang="en-US"/>
        </a:p>
      </dgm:t>
    </dgm:pt>
    <dgm:pt modelId="{2E2189DB-7120-4D3B-ABC8-E64FF2E935B7}" type="sibTrans" cxnId="{BE1E86C6-792B-4E82-9EDC-D2E605B96FFC}">
      <dgm:prSet/>
      <dgm:spPr/>
      <dgm:t>
        <a:bodyPr/>
        <a:lstStyle/>
        <a:p>
          <a:endParaRPr lang="en-US"/>
        </a:p>
      </dgm:t>
    </dgm:pt>
    <dgm:pt modelId="{A1E66CC3-5624-467A-8E13-FE870F204112}">
      <dgm:prSet/>
      <dgm:spPr/>
      <dgm:t>
        <a:bodyPr/>
        <a:lstStyle/>
        <a:p>
          <a:r>
            <a:rPr lang="en-US"/>
            <a:t>Develop tools for outreach workers to guide clients through:</a:t>
          </a:r>
        </a:p>
      </dgm:t>
    </dgm:pt>
    <dgm:pt modelId="{DB65D03A-EB64-4F12-BAA0-018329A1B8E7}" type="parTrans" cxnId="{82FC0AE6-8AD4-4269-A3FD-0E6D3BC5B255}">
      <dgm:prSet/>
      <dgm:spPr/>
      <dgm:t>
        <a:bodyPr/>
        <a:lstStyle/>
        <a:p>
          <a:endParaRPr lang="en-US"/>
        </a:p>
      </dgm:t>
    </dgm:pt>
    <dgm:pt modelId="{D48313A0-5D47-4208-88B0-989C75BDBC18}" type="sibTrans" cxnId="{82FC0AE6-8AD4-4269-A3FD-0E6D3BC5B255}">
      <dgm:prSet/>
      <dgm:spPr/>
      <dgm:t>
        <a:bodyPr/>
        <a:lstStyle/>
        <a:p>
          <a:endParaRPr lang="en-US"/>
        </a:p>
      </dgm:t>
    </dgm:pt>
    <dgm:pt modelId="{BA8B9427-31AC-4841-801C-DE16F764444B}">
      <dgm:prSet/>
      <dgm:spPr/>
      <dgm:t>
        <a:bodyPr/>
        <a:lstStyle/>
        <a:p>
          <a:r>
            <a:rPr lang="en-US"/>
            <a:t>Application processes </a:t>
          </a:r>
        </a:p>
      </dgm:t>
    </dgm:pt>
    <dgm:pt modelId="{795B7B98-00CD-4D47-BA10-C4A364D58595}" type="parTrans" cxnId="{6B8596C4-B6A4-46E8-B9CC-E868328AA217}">
      <dgm:prSet/>
      <dgm:spPr/>
      <dgm:t>
        <a:bodyPr/>
        <a:lstStyle/>
        <a:p>
          <a:endParaRPr lang="en-US"/>
        </a:p>
      </dgm:t>
    </dgm:pt>
    <dgm:pt modelId="{53629770-1BD8-4BCC-8C20-DD56DE5335C6}" type="sibTrans" cxnId="{6B8596C4-B6A4-46E8-B9CC-E868328AA217}">
      <dgm:prSet/>
      <dgm:spPr/>
      <dgm:t>
        <a:bodyPr/>
        <a:lstStyle/>
        <a:p>
          <a:endParaRPr lang="en-US"/>
        </a:p>
      </dgm:t>
    </dgm:pt>
    <dgm:pt modelId="{0DE1A664-6EE6-4425-9BA3-1B755FB55E32}">
      <dgm:prSet/>
      <dgm:spPr/>
      <dgm:t>
        <a:bodyPr/>
        <a:lstStyle/>
        <a:p>
          <a:r>
            <a:rPr lang="en-US"/>
            <a:t>Program navigation </a:t>
          </a:r>
        </a:p>
      </dgm:t>
    </dgm:pt>
    <dgm:pt modelId="{71052EA6-4E85-461F-86A6-4A345A118CD4}" type="parTrans" cxnId="{55C731F2-B318-4562-B310-FC7E27811F1C}">
      <dgm:prSet/>
      <dgm:spPr/>
      <dgm:t>
        <a:bodyPr/>
        <a:lstStyle/>
        <a:p>
          <a:endParaRPr lang="en-US"/>
        </a:p>
      </dgm:t>
    </dgm:pt>
    <dgm:pt modelId="{AEFCB0DA-BB4E-474A-848B-A038FEBB6816}" type="sibTrans" cxnId="{55C731F2-B318-4562-B310-FC7E27811F1C}">
      <dgm:prSet/>
      <dgm:spPr/>
      <dgm:t>
        <a:bodyPr/>
        <a:lstStyle/>
        <a:p>
          <a:endParaRPr lang="en-US"/>
        </a:p>
      </dgm:t>
    </dgm:pt>
    <dgm:pt modelId="{7B21BD69-90C6-4946-AA76-61B274C334F2}">
      <dgm:prSet/>
      <dgm:spPr/>
      <dgm:t>
        <a:bodyPr/>
        <a:lstStyle/>
        <a:p>
          <a:r>
            <a:rPr lang="en-US"/>
            <a:t>Transition to stable housing</a:t>
          </a:r>
        </a:p>
      </dgm:t>
    </dgm:pt>
    <dgm:pt modelId="{D9D68F30-4519-4B7E-B541-122BB855D052}" type="parTrans" cxnId="{CEF9531A-5B49-4A51-B5C9-46066733EA64}">
      <dgm:prSet/>
      <dgm:spPr/>
      <dgm:t>
        <a:bodyPr/>
        <a:lstStyle/>
        <a:p>
          <a:endParaRPr lang="en-US"/>
        </a:p>
      </dgm:t>
    </dgm:pt>
    <dgm:pt modelId="{CA1D078C-366B-4B61-8038-89C7D6AC19D6}" type="sibTrans" cxnId="{CEF9531A-5B49-4A51-B5C9-46066733EA64}">
      <dgm:prSet/>
      <dgm:spPr/>
      <dgm:t>
        <a:bodyPr/>
        <a:lstStyle/>
        <a:p>
          <a:endParaRPr lang="en-US"/>
        </a:p>
      </dgm:t>
    </dgm:pt>
    <dgm:pt modelId="{1E40D7EA-1572-4A79-809A-6454D2819F21}" type="pres">
      <dgm:prSet presAssocID="{9E5626A5-ABA6-4DDA-B95D-847A24A99BF2}" presName="Name0" presStyleCnt="0">
        <dgm:presLayoutVars>
          <dgm:dir/>
          <dgm:animLvl val="lvl"/>
          <dgm:resizeHandles val="exact"/>
        </dgm:presLayoutVars>
      </dgm:prSet>
      <dgm:spPr/>
    </dgm:pt>
    <dgm:pt modelId="{8032AD74-9D6E-4163-9EEB-357BA9A07115}" type="pres">
      <dgm:prSet presAssocID="{A1E66CC3-5624-467A-8E13-FE870F204112}" presName="boxAndChildren" presStyleCnt="0"/>
      <dgm:spPr/>
    </dgm:pt>
    <dgm:pt modelId="{348DC2FC-FB01-457D-83ED-F78BE5D161A0}" type="pres">
      <dgm:prSet presAssocID="{A1E66CC3-5624-467A-8E13-FE870F204112}" presName="parentTextBox" presStyleLbl="node1" presStyleIdx="0" presStyleCnt="2"/>
      <dgm:spPr/>
    </dgm:pt>
    <dgm:pt modelId="{6368A9EF-8BB2-4E2C-BC4B-6B1C65FEB526}" type="pres">
      <dgm:prSet presAssocID="{A1E66CC3-5624-467A-8E13-FE870F204112}" presName="entireBox" presStyleLbl="node1" presStyleIdx="0" presStyleCnt="2"/>
      <dgm:spPr/>
    </dgm:pt>
    <dgm:pt modelId="{EEA64397-CAAD-4399-922A-997E86E87A51}" type="pres">
      <dgm:prSet presAssocID="{A1E66CC3-5624-467A-8E13-FE870F204112}" presName="descendantBox" presStyleCnt="0"/>
      <dgm:spPr/>
    </dgm:pt>
    <dgm:pt modelId="{334B89B0-7023-4CC2-9FCC-0D20C4FED126}" type="pres">
      <dgm:prSet presAssocID="{BA8B9427-31AC-4841-801C-DE16F764444B}" presName="childTextBox" presStyleLbl="fgAccFollowNode1" presStyleIdx="0" presStyleCnt="3">
        <dgm:presLayoutVars>
          <dgm:bulletEnabled val="1"/>
        </dgm:presLayoutVars>
      </dgm:prSet>
      <dgm:spPr/>
    </dgm:pt>
    <dgm:pt modelId="{D51AEEC5-512C-4550-83CF-8A36ECC0F362}" type="pres">
      <dgm:prSet presAssocID="{0DE1A664-6EE6-4425-9BA3-1B755FB55E32}" presName="childTextBox" presStyleLbl="fgAccFollowNode1" presStyleIdx="1" presStyleCnt="3">
        <dgm:presLayoutVars>
          <dgm:bulletEnabled val="1"/>
        </dgm:presLayoutVars>
      </dgm:prSet>
      <dgm:spPr/>
    </dgm:pt>
    <dgm:pt modelId="{15DF64CE-C592-44B6-BEBA-11E2FA49EF46}" type="pres">
      <dgm:prSet presAssocID="{7B21BD69-90C6-4946-AA76-61B274C334F2}" presName="childTextBox" presStyleLbl="fgAccFollowNode1" presStyleIdx="2" presStyleCnt="3">
        <dgm:presLayoutVars>
          <dgm:bulletEnabled val="1"/>
        </dgm:presLayoutVars>
      </dgm:prSet>
      <dgm:spPr/>
    </dgm:pt>
    <dgm:pt modelId="{2B6580B7-79C2-49C5-A18E-3664D7B678F8}" type="pres">
      <dgm:prSet presAssocID="{2E2189DB-7120-4D3B-ABC8-E64FF2E935B7}" presName="sp" presStyleCnt="0"/>
      <dgm:spPr/>
    </dgm:pt>
    <dgm:pt modelId="{D9F3D9E9-1FDD-4C0F-AEED-A41B451AC68D}" type="pres">
      <dgm:prSet presAssocID="{3E91AC01-C58B-446C-8506-8F3610D62D0B}" presName="arrowAndChildren" presStyleCnt="0"/>
      <dgm:spPr/>
    </dgm:pt>
    <dgm:pt modelId="{4D7C84BC-C9BB-4D14-8568-7A413926F610}" type="pres">
      <dgm:prSet presAssocID="{3E91AC01-C58B-446C-8506-8F3610D62D0B}" presName="parentTextArrow" presStyleLbl="node1" presStyleIdx="1" presStyleCnt="2"/>
      <dgm:spPr/>
    </dgm:pt>
  </dgm:ptLst>
  <dgm:cxnLst>
    <dgm:cxn modelId="{51EB8B16-A3EA-4311-AC6A-6EC0CC4FAD6B}" type="presOf" srcId="{A1E66CC3-5624-467A-8E13-FE870F204112}" destId="{348DC2FC-FB01-457D-83ED-F78BE5D161A0}" srcOrd="0" destOrd="0" presId="urn:microsoft.com/office/officeart/2005/8/layout/process4"/>
    <dgm:cxn modelId="{CEF9531A-5B49-4A51-B5C9-46066733EA64}" srcId="{A1E66CC3-5624-467A-8E13-FE870F204112}" destId="{7B21BD69-90C6-4946-AA76-61B274C334F2}" srcOrd="2" destOrd="0" parTransId="{D9D68F30-4519-4B7E-B541-122BB855D052}" sibTransId="{CA1D078C-366B-4B61-8038-89C7D6AC19D6}"/>
    <dgm:cxn modelId="{78D5DD29-A5C0-4EF9-AC42-118BB80E9E8B}" type="presOf" srcId="{BA8B9427-31AC-4841-801C-DE16F764444B}" destId="{334B89B0-7023-4CC2-9FCC-0D20C4FED126}" srcOrd="0" destOrd="0" presId="urn:microsoft.com/office/officeart/2005/8/layout/process4"/>
    <dgm:cxn modelId="{BB974233-C14C-4C65-A1C1-FE2DC94AC903}" type="presOf" srcId="{0DE1A664-6EE6-4425-9BA3-1B755FB55E32}" destId="{D51AEEC5-512C-4550-83CF-8A36ECC0F362}" srcOrd="0" destOrd="0" presId="urn:microsoft.com/office/officeart/2005/8/layout/process4"/>
    <dgm:cxn modelId="{097D274D-DA8F-4867-9044-72E8A86D3E3F}" type="presOf" srcId="{3E91AC01-C58B-446C-8506-8F3610D62D0B}" destId="{4D7C84BC-C9BB-4D14-8568-7A413926F610}" srcOrd="0" destOrd="0" presId="urn:microsoft.com/office/officeart/2005/8/layout/process4"/>
    <dgm:cxn modelId="{4F1BE877-A8B4-4547-A865-F1959446E787}" type="presOf" srcId="{9E5626A5-ABA6-4DDA-B95D-847A24A99BF2}" destId="{1E40D7EA-1572-4A79-809A-6454D2819F21}" srcOrd="0" destOrd="0" presId="urn:microsoft.com/office/officeart/2005/8/layout/process4"/>
    <dgm:cxn modelId="{BC01689B-DA57-45DD-8B03-CE22262A48E6}" type="presOf" srcId="{A1E66CC3-5624-467A-8E13-FE870F204112}" destId="{6368A9EF-8BB2-4E2C-BC4B-6B1C65FEB526}" srcOrd="1" destOrd="0" presId="urn:microsoft.com/office/officeart/2005/8/layout/process4"/>
    <dgm:cxn modelId="{CCF98EBD-8A97-4F06-A1E5-24EAC0347A90}" type="presOf" srcId="{7B21BD69-90C6-4946-AA76-61B274C334F2}" destId="{15DF64CE-C592-44B6-BEBA-11E2FA49EF46}" srcOrd="0" destOrd="0" presId="urn:microsoft.com/office/officeart/2005/8/layout/process4"/>
    <dgm:cxn modelId="{6B8596C4-B6A4-46E8-B9CC-E868328AA217}" srcId="{A1E66CC3-5624-467A-8E13-FE870F204112}" destId="{BA8B9427-31AC-4841-801C-DE16F764444B}" srcOrd="0" destOrd="0" parTransId="{795B7B98-00CD-4D47-BA10-C4A364D58595}" sibTransId="{53629770-1BD8-4BCC-8C20-DD56DE5335C6}"/>
    <dgm:cxn modelId="{BE1E86C6-792B-4E82-9EDC-D2E605B96FFC}" srcId="{9E5626A5-ABA6-4DDA-B95D-847A24A99BF2}" destId="{3E91AC01-C58B-446C-8506-8F3610D62D0B}" srcOrd="0" destOrd="0" parTransId="{9F7BE492-C530-4695-9B3D-8AD6CF685C84}" sibTransId="{2E2189DB-7120-4D3B-ABC8-E64FF2E935B7}"/>
    <dgm:cxn modelId="{82FC0AE6-8AD4-4269-A3FD-0E6D3BC5B255}" srcId="{9E5626A5-ABA6-4DDA-B95D-847A24A99BF2}" destId="{A1E66CC3-5624-467A-8E13-FE870F204112}" srcOrd="1" destOrd="0" parTransId="{DB65D03A-EB64-4F12-BAA0-018329A1B8E7}" sibTransId="{D48313A0-5D47-4208-88B0-989C75BDBC18}"/>
    <dgm:cxn modelId="{55C731F2-B318-4562-B310-FC7E27811F1C}" srcId="{A1E66CC3-5624-467A-8E13-FE870F204112}" destId="{0DE1A664-6EE6-4425-9BA3-1B755FB55E32}" srcOrd="1" destOrd="0" parTransId="{71052EA6-4E85-461F-86A6-4A345A118CD4}" sibTransId="{AEFCB0DA-BB4E-474A-848B-A038FEBB6816}"/>
    <dgm:cxn modelId="{168C9446-1832-4257-9A80-A3D3F273682B}" type="presParOf" srcId="{1E40D7EA-1572-4A79-809A-6454D2819F21}" destId="{8032AD74-9D6E-4163-9EEB-357BA9A07115}" srcOrd="0" destOrd="0" presId="urn:microsoft.com/office/officeart/2005/8/layout/process4"/>
    <dgm:cxn modelId="{3FD76141-92B8-4245-B103-B5C6E102D2EA}" type="presParOf" srcId="{8032AD74-9D6E-4163-9EEB-357BA9A07115}" destId="{348DC2FC-FB01-457D-83ED-F78BE5D161A0}" srcOrd="0" destOrd="0" presId="urn:microsoft.com/office/officeart/2005/8/layout/process4"/>
    <dgm:cxn modelId="{79583CD1-5211-46BC-A206-46947177DBAA}" type="presParOf" srcId="{8032AD74-9D6E-4163-9EEB-357BA9A07115}" destId="{6368A9EF-8BB2-4E2C-BC4B-6B1C65FEB526}" srcOrd="1" destOrd="0" presId="urn:microsoft.com/office/officeart/2005/8/layout/process4"/>
    <dgm:cxn modelId="{F712BC3F-247F-4A66-802B-39D0596EBE0A}" type="presParOf" srcId="{8032AD74-9D6E-4163-9EEB-357BA9A07115}" destId="{EEA64397-CAAD-4399-922A-997E86E87A51}" srcOrd="2" destOrd="0" presId="urn:microsoft.com/office/officeart/2005/8/layout/process4"/>
    <dgm:cxn modelId="{118B00C8-9317-4248-8DF5-568955AAA75B}" type="presParOf" srcId="{EEA64397-CAAD-4399-922A-997E86E87A51}" destId="{334B89B0-7023-4CC2-9FCC-0D20C4FED126}" srcOrd="0" destOrd="0" presId="urn:microsoft.com/office/officeart/2005/8/layout/process4"/>
    <dgm:cxn modelId="{C51C0C94-A7C7-4031-B707-EEF1236E927D}" type="presParOf" srcId="{EEA64397-CAAD-4399-922A-997E86E87A51}" destId="{D51AEEC5-512C-4550-83CF-8A36ECC0F362}" srcOrd="1" destOrd="0" presId="urn:microsoft.com/office/officeart/2005/8/layout/process4"/>
    <dgm:cxn modelId="{D50D3C44-87EE-4093-8AB0-2F85CEAA1047}" type="presParOf" srcId="{EEA64397-CAAD-4399-922A-997E86E87A51}" destId="{15DF64CE-C592-44B6-BEBA-11E2FA49EF46}" srcOrd="2" destOrd="0" presId="urn:microsoft.com/office/officeart/2005/8/layout/process4"/>
    <dgm:cxn modelId="{9DF4B1AB-4FB0-49A1-A427-EB333F5CF5B1}" type="presParOf" srcId="{1E40D7EA-1572-4A79-809A-6454D2819F21}" destId="{2B6580B7-79C2-49C5-A18E-3664D7B678F8}" srcOrd="1" destOrd="0" presId="urn:microsoft.com/office/officeart/2005/8/layout/process4"/>
    <dgm:cxn modelId="{64EAF1F7-AE89-4395-966B-4906967F52AE}" type="presParOf" srcId="{1E40D7EA-1572-4A79-809A-6454D2819F21}" destId="{D9F3D9E9-1FDD-4C0F-AEED-A41B451AC68D}" srcOrd="2" destOrd="0" presId="urn:microsoft.com/office/officeart/2005/8/layout/process4"/>
    <dgm:cxn modelId="{07B3848E-DBF8-408D-A406-CC80FA61E762}" type="presParOf" srcId="{D9F3D9E9-1FDD-4C0F-AEED-A41B451AC68D}" destId="{4D7C84BC-C9BB-4D14-8568-7A413926F610}"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8C8822-7B0C-451E-9CDB-87FB47024E1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3BEAD37-A972-4932-8E1E-47DFB75D9109}">
      <dgm:prSet/>
      <dgm:spPr/>
      <dgm:t>
        <a:bodyPr/>
        <a:lstStyle/>
        <a:p>
          <a:r>
            <a:rPr lang="en-US"/>
            <a:t>Establish KPIs: </a:t>
          </a:r>
        </a:p>
      </dgm:t>
    </dgm:pt>
    <dgm:pt modelId="{D46D74AF-1ACF-4069-B653-1B7D86378750}" type="parTrans" cxnId="{C4573BC1-6B8B-4E0E-8E11-1D14BB1ACD9D}">
      <dgm:prSet/>
      <dgm:spPr/>
      <dgm:t>
        <a:bodyPr/>
        <a:lstStyle/>
        <a:p>
          <a:endParaRPr lang="en-US"/>
        </a:p>
      </dgm:t>
    </dgm:pt>
    <dgm:pt modelId="{FB96DC13-23E6-4EB2-B316-88A3F3C27729}" type="sibTrans" cxnId="{C4573BC1-6B8B-4E0E-8E11-1D14BB1ACD9D}">
      <dgm:prSet/>
      <dgm:spPr/>
      <dgm:t>
        <a:bodyPr/>
        <a:lstStyle/>
        <a:p>
          <a:endParaRPr lang="en-US"/>
        </a:p>
      </dgm:t>
    </dgm:pt>
    <dgm:pt modelId="{ABBBF84D-EF70-4131-BB62-C2DAD612428A}">
      <dgm:prSet/>
      <dgm:spPr/>
      <dgm:t>
        <a:bodyPr/>
        <a:lstStyle/>
        <a:p>
          <a:r>
            <a:rPr lang="en-US"/>
            <a:t>Total homelessness </a:t>
          </a:r>
        </a:p>
      </dgm:t>
    </dgm:pt>
    <dgm:pt modelId="{FE6A06F7-6287-4756-BBD5-84CE4C9B784A}" type="parTrans" cxnId="{693DC958-B49F-4098-9A08-6BC29525E0D6}">
      <dgm:prSet/>
      <dgm:spPr/>
      <dgm:t>
        <a:bodyPr/>
        <a:lstStyle/>
        <a:p>
          <a:endParaRPr lang="en-US"/>
        </a:p>
      </dgm:t>
    </dgm:pt>
    <dgm:pt modelId="{59D2980E-83A5-4577-8CEF-9B2377DE8A5C}" type="sibTrans" cxnId="{693DC958-B49F-4098-9A08-6BC29525E0D6}">
      <dgm:prSet/>
      <dgm:spPr/>
      <dgm:t>
        <a:bodyPr/>
        <a:lstStyle/>
        <a:p>
          <a:endParaRPr lang="en-US"/>
        </a:p>
      </dgm:t>
    </dgm:pt>
    <dgm:pt modelId="{EFB3413A-1BE7-464D-B682-143055F6091C}">
      <dgm:prSet/>
      <dgm:spPr/>
      <dgm:t>
        <a:bodyPr/>
        <a:lstStyle/>
        <a:p>
          <a:r>
            <a:rPr lang="en-US"/>
            <a:t>Sheltered vs. unsheltered population </a:t>
          </a:r>
        </a:p>
      </dgm:t>
    </dgm:pt>
    <dgm:pt modelId="{6A143A03-30FE-46A3-994C-0E5F70456CD6}" type="parTrans" cxnId="{FD1AD11C-9054-43CB-B555-F939D818A11D}">
      <dgm:prSet/>
      <dgm:spPr/>
      <dgm:t>
        <a:bodyPr/>
        <a:lstStyle/>
        <a:p>
          <a:endParaRPr lang="en-US"/>
        </a:p>
      </dgm:t>
    </dgm:pt>
    <dgm:pt modelId="{BB0DFA30-6E09-42B7-B413-936D7BDB1752}" type="sibTrans" cxnId="{FD1AD11C-9054-43CB-B555-F939D818A11D}">
      <dgm:prSet/>
      <dgm:spPr/>
      <dgm:t>
        <a:bodyPr/>
        <a:lstStyle/>
        <a:p>
          <a:endParaRPr lang="en-US"/>
        </a:p>
      </dgm:t>
    </dgm:pt>
    <dgm:pt modelId="{5CF40795-7DE5-4F4C-9E3C-579240E698FF}">
      <dgm:prSet/>
      <dgm:spPr/>
      <dgm:t>
        <a:bodyPr/>
        <a:lstStyle/>
        <a:p>
          <a:r>
            <a:rPr lang="en-US"/>
            <a:t>Housing placement rates </a:t>
          </a:r>
        </a:p>
      </dgm:t>
    </dgm:pt>
    <dgm:pt modelId="{C78E4962-367B-40C3-8212-5D34382BA1F4}" type="parTrans" cxnId="{8A69DE51-50EF-45AA-99C3-BCA2479AA8AC}">
      <dgm:prSet/>
      <dgm:spPr/>
      <dgm:t>
        <a:bodyPr/>
        <a:lstStyle/>
        <a:p>
          <a:endParaRPr lang="en-US"/>
        </a:p>
      </dgm:t>
    </dgm:pt>
    <dgm:pt modelId="{AF8525BB-D844-42D0-9272-CD854FA26B53}" type="sibTrans" cxnId="{8A69DE51-50EF-45AA-99C3-BCA2479AA8AC}">
      <dgm:prSet/>
      <dgm:spPr/>
      <dgm:t>
        <a:bodyPr/>
        <a:lstStyle/>
        <a:p>
          <a:endParaRPr lang="en-US"/>
        </a:p>
      </dgm:t>
    </dgm:pt>
    <dgm:pt modelId="{C35C0C03-B03B-4BCE-B06C-59F83D970A19}">
      <dgm:prSet/>
      <dgm:spPr/>
      <dgm:t>
        <a:bodyPr/>
        <a:lstStyle/>
        <a:p>
          <a:r>
            <a:rPr lang="en-US"/>
            <a:t>Repeat homelessness </a:t>
          </a:r>
        </a:p>
      </dgm:t>
    </dgm:pt>
    <dgm:pt modelId="{FFB3FE14-99BB-4393-A088-B412C78F22FB}" type="parTrans" cxnId="{B19AD2B4-E7DB-4C58-A342-944268016AC2}">
      <dgm:prSet/>
      <dgm:spPr/>
      <dgm:t>
        <a:bodyPr/>
        <a:lstStyle/>
        <a:p>
          <a:endParaRPr lang="en-US"/>
        </a:p>
      </dgm:t>
    </dgm:pt>
    <dgm:pt modelId="{1FBBBAA4-0627-4B54-B582-9F74771AC434}" type="sibTrans" cxnId="{B19AD2B4-E7DB-4C58-A342-944268016AC2}">
      <dgm:prSet/>
      <dgm:spPr/>
      <dgm:t>
        <a:bodyPr/>
        <a:lstStyle/>
        <a:p>
          <a:endParaRPr lang="en-US"/>
        </a:p>
      </dgm:t>
    </dgm:pt>
    <dgm:pt modelId="{9ADF7569-D5A9-477C-A04A-6C8D5F9FBDF5}">
      <dgm:prSet/>
      <dgm:spPr/>
      <dgm:t>
        <a:bodyPr/>
        <a:lstStyle/>
        <a:p>
          <a:r>
            <a:rPr lang="en-US"/>
            <a:t>Create a feedback loop for continuous improvement</a:t>
          </a:r>
        </a:p>
      </dgm:t>
    </dgm:pt>
    <dgm:pt modelId="{DCEDD641-D066-44AB-9A7B-08E10137BDD4}" type="parTrans" cxnId="{C5238C8E-B6B7-4721-AB22-888AEF50D79C}">
      <dgm:prSet/>
      <dgm:spPr/>
      <dgm:t>
        <a:bodyPr/>
        <a:lstStyle/>
        <a:p>
          <a:endParaRPr lang="en-US"/>
        </a:p>
      </dgm:t>
    </dgm:pt>
    <dgm:pt modelId="{69716D53-EFA2-43DE-960D-8D89A1A25DBF}" type="sibTrans" cxnId="{C5238C8E-B6B7-4721-AB22-888AEF50D79C}">
      <dgm:prSet/>
      <dgm:spPr/>
      <dgm:t>
        <a:bodyPr/>
        <a:lstStyle/>
        <a:p>
          <a:endParaRPr lang="en-US"/>
        </a:p>
      </dgm:t>
    </dgm:pt>
    <dgm:pt modelId="{9A71944B-C46C-4286-9568-5B36F009C604}" type="pres">
      <dgm:prSet presAssocID="{EE8C8822-7B0C-451E-9CDB-87FB47024E10}" presName="linear" presStyleCnt="0">
        <dgm:presLayoutVars>
          <dgm:animLvl val="lvl"/>
          <dgm:resizeHandles val="exact"/>
        </dgm:presLayoutVars>
      </dgm:prSet>
      <dgm:spPr/>
    </dgm:pt>
    <dgm:pt modelId="{069308FF-B09B-486E-973D-0ACBBA6C3AB5}" type="pres">
      <dgm:prSet presAssocID="{53BEAD37-A972-4932-8E1E-47DFB75D9109}" presName="parentText" presStyleLbl="node1" presStyleIdx="0" presStyleCnt="2">
        <dgm:presLayoutVars>
          <dgm:chMax val="0"/>
          <dgm:bulletEnabled val="1"/>
        </dgm:presLayoutVars>
      </dgm:prSet>
      <dgm:spPr/>
    </dgm:pt>
    <dgm:pt modelId="{F8AA98C8-8991-49BE-977B-DF35E15CB2F7}" type="pres">
      <dgm:prSet presAssocID="{53BEAD37-A972-4932-8E1E-47DFB75D9109}" presName="childText" presStyleLbl="revTx" presStyleIdx="0" presStyleCnt="1">
        <dgm:presLayoutVars>
          <dgm:bulletEnabled val="1"/>
        </dgm:presLayoutVars>
      </dgm:prSet>
      <dgm:spPr/>
    </dgm:pt>
    <dgm:pt modelId="{46359A1B-1F48-4331-9434-16CDF67597A7}" type="pres">
      <dgm:prSet presAssocID="{9ADF7569-D5A9-477C-A04A-6C8D5F9FBDF5}" presName="parentText" presStyleLbl="node1" presStyleIdx="1" presStyleCnt="2">
        <dgm:presLayoutVars>
          <dgm:chMax val="0"/>
          <dgm:bulletEnabled val="1"/>
        </dgm:presLayoutVars>
      </dgm:prSet>
      <dgm:spPr/>
    </dgm:pt>
  </dgm:ptLst>
  <dgm:cxnLst>
    <dgm:cxn modelId="{24D79601-C231-4EB9-896B-83285E2D3AD2}" type="presOf" srcId="{9ADF7569-D5A9-477C-A04A-6C8D5F9FBDF5}" destId="{46359A1B-1F48-4331-9434-16CDF67597A7}" srcOrd="0" destOrd="0" presId="urn:microsoft.com/office/officeart/2005/8/layout/vList2"/>
    <dgm:cxn modelId="{25101908-539E-4F10-974D-E4DC0FFE62FE}" type="presOf" srcId="{EE8C8822-7B0C-451E-9CDB-87FB47024E10}" destId="{9A71944B-C46C-4286-9568-5B36F009C604}" srcOrd="0" destOrd="0" presId="urn:microsoft.com/office/officeart/2005/8/layout/vList2"/>
    <dgm:cxn modelId="{FD1AD11C-9054-43CB-B555-F939D818A11D}" srcId="{53BEAD37-A972-4932-8E1E-47DFB75D9109}" destId="{EFB3413A-1BE7-464D-B682-143055F6091C}" srcOrd="1" destOrd="0" parTransId="{6A143A03-30FE-46A3-994C-0E5F70456CD6}" sibTransId="{BB0DFA30-6E09-42B7-B413-936D7BDB1752}"/>
    <dgm:cxn modelId="{CFAD225F-67EE-43AF-A229-A9D6FA769B6B}" type="presOf" srcId="{5CF40795-7DE5-4F4C-9E3C-579240E698FF}" destId="{F8AA98C8-8991-49BE-977B-DF35E15CB2F7}" srcOrd="0" destOrd="2" presId="urn:microsoft.com/office/officeart/2005/8/layout/vList2"/>
    <dgm:cxn modelId="{66B3466E-E3C9-4147-B43D-CDD4DD140A70}" type="presOf" srcId="{EFB3413A-1BE7-464D-B682-143055F6091C}" destId="{F8AA98C8-8991-49BE-977B-DF35E15CB2F7}" srcOrd="0" destOrd="1" presId="urn:microsoft.com/office/officeart/2005/8/layout/vList2"/>
    <dgm:cxn modelId="{8A69DE51-50EF-45AA-99C3-BCA2479AA8AC}" srcId="{53BEAD37-A972-4932-8E1E-47DFB75D9109}" destId="{5CF40795-7DE5-4F4C-9E3C-579240E698FF}" srcOrd="2" destOrd="0" parTransId="{C78E4962-367B-40C3-8212-5D34382BA1F4}" sibTransId="{AF8525BB-D844-42D0-9272-CD854FA26B53}"/>
    <dgm:cxn modelId="{693DC958-B49F-4098-9A08-6BC29525E0D6}" srcId="{53BEAD37-A972-4932-8E1E-47DFB75D9109}" destId="{ABBBF84D-EF70-4131-BB62-C2DAD612428A}" srcOrd="0" destOrd="0" parTransId="{FE6A06F7-6287-4756-BBD5-84CE4C9B784A}" sibTransId="{59D2980E-83A5-4577-8CEF-9B2377DE8A5C}"/>
    <dgm:cxn modelId="{E59B7F83-5A94-4C98-834B-3F85A859A491}" type="presOf" srcId="{53BEAD37-A972-4932-8E1E-47DFB75D9109}" destId="{069308FF-B09B-486E-973D-0ACBBA6C3AB5}" srcOrd="0" destOrd="0" presId="urn:microsoft.com/office/officeart/2005/8/layout/vList2"/>
    <dgm:cxn modelId="{C5238C8E-B6B7-4721-AB22-888AEF50D79C}" srcId="{EE8C8822-7B0C-451E-9CDB-87FB47024E10}" destId="{9ADF7569-D5A9-477C-A04A-6C8D5F9FBDF5}" srcOrd="1" destOrd="0" parTransId="{DCEDD641-D066-44AB-9A7B-08E10137BDD4}" sibTransId="{69716D53-EFA2-43DE-960D-8D89A1A25DBF}"/>
    <dgm:cxn modelId="{B19AD2B4-E7DB-4C58-A342-944268016AC2}" srcId="{53BEAD37-A972-4932-8E1E-47DFB75D9109}" destId="{C35C0C03-B03B-4BCE-B06C-59F83D970A19}" srcOrd="3" destOrd="0" parTransId="{FFB3FE14-99BB-4393-A088-B412C78F22FB}" sibTransId="{1FBBBAA4-0627-4B54-B582-9F74771AC434}"/>
    <dgm:cxn modelId="{703AF8B6-D8D4-4EAF-9208-E61E3D713C0D}" type="presOf" srcId="{ABBBF84D-EF70-4131-BB62-C2DAD612428A}" destId="{F8AA98C8-8991-49BE-977B-DF35E15CB2F7}" srcOrd="0" destOrd="0" presId="urn:microsoft.com/office/officeart/2005/8/layout/vList2"/>
    <dgm:cxn modelId="{19BD0BBF-25EF-4B64-BA63-F4137BF31074}" type="presOf" srcId="{C35C0C03-B03B-4BCE-B06C-59F83D970A19}" destId="{F8AA98C8-8991-49BE-977B-DF35E15CB2F7}" srcOrd="0" destOrd="3" presId="urn:microsoft.com/office/officeart/2005/8/layout/vList2"/>
    <dgm:cxn modelId="{C4573BC1-6B8B-4E0E-8E11-1D14BB1ACD9D}" srcId="{EE8C8822-7B0C-451E-9CDB-87FB47024E10}" destId="{53BEAD37-A972-4932-8E1E-47DFB75D9109}" srcOrd="0" destOrd="0" parTransId="{D46D74AF-1ACF-4069-B653-1B7D86378750}" sibTransId="{FB96DC13-23E6-4EB2-B316-88A3F3C27729}"/>
    <dgm:cxn modelId="{D0417874-1C00-40AD-8B0C-482C31FEFD3A}" type="presParOf" srcId="{9A71944B-C46C-4286-9568-5B36F009C604}" destId="{069308FF-B09B-486E-973D-0ACBBA6C3AB5}" srcOrd="0" destOrd="0" presId="urn:microsoft.com/office/officeart/2005/8/layout/vList2"/>
    <dgm:cxn modelId="{39F9618F-8651-4EF6-A74E-6EEE21961A71}" type="presParOf" srcId="{9A71944B-C46C-4286-9568-5B36F009C604}" destId="{F8AA98C8-8991-49BE-977B-DF35E15CB2F7}" srcOrd="1" destOrd="0" presId="urn:microsoft.com/office/officeart/2005/8/layout/vList2"/>
    <dgm:cxn modelId="{9A027A07-6DB7-415C-85F0-78A73F07A952}" type="presParOf" srcId="{9A71944B-C46C-4286-9568-5B36F009C604}" destId="{46359A1B-1F48-4331-9434-16CDF67597A7}" srcOrd="2"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143F1AC-B5CE-4F12-8906-ADDE4A132B2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CEFA2B9-C70C-4311-80CB-37ED5B6469FE}">
      <dgm:prSet/>
      <dgm:spPr/>
      <dgm:t>
        <a:bodyPr/>
        <a:lstStyle/>
        <a:p>
          <a:r>
            <a:rPr lang="en-US"/>
            <a:t>Housing First + supportive housing show mixed results for community integration </a:t>
          </a:r>
        </a:p>
      </dgm:t>
    </dgm:pt>
    <dgm:pt modelId="{8A49D64A-C4C1-4C4E-B3DC-DEB2FCC2A974}" type="parTrans" cxnId="{24AAD214-4580-4F3E-AF28-C0A0047F1417}">
      <dgm:prSet/>
      <dgm:spPr/>
      <dgm:t>
        <a:bodyPr/>
        <a:lstStyle/>
        <a:p>
          <a:endParaRPr lang="en-US"/>
        </a:p>
      </dgm:t>
    </dgm:pt>
    <dgm:pt modelId="{25B44EC3-B132-444D-856B-67E5F19917AE}" type="sibTrans" cxnId="{24AAD214-4580-4F3E-AF28-C0A0047F1417}">
      <dgm:prSet/>
      <dgm:spPr/>
      <dgm:t>
        <a:bodyPr/>
        <a:lstStyle/>
        <a:p>
          <a:endParaRPr lang="en-US"/>
        </a:p>
      </dgm:t>
    </dgm:pt>
    <dgm:pt modelId="{CC2C043C-71A9-47FD-AF89-B2A90C78C744}">
      <dgm:prSet/>
      <dgm:spPr/>
      <dgm:t>
        <a:bodyPr/>
        <a:lstStyle/>
        <a:p>
          <a:r>
            <a:rPr lang="en-US"/>
            <a:t>Peer‑support interventions show promise </a:t>
          </a:r>
        </a:p>
      </dgm:t>
    </dgm:pt>
    <dgm:pt modelId="{26888E70-EB5C-447C-B3D9-42089AE813EE}" type="parTrans" cxnId="{0F7D2860-883E-411A-BC1A-EDED3B148EAE}">
      <dgm:prSet/>
      <dgm:spPr/>
      <dgm:t>
        <a:bodyPr/>
        <a:lstStyle/>
        <a:p>
          <a:endParaRPr lang="en-US"/>
        </a:p>
      </dgm:t>
    </dgm:pt>
    <dgm:pt modelId="{FA81FC95-4FEC-4EBE-B7D9-AA66444F44B9}" type="sibTrans" cxnId="{0F7D2860-883E-411A-BC1A-EDED3B148EAE}">
      <dgm:prSet/>
      <dgm:spPr/>
      <dgm:t>
        <a:bodyPr/>
        <a:lstStyle/>
        <a:p>
          <a:endParaRPr lang="en-US"/>
        </a:p>
      </dgm:t>
    </dgm:pt>
    <dgm:pt modelId="{8373F066-B429-46DF-9604-83DCA0DCB538}">
      <dgm:prSet/>
      <dgm:spPr/>
      <dgm:t>
        <a:bodyPr/>
        <a:lstStyle/>
        <a:p>
          <a:r>
            <a:rPr lang="en-US"/>
            <a:t>Machine learning can optimize resource allocation but raises equity concerns </a:t>
          </a:r>
        </a:p>
      </dgm:t>
    </dgm:pt>
    <dgm:pt modelId="{8CDF9376-D532-4A3B-898F-60FC92F6B5E4}" type="parTrans" cxnId="{4ADAE914-4278-4A36-9523-535C4C90A123}">
      <dgm:prSet/>
      <dgm:spPr/>
      <dgm:t>
        <a:bodyPr/>
        <a:lstStyle/>
        <a:p>
          <a:endParaRPr lang="en-US"/>
        </a:p>
      </dgm:t>
    </dgm:pt>
    <dgm:pt modelId="{C749DED4-29C5-41E0-AEAE-C5135FEAFFBB}" type="sibTrans" cxnId="{4ADAE914-4278-4A36-9523-535C4C90A123}">
      <dgm:prSet/>
      <dgm:spPr/>
      <dgm:t>
        <a:bodyPr/>
        <a:lstStyle/>
        <a:p>
          <a:endParaRPr lang="en-US"/>
        </a:p>
      </dgm:t>
    </dgm:pt>
    <dgm:pt modelId="{BAFB4618-D099-4B75-93FF-43C5E6F033EB}">
      <dgm:prSet/>
      <dgm:spPr/>
      <dgm:t>
        <a:bodyPr/>
        <a:lstStyle/>
        <a:p>
          <a:r>
            <a:rPr lang="en-US"/>
            <a:t>Nonprofit marketing + social media can increase awareness and engagement </a:t>
          </a:r>
        </a:p>
      </dgm:t>
    </dgm:pt>
    <dgm:pt modelId="{197CC5C0-C8CA-41BF-ADB0-BA520EA7B9C9}" type="parTrans" cxnId="{F3467ECA-0CED-4207-B316-D970AA3082A8}">
      <dgm:prSet/>
      <dgm:spPr/>
      <dgm:t>
        <a:bodyPr/>
        <a:lstStyle/>
        <a:p>
          <a:endParaRPr lang="en-US"/>
        </a:p>
      </dgm:t>
    </dgm:pt>
    <dgm:pt modelId="{DA648E57-8434-49BB-8F5E-2FCF9A5621C8}" type="sibTrans" cxnId="{F3467ECA-0CED-4207-B316-D970AA3082A8}">
      <dgm:prSet/>
      <dgm:spPr/>
      <dgm:t>
        <a:bodyPr/>
        <a:lstStyle/>
        <a:p>
          <a:endParaRPr lang="en-US"/>
        </a:p>
      </dgm:t>
    </dgm:pt>
    <dgm:pt modelId="{52AEEABE-F146-4247-816B-8C7E039B785E}">
      <dgm:prSet/>
      <dgm:spPr/>
      <dgm:t>
        <a:bodyPr/>
        <a:lstStyle/>
        <a:p>
          <a:r>
            <a:rPr lang="en-US"/>
            <a:t>Data analytics is essential for understanding trends and improving programs</a:t>
          </a:r>
        </a:p>
      </dgm:t>
    </dgm:pt>
    <dgm:pt modelId="{715EAEFA-3290-49DB-A21C-453D87E5447A}" type="parTrans" cxnId="{53616916-9FE9-4843-8166-34F6B9E1E4FC}">
      <dgm:prSet/>
      <dgm:spPr/>
      <dgm:t>
        <a:bodyPr/>
        <a:lstStyle/>
        <a:p>
          <a:endParaRPr lang="en-US"/>
        </a:p>
      </dgm:t>
    </dgm:pt>
    <dgm:pt modelId="{2541536B-F465-4C3D-98F1-B5716870A53B}" type="sibTrans" cxnId="{53616916-9FE9-4843-8166-34F6B9E1E4FC}">
      <dgm:prSet/>
      <dgm:spPr/>
      <dgm:t>
        <a:bodyPr/>
        <a:lstStyle/>
        <a:p>
          <a:endParaRPr lang="en-US"/>
        </a:p>
      </dgm:t>
    </dgm:pt>
    <dgm:pt modelId="{AC1813E8-A0FC-42D1-8748-0473BAD1C3C2}" type="pres">
      <dgm:prSet presAssocID="{0143F1AC-B5CE-4F12-8906-ADDE4A132B28}" presName="root" presStyleCnt="0">
        <dgm:presLayoutVars>
          <dgm:dir/>
          <dgm:resizeHandles val="exact"/>
        </dgm:presLayoutVars>
      </dgm:prSet>
      <dgm:spPr/>
    </dgm:pt>
    <dgm:pt modelId="{C03358B8-EAD4-4BAD-977C-88648125BABD}" type="pres">
      <dgm:prSet presAssocID="{DCEFA2B9-C70C-4311-80CB-37ED5B6469FE}" presName="compNode" presStyleCnt="0"/>
      <dgm:spPr/>
    </dgm:pt>
    <dgm:pt modelId="{A29D52EB-9BAA-4140-990A-B4DE3F6F5EE9}" type="pres">
      <dgm:prSet presAssocID="{DCEFA2B9-C70C-4311-80CB-37ED5B6469FE}" presName="bgRect" presStyleLbl="bgShp" presStyleIdx="0" presStyleCnt="5"/>
      <dgm:spPr/>
    </dgm:pt>
    <dgm:pt modelId="{6B582A5A-15B1-44FE-9C1A-04B2B9D0D55B}" type="pres">
      <dgm:prSet presAssocID="{DCEFA2B9-C70C-4311-80CB-37ED5B6469FE}"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ouse"/>
        </a:ext>
      </dgm:extLst>
    </dgm:pt>
    <dgm:pt modelId="{F7281A57-602E-402C-82C4-55D23E94EA1A}" type="pres">
      <dgm:prSet presAssocID="{DCEFA2B9-C70C-4311-80CB-37ED5B6469FE}" presName="spaceRect" presStyleCnt="0"/>
      <dgm:spPr/>
    </dgm:pt>
    <dgm:pt modelId="{D1EAA92B-408E-4D1F-91E0-36A9873A0CEF}" type="pres">
      <dgm:prSet presAssocID="{DCEFA2B9-C70C-4311-80CB-37ED5B6469FE}" presName="parTx" presStyleLbl="revTx" presStyleIdx="0" presStyleCnt="5">
        <dgm:presLayoutVars>
          <dgm:chMax val="0"/>
          <dgm:chPref val="0"/>
        </dgm:presLayoutVars>
      </dgm:prSet>
      <dgm:spPr/>
    </dgm:pt>
    <dgm:pt modelId="{AD23716D-A74C-41A4-B659-CB49F6A2E786}" type="pres">
      <dgm:prSet presAssocID="{25B44EC3-B132-444D-856B-67E5F19917AE}" presName="sibTrans" presStyleCnt="0"/>
      <dgm:spPr/>
    </dgm:pt>
    <dgm:pt modelId="{BB9EE868-A394-44EA-A7BB-1D9FD64B1AC5}" type="pres">
      <dgm:prSet presAssocID="{CC2C043C-71A9-47FD-AF89-B2A90C78C744}" presName="compNode" presStyleCnt="0"/>
      <dgm:spPr/>
    </dgm:pt>
    <dgm:pt modelId="{138379C2-F023-4A8D-A0C7-1002962E7ECB}" type="pres">
      <dgm:prSet presAssocID="{CC2C043C-71A9-47FD-AF89-B2A90C78C744}" presName="bgRect" presStyleLbl="bgShp" presStyleIdx="1" presStyleCnt="5"/>
      <dgm:spPr/>
    </dgm:pt>
    <dgm:pt modelId="{F1856718-4AFE-4884-924C-AD2CB71D751F}" type="pres">
      <dgm:prSet presAssocID="{CC2C043C-71A9-47FD-AF89-B2A90C78C744}"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ers"/>
        </a:ext>
      </dgm:extLst>
    </dgm:pt>
    <dgm:pt modelId="{ED580014-E408-49BD-93DA-EE4C502FB8B7}" type="pres">
      <dgm:prSet presAssocID="{CC2C043C-71A9-47FD-AF89-B2A90C78C744}" presName="spaceRect" presStyleCnt="0"/>
      <dgm:spPr/>
    </dgm:pt>
    <dgm:pt modelId="{FDAEF1CB-EE30-429D-83FB-53556D349B3E}" type="pres">
      <dgm:prSet presAssocID="{CC2C043C-71A9-47FD-AF89-B2A90C78C744}" presName="parTx" presStyleLbl="revTx" presStyleIdx="1" presStyleCnt="5">
        <dgm:presLayoutVars>
          <dgm:chMax val="0"/>
          <dgm:chPref val="0"/>
        </dgm:presLayoutVars>
      </dgm:prSet>
      <dgm:spPr/>
    </dgm:pt>
    <dgm:pt modelId="{EFFB3D76-18D9-4045-9254-DB49D1F3BAF8}" type="pres">
      <dgm:prSet presAssocID="{FA81FC95-4FEC-4EBE-B7D9-AA66444F44B9}" presName="sibTrans" presStyleCnt="0"/>
      <dgm:spPr/>
    </dgm:pt>
    <dgm:pt modelId="{73011032-0C5E-45EC-8415-876A6D98072E}" type="pres">
      <dgm:prSet presAssocID="{8373F066-B429-46DF-9604-83DCA0DCB538}" presName="compNode" presStyleCnt="0"/>
      <dgm:spPr/>
    </dgm:pt>
    <dgm:pt modelId="{871443B3-B476-47FB-9F0F-581445BE0736}" type="pres">
      <dgm:prSet presAssocID="{8373F066-B429-46DF-9604-83DCA0DCB538}" presName="bgRect" presStyleLbl="bgShp" presStyleIdx="2" presStyleCnt="5"/>
      <dgm:spPr/>
    </dgm:pt>
    <dgm:pt modelId="{80AC3AF9-7FFC-4358-AE74-5FA4F03E4A4D}" type="pres">
      <dgm:prSet presAssocID="{8373F066-B429-46DF-9604-83DCA0DCB538}"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9D020959-A290-4748-B0C0-718F73134AA9}" type="pres">
      <dgm:prSet presAssocID="{8373F066-B429-46DF-9604-83DCA0DCB538}" presName="spaceRect" presStyleCnt="0"/>
      <dgm:spPr/>
    </dgm:pt>
    <dgm:pt modelId="{929E5255-0EAD-4C44-9B96-21B204C01E6E}" type="pres">
      <dgm:prSet presAssocID="{8373F066-B429-46DF-9604-83DCA0DCB538}" presName="parTx" presStyleLbl="revTx" presStyleIdx="2" presStyleCnt="5">
        <dgm:presLayoutVars>
          <dgm:chMax val="0"/>
          <dgm:chPref val="0"/>
        </dgm:presLayoutVars>
      </dgm:prSet>
      <dgm:spPr/>
    </dgm:pt>
    <dgm:pt modelId="{43A51706-C8A0-4D8A-B543-2FB9BD5A1417}" type="pres">
      <dgm:prSet presAssocID="{C749DED4-29C5-41E0-AEAE-C5135FEAFFBB}" presName="sibTrans" presStyleCnt="0"/>
      <dgm:spPr/>
    </dgm:pt>
    <dgm:pt modelId="{CC6CA06C-0C40-48D9-878D-51E811FAB56B}" type="pres">
      <dgm:prSet presAssocID="{BAFB4618-D099-4B75-93FF-43C5E6F033EB}" presName="compNode" presStyleCnt="0"/>
      <dgm:spPr/>
    </dgm:pt>
    <dgm:pt modelId="{1E8EC83B-D226-41FD-A86E-04009B3ED13E}" type="pres">
      <dgm:prSet presAssocID="{BAFB4618-D099-4B75-93FF-43C5E6F033EB}" presName="bgRect" presStyleLbl="bgShp" presStyleIdx="3" presStyleCnt="5"/>
      <dgm:spPr/>
    </dgm:pt>
    <dgm:pt modelId="{1A443139-B951-4B4E-A27A-133B3098E72B}" type="pres">
      <dgm:prSet presAssocID="{BAFB4618-D099-4B75-93FF-43C5E6F033EB}"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gaphone"/>
        </a:ext>
      </dgm:extLst>
    </dgm:pt>
    <dgm:pt modelId="{B99A9C03-C7EA-4687-85F0-8AE90C40FA9E}" type="pres">
      <dgm:prSet presAssocID="{BAFB4618-D099-4B75-93FF-43C5E6F033EB}" presName="spaceRect" presStyleCnt="0"/>
      <dgm:spPr/>
    </dgm:pt>
    <dgm:pt modelId="{ADF043AD-C497-4ACB-AF1E-1B0B2B2B8A4A}" type="pres">
      <dgm:prSet presAssocID="{BAFB4618-D099-4B75-93FF-43C5E6F033EB}" presName="parTx" presStyleLbl="revTx" presStyleIdx="3" presStyleCnt="5">
        <dgm:presLayoutVars>
          <dgm:chMax val="0"/>
          <dgm:chPref val="0"/>
        </dgm:presLayoutVars>
      </dgm:prSet>
      <dgm:spPr/>
    </dgm:pt>
    <dgm:pt modelId="{ABADAE10-626C-42A3-9259-CCC22B08D34A}" type="pres">
      <dgm:prSet presAssocID="{DA648E57-8434-49BB-8F5E-2FCF9A5621C8}" presName="sibTrans" presStyleCnt="0"/>
      <dgm:spPr/>
    </dgm:pt>
    <dgm:pt modelId="{5DCE8270-4E23-4679-8307-81EDE68E7016}" type="pres">
      <dgm:prSet presAssocID="{52AEEABE-F146-4247-816B-8C7E039B785E}" presName="compNode" presStyleCnt="0"/>
      <dgm:spPr/>
    </dgm:pt>
    <dgm:pt modelId="{299812FF-A839-4956-B91C-E5C62BDC65D9}" type="pres">
      <dgm:prSet presAssocID="{52AEEABE-F146-4247-816B-8C7E039B785E}" presName="bgRect" presStyleLbl="bgShp" presStyleIdx="4" presStyleCnt="5"/>
      <dgm:spPr/>
    </dgm:pt>
    <dgm:pt modelId="{56B15DE3-F68D-4850-87C5-DEA3C3331743}" type="pres">
      <dgm:prSet presAssocID="{52AEEABE-F146-4247-816B-8C7E039B785E}"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ar chart"/>
        </a:ext>
      </dgm:extLst>
    </dgm:pt>
    <dgm:pt modelId="{6B59B891-3179-45B2-BAD0-DEA3407655BB}" type="pres">
      <dgm:prSet presAssocID="{52AEEABE-F146-4247-816B-8C7E039B785E}" presName="spaceRect" presStyleCnt="0"/>
      <dgm:spPr/>
    </dgm:pt>
    <dgm:pt modelId="{59299D52-BBC1-4CF0-BC08-AFFDBDA1FFFE}" type="pres">
      <dgm:prSet presAssocID="{52AEEABE-F146-4247-816B-8C7E039B785E}" presName="parTx" presStyleLbl="revTx" presStyleIdx="4" presStyleCnt="5">
        <dgm:presLayoutVars>
          <dgm:chMax val="0"/>
          <dgm:chPref val="0"/>
        </dgm:presLayoutVars>
      </dgm:prSet>
      <dgm:spPr/>
    </dgm:pt>
  </dgm:ptLst>
  <dgm:cxnLst>
    <dgm:cxn modelId="{FCF56807-6F77-4246-922A-3AE82B09A6B7}" type="presOf" srcId="{DCEFA2B9-C70C-4311-80CB-37ED5B6469FE}" destId="{D1EAA92B-408E-4D1F-91E0-36A9873A0CEF}" srcOrd="0" destOrd="0" presId="urn:microsoft.com/office/officeart/2018/2/layout/IconVerticalSolidList"/>
    <dgm:cxn modelId="{24AAD214-4580-4F3E-AF28-C0A0047F1417}" srcId="{0143F1AC-B5CE-4F12-8906-ADDE4A132B28}" destId="{DCEFA2B9-C70C-4311-80CB-37ED5B6469FE}" srcOrd="0" destOrd="0" parTransId="{8A49D64A-C4C1-4C4E-B3DC-DEB2FCC2A974}" sibTransId="{25B44EC3-B132-444D-856B-67E5F19917AE}"/>
    <dgm:cxn modelId="{4ADAE914-4278-4A36-9523-535C4C90A123}" srcId="{0143F1AC-B5CE-4F12-8906-ADDE4A132B28}" destId="{8373F066-B429-46DF-9604-83DCA0DCB538}" srcOrd="2" destOrd="0" parTransId="{8CDF9376-D532-4A3B-898F-60FC92F6B5E4}" sibTransId="{C749DED4-29C5-41E0-AEAE-C5135FEAFFBB}"/>
    <dgm:cxn modelId="{53616916-9FE9-4843-8166-34F6B9E1E4FC}" srcId="{0143F1AC-B5CE-4F12-8906-ADDE4A132B28}" destId="{52AEEABE-F146-4247-816B-8C7E039B785E}" srcOrd="4" destOrd="0" parTransId="{715EAEFA-3290-49DB-A21C-453D87E5447A}" sibTransId="{2541536B-F465-4C3D-98F1-B5716870A53B}"/>
    <dgm:cxn modelId="{FB4E781A-359D-4EF5-8CC9-30928885C6D1}" type="presOf" srcId="{BAFB4618-D099-4B75-93FF-43C5E6F033EB}" destId="{ADF043AD-C497-4ACB-AF1E-1B0B2B2B8A4A}" srcOrd="0" destOrd="0" presId="urn:microsoft.com/office/officeart/2018/2/layout/IconVerticalSolidList"/>
    <dgm:cxn modelId="{E1845E5E-52DB-4F4C-937D-AA79526FBA14}" type="presOf" srcId="{0143F1AC-B5CE-4F12-8906-ADDE4A132B28}" destId="{AC1813E8-A0FC-42D1-8748-0473BAD1C3C2}" srcOrd="0" destOrd="0" presId="urn:microsoft.com/office/officeart/2018/2/layout/IconVerticalSolidList"/>
    <dgm:cxn modelId="{0F7D2860-883E-411A-BC1A-EDED3B148EAE}" srcId="{0143F1AC-B5CE-4F12-8906-ADDE4A132B28}" destId="{CC2C043C-71A9-47FD-AF89-B2A90C78C744}" srcOrd="1" destOrd="0" parTransId="{26888E70-EB5C-447C-B3D9-42089AE813EE}" sibTransId="{FA81FC95-4FEC-4EBE-B7D9-AA66444F44B9}"/>
    <dgm:cxn modelId="{A12C28A9-C03B-40A4-92AE-B056EF8DC307}" type="presOf" srcId="{8373F066-B429-46DF-9604-83DCA0DCB538}" destId="{929E5255-0EAD-4C44-9B96-21B204C01E6E}" srcOrd="0" destOrd="0" presId="urn:microsoft.com/office/officeart/2018/2/layout/IconVerticalSolidList"/>
    <dgm:cxn modelId="{F064A3B8-D574-4C2E-B4D4-1FD8F374FA50}" type="presOf" srcId="{CC2C043C-71A9-47FD-AF89-B2A90C78C744}" destId="{FDAEF1CB-EE30-429D-83FB-53556D349B3E}" srcOrd="0" destOrd="0" presId="urn:microsoft.com/office/officeart/2018/2/layout/IconVerticalSolidList"/>
    <dgm:cxn modelId="{F3467ECA-0CED-4207-B316-D970AA3082A8}" srcId="{0143F1AC-B5CE-4F12-8906-ADDE4A132B28}" destId="{BAFB4618-D099-4B75-93FF-43C5E6F033EB}" srcOrd="3" destOrd="0" parTransId="{197CC5C0-C8CA-41BF-ADB0-BA520EA7B9C9}" sibTransId="{DA648E57-8434-49BB-8F5E-2FCF9A5621C8}"/>
    <dgm:cxn modelId="{3B1DC6CF-42F3-4BF4-978F-672805FA4A53}" type="presOf" srcId="{52AEEABE-F146-4247-816B-8C7E039B785E}" destId="{59299D52-BBC1-4CF0-BC08-AFFDBDA1FFFE}" srcOrd="0" destOrd="0" presId="urn:microsoft.com/office/officeart/2018/2/layout/IconVerticalSolidList"/>
    <dgm:cxn modelId="{80A1F7E3-1EFB-4C41-A24D-850E6BFBFA5A}" type="presParOf" srcId="{AC1813E8-A0FC-42D1-8748-0473BAD1C3C2}" destId="{C03358B8-EAD4-4BAD-977C-88648125BABD}" srcOrd="0" destOrd="0" presId="urn:microsoft.com/office/officeart/2018/2/layout/IconVerticalSolidList"/>
    <dgm:cxn modelId="{87A6E298-2C51-4AD2-A299-826DAF4A4CAB}" type="presParOf" srcId="{C03358B8-EAD4-4BAD-977C-88648125BABD}" destId="{A29D52EB-9BAA-4140-990A-B4DE3F6F5EE9}" srcOrd="0" destOrd="0" presId="urn:microsoft.com/office/officeart/2018/2/layout/IconVerticalSolidList"/>
    <dgm:cxn modelId="{77E0E26C-F7CA-47A0-9775-1325AD142B1B}" type="presParOf" srcId="{C03358B8-EAD4-4BAD-977C-88648125BABD}" destId="{6B582A5A-15B1-44FE-9C1A-04B2B9D0D55B}" srcOrd="1" destOrd="0" presId="urn:microsoft.com/office/officeart/2018/2/layout/IconVerticalSolidList"/>
    <dgm:cxn modelId="{95C77B31-0ADB-449D-A3DA-B4BA44B342D7}" type="presParOf" srcId="{C03358B8-EAD4-4BAD-977C-88648125BABD}" destId="{F7281A57-602E-402C-82C4-55D23E94EA1A}" srcOrd="2" destOrd="0" presId="urn:microsoft.com/office/officeart/2018/2/layout/IconVerticalSolidList"/>
    <dgm:cxn modelId="{D41C9C77-E717-401D-843B-BE4D2BD7DF58}" type="presParOf" srcId="{C03358B8-EAD4-4BAD-977C-88648125BABD}" destId="{D1EAA92B-408E-4D1F-91E0-36A9873A0CEF}" srcOrd="3" destOrd="0" presId="urn:microsoft.com/office/officeart/2018/2/layout/IconVerticalSolidList"/>
    <dgm:cxn modelId="{5039335A-3518-4E10-A931-42103978C9A8}" type="presParOf" srcId="{AC1813E8-A0FC-42D1-8748-0473BAD1C3C2}" destId="{AD23716D-A74C-41A4-B659-CB49F6A2E786}" srcOrd="1" destOrd="0" presId="urn:microsoft.com/office/officeart/2018/2/layout/IconVerticalSolidList"/>
    <dgm:cxn modelId="{98082E96-90B3-41DE-998B-46D532AEB78B}" type="presParOf" srcId="{AC1813E8-A0FC-42D1-8748-0473BAD1C3C2}" destId="{BB9EE868-A394-44EA-A7BB-1D9FD64B1AC5}" srcOrd="2" destOrd="0" presId="urn:microsoft.com/office/officeart/2018/2/layout/IconVerticalSolidList"/>
    <dgm:cxn modelId="{923101CE-AF43-48D8-B964-B43144AD4593}" type="presParOf" srcId="{BB9EE868-A394-44EA-A7BB-1D9FD64B1AC5}" destId="{138379C2-F023-4A8D-A0C7-1002962E7ECB}" srcOrd="0" destOrd="0" presId="urn:microsoft.com/office/officeart/2018/2/layout/IconVerticalSolidList"/>
    <dgm:cxn modelId="{8FAB1930-9963-41EC-A311-3E65ECF59C9B}" type="presParOf" srcId="{BB9EE868-A394-44EA-A7BB-1D9FD64B1AC5}" destId="{F1856718-4AFE-4884-924C-AD2CB71D751F}" srcOrd="1" destOrd="0" presId="urn:microsoft.com/office/officeart/2018/2/layout/IconVerticalSolidList"/>
    <dgm:cxn modelId="{E60E8E47-AB2C-4583-A22B-BC528954DE81}" type="presParOf" srcId="{BB9EE868-A394-44EA-A7BB-1D9FD64B1AC5}" destId="{ED580014-E408-49BD-93DA-EE4C502FB8B7}" srcOrd="2" destOrd="0" presId="urn:microsoft.com/office/officeart/2018/2/layout/IconVerticalSolidList"/>
    <dgm:cxn modelId="{13D96249-F57A-4FF4-8271-8D6D733F01E9}" type="presParOf" srcId="{BB9EE868-A394-44EA-A7BB-1D9FD64B1AC5}" destId="{FDAEF1CB-EE30-429D-83FB-53556D349B3E}" srcOrd="3" destOrd="0" presId="urn:microsoft.com/office/officeart/2018/2/layout/IconVerticalSolidList"/>
    <dgm:cxn modelId="{323D9CF0-3BEF-4830-A051-8DFEBD1DA240}" type="presParOf" srcId="{AC1813E8-A0FC-42D1-8748-0473BAD1C3C2}" destId="{EFFB3D76-18D9-4045-9254-DB49D1F3BAF8}" srcOrd="3" destOrd="0" presId="urn:microsoft.com/office/officeart/2018/2/layout/IconVerticalSolidList"/>
    <dgm:cxn modelId="{A4A9BF3B-05D3-4C58-9C20-616B2C210CFB}" type="presParOf" srcId="{AC1813E8-A0FC-42D1-8748-0473BAD1C3C2}" destId="{73011032-0C5E-45EC-8415-876A6D98072E}" srcOrd="4" destOrd="0" presId="urn:microsoft.com/office/officeart/2018/2/layout/IconVerticalSolidList"/>
    <dgm:cxn modelId="{0FF2500F-1088-4FAB-8720-B890DAF4CEA0}" type="presParOf" srcId="{73011032-0C5E-45EC-8415-876A6D98072E}" destId="{871443B3-B476-47FB-9F0F-581445BE0736}" srcOrd="0" destOrd="0" presId="urn:microsoft.com/office/officeart/2018/2/layout/IconVerticalSolidList"/>
    <dgm:cxn modelId="{FD717399-4314-458A-ABF1-3A08C3C11668}" type="presParOf" srcId="{73011032-0C5E-45EC-8415-876A6D98072E}" destId="{80AC3AF9-7FFC-4358-AE74-5FA4F03E4A4D}" srcOrd="1" destOrd="0" presId="urn:microsoft.com/office/officeart/2018/2/layout/IconVerticalSolidList"/>
    <dgm:cxn modelId="{0C070CC6-F77C-489B-BCDB-D6146918301D}" type="presParOf" srcId="{73011032-0C5E-45EC-8415-876A6D98072E}" destId="{9D020959-A290-4748-B0C0-718F73134AA9}" srcOrd="2" destOrd="0" presId="urn:microsoft.com/office/officeart/2018/2/layout/IconVerticalSolidList"/>
    <dgm:cxn modelId="{78D93CBF-F99C-44A7-AA26-66BA7A6ABA6C}" type="presParOf" srcId="{73011032-0C5E-45EC-8415-876A6D98072E}" destId="{929E5255-0EAD-4C44-9B96-21B204C01E6E}" srcOrd="3" destOrd="0" presId="urn:microsoft.com/office/officeart/2018/2/layout/IconVerticalSolidList"/>
    <dgm:cxn modelId="{63E0DB98-AAA9-43F2-B866-A927846DDB96}" type="presParOf" srcId="{AC1813E8-A0FC-42D1-8748-0473BAD1C3C2}" destId="{43A51706-C8A0-4D8A-B543-2FB9BD5A1417}" srcOrd="5" destOrd="0" presId="urn:microsoft.com/office/officeart/2018/2/layout/IconVerticalSolidList"/>
    <dgm:cxn modelId="{819C707D-5F5F-4707-9D99-5EC745EDDF82}" type="presParOf" srcId="{AC1813E8-A0FC-42D1-8748-0473BAD1C3C2}" destId="{CC6CA06C-0C40-48D9-878D-51E811FAB56B}" srcOrd="6" destOrd="0" presId="urn:microsoft.com/office/officeart/2018/2/layout/IconVerticalSolidList"/>
    <dgm:cxn modelId="{9DCF9496-BA8F-4EFC-9CF2-DF95556EE074}" type="presParOf" srcId="{CC6CA06C-0C40-48D9-878D-51E811FAB56B}" destId="{1E8EC83B-D226-41FD-A86E-04009B3ED13E}" srcOrd="0" destOrd="0" presId="urn:microsoft.com/office/officeart/2018/2/layout/IconVerticalSolidList"/>
    <dgm:cxn modelId="{665E6D75-0F14-45A6-9C75-5D922BB55BEA}" type="presParOf" srcId="{CC6CA06C-0C40-48D9-878D-51E811FAB56B}" destId="{1A443139-B951-4B4E-A27A-133B3098E72B}" srcOrd="1" destOrd="0" presId="urn:microsoft.com/office/officeart/2018/2/layout/IconVerticalSolidList"/>
    <dgm:cxn modelId="{2036CC07-CB83-4FB6-A4FF-9979A5D550E6}" type="presParOf" srcId="{CC6CA06C-0C40-48D9-878D-51E811FAB56B}" destId="{B99A9C03-C7EA-4687-85F0-8AE90C40FA9E}" srcOrd="2" destOrd="0" presId="urn:microsoft.com/office/officeart/2018/2/layout/IconVerticalSolidList"/>
    <dgm:cxn modelId="{F5CD3B94-E563-4C8C-95C2-9E630B1066F9}" type="presParOf" srcId="{CC6CA06C-0C40-48D9-878D-51E811FAB56B}" destId="{ADF043AD-C497-4ACB-AF1E-1B0B2B2B8A4A}" srcOrd="3" destOrd="0" presId="urn:microsoft.com/office/officeart/2018/2/layout/IconVerticalSolidList"/>
    <dgm:cxn modelId="{45E3F8CC-BFFC-4089-A978-D3759A886648}" type="presParOf" srcId="{AC1813E8-A0FC-42D1-8748-0473BAD1C3C2}" destId="{ABADAE10-626C-42A3-9259-CCC22B08D34A}" srcOrd="7" destOrd="0" presId="urn:microsoft.com/office/officeart/2018/2/layout/IconVerticalSolidList"/>
    <dgm:cxn modelId="{6AD824E0-79B0-4AB4-B971-4E31267988E4}" type="presParOf" srcId="{AC1813E8-A0FC-42D1-8748-0473BAD1C3C2}" destId="{5DCE8270-4E23-4679-8307-81EDE68E7016}" srcOrd="8" destOrd="0" presId="urn:microsoft.com/office/officeart/2018/2/layout/IconVerticalSolidList"/>
    <dgm:cxn modelId="{CA77770A-87EA-4405-B1CB-70728EB52D55}" type="presParOf" srcId="{5DCE8270-4E23-4679-8307-81EDE68E7016}" destId="{299812FF-A839-4956-B91C-E5C62BDC65D9}" srcOrd="0" destOrd="0" presId="urn:microsoft.com/office/officeart/2018/2/layout/IconVerticalSolidList"/>
    <dgm:cxn modelId="{3E1F9415-1046-46F1-9000-E6D9289730EB}" type="presParOf" srcId="{5DCE8270-4E23-4679-8307-81EDE68E7016}" destId="{56B15DE3-F68D-4850-87C5-DEA3C3331743}" srcOrd="1" destOrd="0" presId="urn:microsoft.com/office/officeart/2018/2/layout/IconVerticalSolidList"/>
    <dgm:cxn modelId="{F44D5046-85E7-4969-8298-2382651C3362}" type="presParOf" srcId="{5DCE8270-4E23-4679-8307-81EDE68E7016}" destId="{6B59B891-3179-45B2-BAD0-DEA3407655BB}" srcOrd="2" destOrd="0" presId="urn:microsoft.com/office/officeart/2018/2/layout/IconVerticalSolidList"/>
    <dgm:cxn modelId="{E039FC55-1667-4F91-9768-B53D035C643D}" type="presParOf" srcId="{5DCE8270-4E23-4679-8307-81EDE68E7016}" destId="{59299D52-BBC1-4CF0-BC08-AFFDBDA1FFF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B0CED55-B727-47E1-9526-6AD8C95E8FC3}" type="doc">
      <dgm:prSet loTypeId="urn:microsoft.com/office/officeart/2016/7/layout/VerticalHollowActionList" loCatId="List" qsTypeId="urn:microsoft.com/office/officeart/2005/8/quickstyle/simple2" qsCatId="simple" csTypeId="urn:microsoft.com/office/officeart/2005/8/colors/colorful1" csCatId="colorful"/>
      <dgm:spPr/>
      <dgm:t>
        <a:bodyPr/>
        <a:lstStyle/>
        <a:p>
          <a:endParaRPr lang="en-US"/>
        </a:p>
      </dgm:t>
    </dgm:pt>
    <dgm:pt modelId="{664DA705-4B0F-4E7E-B41E-067676037930}">
      <dgm:prSet/>
      <dgm:spPr/>
      <dgm:t>
        <a:bodyPr/>
        <a:lstStyle/>
        <a:p>
          <a:r>
            <a:rPr lang="en-US"/>
            <a:t>Need</a:t>
          </a:r>
        </a:p>
      </dgm:t>
    </dgm:pt>
    <dgm:pt modelId="{692A67B0-CB38-4742-8034-850DF8CC4277}" type="parTrans" cxnId="{F18CE55A-2A8A-4F4F-989A-D385BA776EA3}">
      <dgm:prSet/>
      <dgm:spPr/>
      <dgm:t>
        <a:bodyPr/>
        <a:lstStyle/>
        <a:p>
          <a:endParaRPr lang="en-US"/>
        </a:p>
      </dgm:t>
    </dgm:pt>
    <dgm:pt modelId="{6001AD41-365A-4AE4-BB56-6A5446B0D8C9}" type="sibTrans" cxnId="{F18CE55A-2A8A-4F4F-989A-D385BA776EA3}">
      <dgm:prSet/>
      <dgm:spPr/>
      <dgm:t>
        <a:bodyPr/>
        <a:lstStyle/>
        <a:p>
          <a:endParaRPr lang="en-US"/>
        </a:p>
      </dgm:t>
    </dgm:pt>
    <dgm:pt modelId="{0BDE19B1-9695-4E78-B5D6-E63079748DE6}">
      <dgm:prSet/>
      <dgm:spPr/>
      <dgm:t>
        <a:bodyPr/>
        <a:lstStyle/>
        <a:p>
          <a:r>
            <a:rPr lang="en-US"/>
            <a:t>Need for targeted interventions </a:t>
          </a:r>
        </a:p>
      </dgm:t>
    </dgm:pt>
    <dgm:pt modelId="{46C995A0-587F-406F-84A2-D926A8ED2AD0}" type="parTrans" cxnId="{F8EBA258-D680-4C21-9CBA-1DBD52515B51}">
      <dgm:prSet/>
      <dgm:spPr/>
      <dgm:t>
        <a:bodyPr/>
        <a:lstStyle/>
        <a:p>
          <a:endParaRPr lang="en-US"/>
        </a:p>
      </dgm:t>
    </dgm:pt>
    <dgm:pt modelId="{E32FBDF4-E651-43DE-A99A-52307DC4792C}" type="sibTrans" cxnId="{F8EBA258-D680-4C21-9CBA-1DBD52515B51}">
      <dgm:prSet/>
      <dgm:spPr/>
      <dgm:t>
        <a:bodyPr/>
        <a:lstStyle/>
        <a:p>
          <a:endParaRPr lang="en-US"/>
        </a:p>
      </dgm:t>
    </dgm:pt>
    <dgm:pt modelId="{621D47A1-200F-4F9D-9EFA-4689C1008B23}">
      <dgm:prSet/>
      <dgm:spPr/>
      <dgm:t>
        <a:bodyPr/>
        <a:lstStyle/>
        <a:p>
          <a:r>
            <a:rPr lang="en-US"/>
            <a:t>Improve</a:t>
          </a:r>
        </a:p>
      </dgm:t>
    </dgm:pt>
    <dgm:pt modelId="{4F1B4CF3-9028-40FA-AB99-E4C6B8C2D12C}" type="parTrans" cxnId="{CCECCE10-B973-4E07-8B53-6A925A207449}">
      <dgm:prSet/>
      <dgm:spPr/>
      <dgm:t>
        <a:bodyPr/>
        <a:lstStyle/>
        <a:p>
          <a:endParaRPr lang="en-US"/>
        </a:p>
      </dgm:t>
    </dgm:pt>
    <dgm:pt modelId="{91256779-2922-4987-B28D-376531401BA1}" type="sibTrans" cxnId="{CCECCE10-B973-4E07-8B53-6A925A207449}">
      <dgm:prSet/>
      <dgm:spPr/>
      <dgm:t>
        <a:bodyPr/>
        <a:lstStyle/>
        <a:p>
          <a:endParaRPr lang="en-US"/>
        </a:p>
      </dgm:t>
    </dgm:pt>
    <dgm:pt modelId="{8E430BA6-46BC-4CEC-969E-69830A8CD636}">
      <dgm:prSet/>
      <dgm:spPr/>
      <dgm:t>
        <a:bodyPr/>
        <a:lstStyle/>
        <a:p>
          <a:r>
            <a:rPr lang="en-US"/>
            <a:t>Improve outreach to unsheltered individuals </a:t>
          </a:r>
        </a:p>
      </dgm:t>
    </dgm:pt>
    <dgm:pt modelId="{673A2968-F75A-4E5B-8A77-60E2AD6340A4}" type="parTrans" cxnId="{6ED26564-E185-4073-85FF-32356DDB7F15}">
      <dgm:prSet/>
      <dgm:spPr/>
      <dgm:t>
        <a:bodyPr/>
        <a:lstStyle/>
        <a:p>
          <a:endParaRPr lang="en-US"/>
        </a:p>
      </dgm:t>
    </dgm:pt>
    <dgm:pt modelId="{6E558E03-57F0-4C6A-B0B6-342826A2347F}" type="sibTrans" cxnId="{6ED26564-E185-4073-85FF-32356DDB7F15}">
      <dgm:prSet/>
      <dgm:spPr/>
      <dgm:t>
        <a:bodyPr/>
        <a:lstStyle/>
        <a:p>
          <a:endParaRPr lang="en-US"/>
        </a:p>
      </dgm:t>
    </dgm:pt>
    <dgm:pt modelId="{1DCC8BF0-4AF8-494A-B8D5-BB20D4492011}">
      <dgm:prSet/>
      <dgm:spPr/>
      <dgm:t>
        <a:bodyPr/>
        <a:lstStyle/>
        <a:p>
          <a:r>
            <a:rPr lang="en-US"/>
            <a:t>Strengthen</a:t>
          </a:r>
        </a:p>
      </dgm:t>
    </dgm:pt>
    <dgm:pt modelId="{4FD9072D-A043-4E3D-B80F-32E2E92AB991}" type="parTrans" cxnId="{46530BA9-C7F0-48B0-A878-F4A4BF9E36BB}">
      <dgm:prSet/>
      <dgm:spPr/>
      <dgm:t>
        <a:bodyPr/>
        <a:lstStyle/>
        <a:p>
          <a:endParaRPr lang="en-US"/>
        </a:p>
      </dgm:t>
    </dgm:pt>
    <dgm:pt modelId="{D17AC3ED-F6E7-4A8D-83D0-0374F377BAAF}" type="sibTrans" cxnId="{46530BA9-C7F0-48B0-A878-F4A4BF9E36BB}">
      <dgm:prSet/>
      <dgm:spPr/>
      <dgm:t>
        <a:bodyPr/>
        <a:lstStyle/>
        <a:p>
          <a:endParaRPr lang="en-US"/>
        </a:p>
      </dgm:t>
    </dgm:pt>
    <dgm:pt modelId="{63FDC754-3B17-4749-BA52-823718B46983}">
      <dgm:prSet/>
      <dgm:spPr/>
      <dgm:t>
        <a:bodyPr/>
        <a:lstStyle/>
        <a:p>
          <a:r>
            <a:rPr lang="en-US"/>
            <a:t>Strengthen communication strategies </a:t>
          </a:r>
        </a:p>
      </dgm:t>
    </dgm:pt>
    <dgm:pt modelId="{7590B774-E106-493F-A1D1-67ED3CA0808B}" type="parTrans" cxnId="{778520C9-98B0-4925-B076-BFD33E5CAA6B}">
      <dgm:prSet/>
      <dgm:spPr/>
      <dgm:t>
        <a:bodyPr/>
        <a:lstStyle/>
        <a:p>
          <a:endParaRPr lang="en-US"/>
        </a:p>
      </dgm:t>
    </dgm:pt>
    <dgm:pt modelId="{05D449FD-0638-4648-AC15-4FCDA6B0A629}" type="sibTrans" cxnId="{778520C9-98B0-4925-B076-BFD33E5CAA6B}">
      <dgm:prSet/>
      <dgm:spPr/>
      <dgm:t>
        <a:bodyPr/>
        <a:lstStyle/>
        <a:p>
          <a:endParaRPr lang="en-US"/>
        </a:p>
      </dgm:t>
    </dgm:pt>
    <dgm:pt modelId="{66070882-A875-4722-9C8B-BAD3B52E2C1E}">
      <dgm:prSet/>
      <dgm:spPr/>
      <dgm:t>
        <a:bodyPr/>
        <a:lstStyle/>
        <a:p>
          <a:r>
            <a:rPr lang="en-US"/>
            <a:t>Enhance</a:t>
          </a:r>
        </a:p>
      </dgm:t>
    </dgm:pt>
    <dgm:pt modelId="{5D2668A7-63AC-482B-B2BD-63858535CC1B}" type="parTrans" cxnId="{05B5F67B-397F-46ED-ABAB-8FF36533704A}">
      <dgm:prSet/>
      <dgm:spPr/>
      <dgm:t>
        <a:bodyPr/>
        <a:lstStyle/>
        <a:p>
          <a:endParaRPr lang="en-US"/>
        </a:p>
      </dgm:t>
    </dgm:pt>
    <dgm:pt modelId="{DB954E8B-EBAF-4AD6-AB3D-6FF3665A2094}" type="sibTrans" cxnId="{05B5F67B-397F-46ED-ABAB-8FF36533704A}">
      <dgm:prSet/>
      <dgm:spPr/>
      <dgm:t>
        <a:bodyPr/>
        <a:lstStyle/>
        <a:p>
          <a:endParaRPr lang="en-US"/>
        </a:p>
      </dgm:t>
    </dgm:pt>
    <dgm:pt modelId="{1EA47A2B-D027-4067-8FFC-E12F3376D825}">
      <dgm:prSet/>
      <dgm:spPr/>
      <dgm:t>
        <a:bodyPr/>
        <a:lstStyle/>
        <a:p>
          <a:r>
            <a:rPr lang="en-US"/>
            <a:t>Enhance resource navigation tools </a:t>
          </a:r>
        </a:p>
      </dgm:t>
    </dgm:pt>
    <dgm:pt modelId="{B8BEDBAD-01C5-4012-97D1-4FA937DC193C}" type="parTrans" cxnId="{6E836FD3-05CB-4362-9DEF-1E72B5FD2B40}">
      <dgm:prSet/>
      <dgm:spPr/>
      <dgm:t>
        <a:bodyPr/>
        <a:lstStyle/>
        <a:p>
          <a:endParaRPr lang="en-US"/>
        </a:p>
      </dgm:t>
    </dgm:pt>
    <dgm:pt modelId="{173E5E23-CBC1-4C28-9F7D-85695E60314B}" type="sibTrans" cxnId="{6E836FD3-05CB-4362-9DEF-1E72B5FD2B40}">
      <dgm:prSet/>
      <dgm:spPr/>
      <dgm:t>
        <a:bodyPr/>
        <a:lstStyle/>
        <a:p>
          <a:endParaRPr lang="en-US"/>
        </a:p>
      </dgm:t>
    </dgm:pt>
    <dgm:pt modelId="{D80A31DE-E66F-45A4-B237-4FC7981CC5FF}">
      <dgm:prSet/>
      <dgm:spPr/>
      <dgm:t>
        <a:bodyPr/>
        <a:lstStyle/>
        <a:p>
          <a:r>
            <a:rPr lang="en-US"/>
            <a:t>Use</a:t>
          </a:r>
        </a:p>
      </dgm:t>
    </dgm:pt>
    <dgm:pt modelId="{7BD0CD18-4033-474C-B5C0-8BE357D26F6B}" type="parTrans" cxnId="{0767CB47-639F-4B56-92CB-BBE7F96B3D45}">
      <dgm:prSet/>
      <dgm:spPr/>
      <dgm:t>
        <a:bodyPr/>
        <a:lstStyle/>
        <a:p>
          <a:endParaRPr lang="en-US"/>
        </a:p>
      </dgm:t>
    </dgm:pt>
    <dgm:pt modelId="{7569478D-91CF-4E5A-A910-0DB6204CE670}" type="sibTrans" cxnId="{0767CB47-639F-4B56-92CB-BBE7F96B3D45}">
      <dgm:prSet/>
      <dgm:spPr/>
      <dgm:t>
        <a:bodyPr/>
        <a:lstStyle/>
        <a:p>
          <a:endParaRPr lang="en-US"/>
        </a:p>
      </dgm:t>
    </dgm:pt>
    <dgm:pt modelId="{01866E64-6F36-4CA5-B910-6C4D9E9E737E}">
      <dgm:prSet/>
      <dgm:spPr/>
      <dgm:t>
        <a:bodyPr/>
        <a:lstStyle/>
        <a:p>
          <a:r>
            <a:rPr lang="en-US"/>
            <a:t>Use data to guide program improvements</a:t>
          </a:r>
        </a:p>
      </dgm:t>
    </dgm:pt>
    <dgm:pt modelId="{7E8F5514-26DF-40D1-BBEF-D212BFC0FD4E}" type="parTrans" cxnId="{AF864A51-CC1C-4EC7-B0C4-57D785D50265}">
      <dgm:prSet/>
      <dgm:spPr/>
      <dgm:t>
        <a:bodyPr/>
        <a:lstStyle/>
        <a:p>
          <a:endParaRPr lang="en-US"/>
        </a:p>
      </dgm:t>
    </dgm:pt>
    <dgm:pt modelId="{3834CB0D-594F-4A14-BE4C-25AE35DF3E66}" type="sibTrans" cxnId="{AF864A51-CC1C-4EC7-B0C4-57D785D50265}">
      <dgm:prSet/>
      <dgm:spPr/>
      <dgm:t>
        <a:bodyPr/>
        <a:lstStyle/>
        <a:p>
          <a:endParaRPr lang="en-US"/>
        </a:p>
      </dgm:t>
    </dgm:pt>
    <dgm:pt modelId="{1FC386F0-CF02-4E0E-B38E-B262F2EBA08B}" type="pres">
      <dgm:prSet presAssocID="{AB0CED55-B727-47E1-9526-6AD8C95E8FC3}" presName="Name0" presStyleCnt="0">
        <dgm:presLayoutVars>
          <dgm:dir/>
          <dgm:animLvl val="lvl"/>
          <dgm:resizeHandles val="exact"/>
        </dgm:presLayoutVars>
      </dgm:prSet>
      <dgm:spPr/>
    </dgm:pt>
    <dgm:pt modelId="{9CE80034-7807-4DD8-93E1-8A0380D5406C}" type="pres">
      <dgm:prSet presAssocID="{664DA705-4B0F-4E7E-B41E-067676037930}" presName="linNode" presStyleCnt="0"/>
      <dgm:spPr/>
    </dgm:pt>
    <dgm:pt modelId="{338B2FC3-CAC2-4BB7-9584-7BE437531D5B}" type="pres">
      <dgm:prSet presAssocID="{664DA705-4B0F-4E7E-B41E-067676037930}" presName="parentText" presStyleLbl="solidFgAcc1" presStyleIdx="0" presStyleCnt="5">
        <dgm:presLayoutVars>
          <dgm:chMax val="1"/>
          <dgm:bulletEnabled/>
        </dgm:presLayoutVars>
      </dgm:prSet>
      <dgm:spPr/>
    </dgm:pt>
    <dgm:pt modelId="{1583C339-377F-40D6-98BD-2DFD7BC461A6}" type="pres">
      <dgm:prSet presAssocID="{664DA705-4B0F-4E7E-B41E-067676037930}" presName="descendantText" presStyleLbl="alignNode1" presStyleIdx="0" presStyleCnt="5">
        <dgm:presLayoutVars>
          <dgm:bulletEnabled/>
        </dgm:presLayoutVars>
      </dgm:prSet>
      <dgm:spPr/>
    </dgm:pt>
    <dgm:pt modelId="{E8FC8A79-D6DD-46DA-B12F-10B403639217}" type="pres">
      <dgm:prSet presAssocID="{6001AD41-365A-4AE4-BB56-6A5446B0D8C9}" presName="sp" presStyleCnt="0"/>
      <dgm:spPr/>
    </dgm:pt>
    <dgm:pt modelId="{D6A66693-8963-4FC6-B4C4-DB92667BA26B}" type="pres">
      <dgm:prSet presAssocID="{621D47A1-200F-4F9D-9EFA-4689C1008B23}" presName="linNode" presStyleCnt="0"/>
      <dgm:spPr/>
    </dgm:pt>
    <dgm:pt modelId="{ED604732-1C64-4BB7-AC66-5C5C31632488}" type="pres">
      <dgm:prSet presAssocID="{621D47A1-200F-4F9D-9EFA-4689C1008B23}" presName="parentText" presStyleLbl="solidFgAcc1" presStyleIdx="1" presStyleCnt="5">
        <dgm:presLayoutVars>
          <dgm:chMax val="1"/>
          <dgm:bulletEnabled/>
        </dgm:presLayoutVars>
      </dgm:prSet>
      <dgm:spPr/>
    </dgm:pt>
    <dgm:pt modelId="{96BCF312-B3D3-4997-A74E-E83041CF7EAB}" type="pres">
      <dgm:prSet presAssocID="{621D47A1-200F-4F9D-9EFA-4689C1008B23}" presName="descendantText" presStyleLbl="alignNode1" presStyleIdx="1" presStyleCnt="5">
        <dgm:presLayoutVars>
          <dgm:bulletEnabled/>
        </dgm:presLayoutVars>
      </dgm:prSet>
      <dgm:spPr/>
    </dgm:pt>
    <dgm:pt modelId="{FAAD9B6A-B6B4-497C-BEE2-18218AD19144}" type="pres">
      <dgm:prSet presAssocID="{91256779-2922-4987-B28D-376531401BA1}" presName="sp" presStyleCnt="0"/>
      <dgm:spPr/>
    </dgm:pt>
    <dgm:pt modelId="{D6C4B4F9-96D6-4D1E-812C-59369D6A2312}" type="pres">
      <dgm:prSet presAssocID="{1DCC8BF0-4AF8-494A-B8D5-BB20D4492011}" presName="linNode" presStyleCnt="0"/>
      <dgm:spPr/>
    </dgm:pt>
    <dgm:pt modelId="{FA6EAEFF-0BBB-4FAD-9588-AFD0EC22D84E}" type="pres">
      <dgm:prSet presAssocID="{1DCC8BF0-4AF8-494A-B8D5-BB20D4492011}" presName="parentText" presStyleLbl="solidFgAcc1" presStyleIdx="2" presStyleCnt="5">
        <dgm:presLayoutVars>
          <dgm:chMax val="1"/>
          <dgm:bulletEnabled/>
        </dgm:presLayoutVars>
      </dgm:prSet>
      <dgm:spPr/>
    </dgm:pt>
    <dgm:pt modelId="{C3770407-5D71-4371-B137-26325393902D}" type="pres">
      <dgm:prSet presAssocID="{1DCC8BF0-4AF8-494A-B8D5-BB20D4492011}" presName="descendantText" presStyleLbl="alignNode1" presStyleIdx="2" presStyleCnt="5">
        <dgm:presLayoutVars>
          <dgm:bulletEnabled/>
        </dgm:presLayoutVars>
      </dgm:prSet>
      <dgm:spPr/>
    </dgm:pt>
    <dgm:pt modelId="{110D0CF8-1C24-4BA8-87D0-65F6ADECF35A}" type="pres">
      <dgm:prSet presAssocID="{D17AC3ED-F6E7-4A8D-83D0-0374F377BAAF}" presName="sp" presStyleCnt="0"/>
      <dgm:spPr/>
    </dgm:pt>
    <dgm:pt modelId="{87451F9B-98B3-4279-BF65-36C12CC2C374}" type="pres">
      <dgm:prSet presAssocID="{66070882-A875-4722-9C8B-BAD3B52E2C1E}" presName="linNode" presStyleCnt="0"/>
      <dgm:spPr/>
    </dgm:pt>
    <dgm:pt modelId="{1AB36064-2D5B-4592-BD10-5B5D214FACBB}" type="pres">
      <dgm:prSet presAssocID="{66070882-A875-4722-9C8B-BAD3B52E2C1E}" presName="parentText" presStyleLbl="solidFgAcc1" presStyleIdx="3" presStyleCnt="5">
        <dgm:presLayoutVars>
          <dgm:chMax val="1"/>
          <dgm:bulletEnabled/>
        </dgm:presLayoutVars>
      </dgm:prSet>
      <dgm:spPr/>
    </dgm:pt>
    <dgm:pt modelId="{19CE219B-9F93-4952-96D8-E6D1CFC774E7}" type="pres">
      <dgm:prSet presAssocID="{66070882-A875-4722-9C8B-BAD3B52E2C1E}" presName="descendantText" presStyleLbl="alignNode1" presStyleIdx="3" presStyleCnt="5">
        <dgm:presLayoutVars>
          <dgm:bulletEnabled/>
        </dgm:presLayoutVars>
      </dgm:prSet>
      <dgm:spPr/>
    </dgm:pt>
    <dgm:pt modelId="{05B66C6D-779F-4F9B-9654-62200F7FF2BA}" type="pres">
      <dgm:prSet presAssocID="{DB954E8B-EBAF-4AD6-AB3D-6FF3665A2094}" presName="sp" presStyleCnt="0"/>
      <dgm:spPr/>
    </dgm:pt>
    <dgm:pt modelId="{7472C5CB-7007-4A1A-BD4B-3125874E97FF}" type="pres">
      <dgm:prSet presAssocID="{D80A31DE-E66F-45A4-B237-4FC7981CC5FF}" presName="linNode" presStyleCnt="0"/>
      <dgm:spPr/>
    </dgm:pt>
    <dgm:pt modelId="{806D0D6F-AE7D-4471-BA0F-DB342187BA61}" type="pres">
      <dgm:prSet presAssocID="{D80A31DE-E66F-45A4-B237-4FC7981CC5FF}" presName="parentText" presStyleLbl="solidFgAcc1" presStyleIdx="4" presStyleCnt="5">
        <dgm:presLayoutVars>
          <dgm:chMax val="1"/>
          <dgm:bulletEnabled/>
        </dgm:presLayoutVars>
      </dgm:prSet>
      <dgm:spPr/>
    </dgm:pt>
    <dgm:pt modelId="{E7A439CF-2EB9-4172-B13A-247CF22A22BD}" type="pres">
      <dgm:prSet presAssocID="{D80A31DE-E66F-45A4-B237-4FC7981CC5FF}" presName="descendantText" presStyleLbl="alignNode1" presStyleIdx="4" presStyleCnt="5">
        <dgm:presLayoutVars>
          <dgm:bulletEnabled/>
        </dgm:presLayoutVars>
      </dgm:prSet>
      <dgm:spPr/>
    </dgm:pt>
  </dgm:ptLst>
  <dgm:cxnLst>
    <dgm:cxn modelId="{3D2A4F05-9CB7-4DA4-8EBA-1E9B83370F72}" type="presOf" srcId="{AB0CED55-B727-47E1-9526-6AD8C95E8FC3}" destId="{1FC386F0-CF02-4E0E-B38E-B262F2EBA08B}" srcOrd="0" destOrd="0" presId="urn:microsoft.com/office/officeart/2016/7/layout/VerticalHollowActionList"/>
    <dgm:cxn modelId="{5099E009-A353-4C0B-8E10-0969CF8A7151}" type="presOf" srcId="{01866E64-6F36-4CA5-B910-6C4D9E9E737E}" destId="{E7A439CF-2EB9-4172-B13A-247CF22A22BD}" srcOrd="0" destOrd="0" presId="urn:microsoft.com/office/officeart/2016/7/layout/VerticalHollowActionList"/>
    <dgm:cxn modelId="{E268AC0D-4F64-45D9-9AAE-43EFE86A491F}" type="presOf" srcId="{621D47A1-200F-4F9D-9EFA-4689C1008B23}" destId="{ED604732-1C64-4BB7-AC66-5C5C31632488}" srcOrd="0" destOrd="0" presId="urn:microsoft.com/office/officeart/2016/7/layout/VerticalHollowActionList"/>
    <dgm:cxn modelId="{CCECCE10-B973-4E07-8B53-6A925A207449}" srcId="{AB0CED55-B727-47E1-9526-6AD8C95E8FC3}" destId="{621D47A1-200F-4F9D-9EFA-4689C1008B23}" srcOrd="1" destOrd="0" parTransId="{4F1B4CF3-9028-40FA-AB99-E4C6B8C2D12C}" sibTransId="{91256779-2922-4987-B28D-376531401BA1}"/>
    <dgm:cxn modelId="{17C6A63D-AC1B-4797-AED3-84B34C7DE1C1}" type="presOf" srcId="{D80A31DE-E66F-45A4-B237-4FC7981CC5FF}" destId="{806D0D6F-AE7D-4471-BA0F-DB342187BA61}" srcOrd="0" destOrd="0" presId="urn:microsoft.com/office/officeart/2016/7/layout/VerticalHollowActionList"/>
    <dgm:cxn modelId="{6ED26564-E185-4073-85FF-32356DDB7F15}" srcId="{621D47A1-200F-4F9D-9EFA-4689C1008B23}" destId="{8E430BA6-46BC-4CEC-969E-69830A8CD636}" srcOrd="0" destOrd="0" parTransId="{673A2968-F75A-4E5B-8A77-60E2AD6340A4}" sibTransId="{6E558E03-57F0-4C6A-B0B6-342826A2347F}"/>
    <dgm:cxn modelId="{0767CB47-639F-4B56-92CB-BBE7F96B3D45}" srcId="{AB0CED55-B727-47E1-9526-6AD8C95E8FC3}" destId="{D80A31DE-E66F-45A4-B237-4FC7981CC5FF}" srcOrd="4" destOrd="0" parTransId="{7BD0CD18-4033-474C-B5C0-8BE357D26F6B}" sibTransId="{7569478D-91CF-4E5A-A910-0DB6204CE670}"/>
    <dgm:cxn modelId="{0126CA70-1443-4857-98A6-03B0CA7DCDFD}" type="presOf" srcId="{8E430BA6-46BC-4CEC-969E-69830A8CD636}" destId="{96BCF312-B3D3-4997-A74E-E83041CF7EAB}" srcOrd="0" destOrd="0" presId="urn:microsoft.com/office/officeart/2016/7/layout/VerticalHollowActionList"/>
    <dgm:cxn modelId="{AF864A51-CC1C-4EC7-B0C4-57D785D50265}" srcId="{D80A31DE-E66F-45A4-B237-4FC7981CC5FF}" destId="{01866E64-6F36-4CA5-B910-6C4D9E9E737E}" srcOrd="0" destOrd="0" parTransId="{7E8F5514-26DF-40D1-BBEF-D212BFC0FD4E}" sibTransId="{3834CB0D-594F-4A14-BE4C-25AE35DF3E66}"/>
    <dgm:cxn modelId="{F8EBA258-D680-4C21-9CBA-1DBD52515B51}" srcId="{664DA705-4B0F-4E7E-B41E-067676037930}" destId="{0BDE19B1-9695-4E78-B5D6-E63079748DE6}" srcOrd="0" destOrd="0" parTransId="{46C995A0-587F-406F-84A2-D926A8ED2AD0}" sibTransId="{E32FBDF4-E651-43DE-A99A-52307DC4792C}"/>
    <dgm:cxn modelId="{F18CE55A-2A8A-4F4F-989A-D385BA776EA3}" srcId="{AB0CED55-B727-47E1-9526-6AD8C95E8FC3}" destId="{664DA705-4B0F-4E7E-B41E-067676037930}" srcOrd="0" destOrd="0" parTransId="{692A67B0-CB38-4742-8034-850DF8CC4277}" sibTransId="{6001AD41-365A-4AE4-BB56-6A5446B0D8C9}"/>
    <dgm:cxn modelId="{05B5F67B-397F-46ED-ABAB-8FF36533704A}" srcId="{AB0CED55-B727-47E1-9526-6AD8C95E8FC3}" destId="{66070882-A875-4722-9C8B-BAD3B52E2C1E}" srcOrd="3" destOrd="0" parTransId="{5D2668A7-63AC-482B-B2BD-63858535CC1B}" sibTransId="{DB954E8B-EBAF-4AD6-AB3D-6FF3665A2094}"/>
    <dgm:cxn modelId="{BCBEFD85-26A9-4730-B3C3-705AE58284F5}" type="presOf" srcId="{66070882-A875-4722-9C8B-BAD3B52E2C1E}" destId="{1AB36064-2D5B-4592-BD10-5B5D214FACBB}" srcOrd="0" destOrd="0" presId="urn:microsoft.com/office/officeart/2016/7/layout/VerticalHollowActionList"/>
    <dgm:cxn modelId="{46530BA9-C7F0-48B0-A878-F4A4BF9E36BB}" srcId="{AB0CED55-B727-47E1-9526-6AD8C95E8FC3}" destId="{1DCC8BF0-4AF8-494A-B8D5-BB20D4492011}" srcOrd="2" destOrd="0" parTransId="{4FD9072D-A043-4E3D-B80F-32E2E92AB991}" sibTransId="{D17AC3ED-F6E7-4A8D-83D0-0374F377BAAF}"/>
    <dgm:cxn modelId="{778520C9-98B0-4925-B076-BFD33E5CAA6B}" srcId="{1DCC8BF0-4AF8-494A-B8D5-BB20D4492011}" destId="{63FDC754-3B17-4749-BA52-823718B46983}" srcOrd="0" destOrd="0" parTransId="{7590B774-E106-493F-A1D1-67ED3CA0808B}" sibTransId="{05D449FD-0638-4648-AC15-4FCDA6B0A629}"/>
    <dgm:cxn modelId="{9031E5CB-8248-4CA0-9A83-4B7B42FEF18D}" type="presOf" srcId="{63FDC754-3B17-4749-BA52-823718B46983}" destId="{C3770407-5D71-4371-B137-26325393902D}" srcOrd="0" destOrd="0" presId="urn:microsoft.com/office/officeart/2016/7/layout/VerticalHollowActionList"/>
    <dgm:cxn modelId="{6E836FD3-05CB-4362-9DEF-1E72B5FD2B40}" srcId="{66070882-A875-4722-9C8B-BAD3B52E2C1E}" destId="{1EA47A2B-D027-4067-8FFC-E12F3376D825}" srcOrd="0" destOrd="0" parTransId="{B8BEDBAD-01C5-4012-97D1-4FA937DC193C}" sibTransId="{173E5E23-CBC1-4C28-9F7D-85695E60314B}"/>
    <dgm:cxn modelId="{1E1851E5-5AA8-4366-BC03-EDE97FFC184F}" type="presOf" srcId="{0BDE19B1-9695-4E78-B5D6-E63079748DE6}" destId="{1583C339-377F-40D6-98BD-2DFD7BC461A6}" srcOrd="0" destOrd="0" presId="urn:microsoft.com/office/officeart/2016/7/layout/VerticalHollowActionList"/>
    <dgm:cxn modelId="{B1DB04E6-3623-4566-AECC-25295D0A0014}" type="presOf" srcId="{1EA47A2B-D027-4067-8FFC-E12F3376D825}" destId="{19CE219B-9F93-4952-96D8-E6D1CFC774E7}" srcOrd="0" destOrd="0" presId="urn:microsoft.com/office/officeart/2016/7/layout/VerticalHollowActionList"/>
    <dgm:cxn modelId="{855DD5E7-5C41-41B6-92FD-D2568DCAFE94}" type="presOf" srcId="{1DCC8BF0-4AF8-494A-B8D5-BB20D4492011}" destId="{FA6EAEFF-0BBB-4FAD-9588-AFD0EC22D84E}" srcOrd="0" destOrd="0" presId="urn:microsoft.com/office/officeart/2016/7/layout/VerticalHollowActionList"/>
    <dgm:cxn modelId="{4D3256F6-3594-44D9-84DE-54EF264677BA}" type="presOf" srcId="{664DA705-4B0F-4E7E-B41E-067676037930}" destId="{338B2FC3-CAC2-4BB7-9584-7BE437531D5B}" srcOrd="0" destOrd="0" presId="urn:microsoft.com/office/officeart/2016/7/layout/VerticalHollowActionList"/>
    <dgm:cxn modelId="{FFEE8C19-FC1A-4449-93BE-4AB618B27795}" type="presParOf" srcId="{1FC386F0-CF02-4E0E-B38E-B262F2EBA08B}" destId="{9CE80034-7807-4DD8-93E1-8A0380D5406C}" srcOrd="0" destOrd="0" presId="urn:microsoft.com/office/officeart/2016/7/layout/VerticalHollowActionList"/>
    <dgm:cxn modelId="{1845F444-39BF-4A71-8ED6-DAE5A95D684F}" type="presParOf" srcId="{9CE80034-7807-4DD8-93E1-8A0380D5406C}" destId="{338B2FC3-CAC2-4BB7-9584-7BE437531D5B}" srcOrd="0" destOrd="0" presId="urn:microsoft.com/office/officeart/2016/7/layout/VerticalHollowActionList"/>
    <dgm:cxn modelId="{88FA32A3-0420-451E-8789-6B3E853331AB}" type="presParOf" srcId="{9CE80034-7807-4DD8-93E1-8A0380D5406C}" destId="{1583C339-377F-40D6-98BD-2DFD7BC461A6}" srcOrd="1" destOrd="0" presId="urn:microsoft.com/office/officeart/2016/7/layout/VerticalHollowActionList"/>
    <dgm:cxn modelId="{4D54C8A4-72EB-4ACA-B19A-6D2873ECD654}" type="presParOf" srcId="{1FC386F0-CF02-4E0E-B38E-B262F2EBA08B}" destId="{E8FC8A79-D6DD-46DA-B12F-10B403639217}" srcOrd="1" destOrd="0" presId="urn:microsoft.com/office/officeart/2016/7/layout/VerticalHollowActionList"/>
    <dgm:cxn modelId="{08E65329-A791-40AF-B69E-92FB298C163D}" type="presParOf" srcId="{1FC386F0-CF02-4E0E-B38E-B262F2EBA08B}" destId="{D6A66693-8963-4FC6-B4C4-DB92667BA26B}" srcOrd="2" destOrd="0" presId="urn:microsoft.com/office/officeart/2016/7/layout/VerticalHollowActionList"/>
    <dgm:cxn modelId="{222B55B6-AF5A-4271-9DE5-0D889AD5C5CA}" type="presParOf" srcId="{D6A66693-8963-4FC6-B4C4-DB92667BA26B}" destId="{ED604732-1C64-4BB7-AC66-5C5C31632488}" srcOrd="0" destOrd="0" presId="urn:microsoft.com/office/officeart/2016/7/layout/VerticalHollowActionList"/>
    <dgm:cxn modelId="{8D7FE616-F3CF-4191-B195-B71FB8024258}" type="presParOf" srcId="{D6A66693-8963-4FC6-B4C4-DB92667BA26B}" destId="{96BCF312-B3D3-4997-A74E-E83041CF7EAB}" srcOrd="1" destOrd="0" presId="urn:microsoft.com/office/officeart/2016/7/layout/VerticalHollowActionList"/>
    <dgm:cxn modelId="{D79870FC-938E-46DB-9415-95FADFA7393C}" type="presParOf" srcId="{1FC386F0-CF02-4E0E-B38E-B262F2EBA08B}" destId="{FAAD9B6A-B6B4-497C-BEE2-18218AD19144}" srcOrd="3" destOrd="0" presId="urn:microsoft.com/office/officeart/2016/7/layout/VerticalHollowActionList"/>
    <dgm:cxn modelId="{8B299BF8-A5A4-45B0-B6B8-E1933C1F84E2}" type="presParOf" srcId="{1FC386F0-CF02-4E0E-B38E-B262F2EBA08B}" destId="{D6C4B4F9-96D6-4D1E-812C-59369D6A2312}" srcOrd="4" destOrd="0" presId="urn:microsoft.com/office/officeart/2016/7/layout/VerticalHollowActionList"/>
    <dgm:cxn modelId="{154CEB48-E441-47A8-8C84-C2E2A410CAD8}" type="presParOf" srcId="{D6C4B4F9-96D6-4D1E-812C-59369D6A2312}" destId="{FA6EAEFF-0BBB-4FAD-9588-AFD0EC22D84E}" srcOrd="0" destOrd="0" presId="urn:microsoft.com/office/officeart/2016/7/layout/VerticalHollowActionList"/>
    <dgm:cxn modelId="{B8C99C84-5DBB-4C6E-BCE7-9DAE129EE9A5}" type="presParOf" srcId="{D6C4B4F9-96D6-4D1E-812C-59369D6A2312}" destId="{C3770407-5D71-4371-B137-26325393902D}" srcOrd="1" destOrd="0" presId="urn:microsoft.com/office/officeart/2016/7/layout/VerticalHollowActionList"/>
    <dgm:cxn modelId="{B54997B9-99A5-45A9-973E-0E565F478C9D}" type="presParOf" srcId="{1FC386F0-CF02-4E0E-B38E-B262F2EBA08B}" destId="{110D0CF8-1C24-4BA8-87D0-65F6ADECF35A}" srcOrd="5" destOrd="0" presId="urn:microsoft.com/office/officeart/2016/7/layout/VerticalHollowActionList"/>
    <dgm:cxn modelId="{52D49DD2-C2EF-4CFE-BB75-3A2A8F81033B}" type="presParOf" srcId="{1FC386F0-CF02-4E0E-B38E-B262F2EBA08B}" destId="{87451F9B-98B3-4279-BF65-36C12CC2C374}" srcOrd="6" destOrd="0" presId="urn:microsoft.com/office/officeart/2016/7/layout/VerticalHollowActionList"/>
    <dgm:cxn modelId="{2E8F014D-DD4A-461F-8221-A3AAA96E90DF}" type="presParOf" srcId="{87451F9B-98B3-4279-BF65-36C12CC2C374}" destId="{1AB36064-2D5B-4592-BD10-5B5D214FACBB}" srcOrd="0" destOrd="0" presId="urn:microsoft.com/office/officeart/2016/7/layout/VerticalHollowActionList"/>
    <dgm:cxn modelId="{84020973-09FA-408A-B368-7DB2FD2471BE}" type="presParOf" srcId="{87451F9B-98B3-4279-BF65-36C12CC2C374}" destId="{19CE219B-9F93-4952-96D8-E6D1CFC774E7}" srcOrd="1" destOrd="0" presId="urn:microsoft.com/office/officeart/2016/7/layout/VerticalHollowActionList"/>
    <dgm:cxn modelId="{2CC18DF0-775D-40B0-BEEE-C65583966331}" type="presParOf" srcId="{1FC386F0-CF02-4E0E-B38E-B262F2EBA08B}" destId="{05B66C6D-779F-4F9B-9654-62200F7FF2BA}" srcOrd="7" destOrd="0" presId="urn:microsoft.com/office/officeart/2016/7/layout/VerticalHollowActionList"/>
    <dgm:cxn modelId="{95F350E5-0F22-4475-9744-2A6D10D001EC}" type="presParOf" srcId="{1FC386F0-CF02-4E0E-B38E-B262F2EBA08B}" destId="{7472C5CB-7007-4A1A-BD4B-3125874E97FF}" srcOrd="8" destOrd="0" presId="urn:microsoft.com/office/officeart/2016/7/layout/VerticalHollowActionList"/>
    <dgm:cxn modelId="{CD2E2ED5-CC63-4D52-B287-EE76F8588487}" type="presParOf" srcId="{7472C5CB-7007-4A1A-BD4B-3125874E97FF}" destId="{806D0D6F-AE7D-4471-BA0F-DB342187BA61}" srcOrd="0" destOrd="0" presId="urn:microsoft.com/office/officeart/2016/7/layout/VerticalHollowActionList"/>
    <dgm:cxn modelId="{62993F40-D693-4729-BE92-5F6E227AB708}" type="presParOf" srcId="{7472C5CB-7007-4A1A-BD4B-3125874E97FF}" destId="{E7A439CF-2EB9-4172-B13A-247CF22A22BD}" srcOrd="1" destOrd="0" presId="urn:microsoft.com/office/officeart/2016/7/layout/VerticalHollow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D2E62B4-F962-4C02-8FDB-3AA21D944D4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C3195F-AFCA-4CFD-8663-F76C5D8D6011}">
      <dgm:prSet/>
      <dgm:spPr/>
      <dgm:t>
        <a:bodyPr/>
        <a:lstStyle/>
        <a:p>
          <a:pPr>
            <a:lnSpc>
              <a:spcPct val="100000"/>
            </a:lnSpc>
          </a:pPr>
          <a:r>
            <a:rPr lang="en-US"/>
            <a:t>Implement segmentation‑based outreach </a:t>
          </a:r>
        </a:p>
      </dgm:t>
    </dgm:pt>
    <dgm:pt modelId="{7A07C32F-AA01-44F4-87DB-716FC0121BE3}" type="parTrans" cxnId="{3CCD5EC3-AFF1-4B1F-8085-442D8A115296}">
      <dgm:prSet/>
      <dgm:spPr/>
      <dgm:t>
        <a:bodyPr/>
        <a:lstStyle/>
        <a:p>
          <a:endParaRPr lang="en-US"/>
        </a:p>
      </dgm:t>
    </dgm:pt>
    <dgm:pt modelId="{4E562B6C-6B62-454F-9E72-FA28A1DB7F2D}" type="sibTrans" cxnId="{3CCD5EC3-AFF1-4B1F-8085-442D8A115296}">
      <dgm:prSet/>
      <dgm:spPr/>
      <dgm:t>
        <a:bodyPr/>
        <a:lstStyle/>
        <a:p>
          <a:endParaRPr lang="en-US"/>
        </a:p>
      </dgm:t>
    </dgm:pt>
    <dgm:pt modelId="{0F20326F-284A-465F-8F25-1B2F9FB71D69}">
      <dgm:prSet/>
      <dgm:spPr/>
      <dgm:t>
        <a:bodyPr/>
        <a:lstStyle/>
        <a:p>
          <a:pPr>
            <a:lnSpc>
              <a:spcPct val="100000"/>
            </a:lnSpc>
          </a:pPr>
          <a:r>
            <a:rPr lang="en-US"/>
            <a:t>Expand digital + peer‑led communication channels </a:t>
          </a:r>
        </a:p>
      </dgm:t>
    </dgm:pt>
    <dgm:pt modelId="{4A6ABC6F-F8D1-438E-81FB-6223B90FA555}" type="parTrans" cxnId="{6C478762-35D5-4C4C-A44B-8DD86270EA67}">
      <dgm:prSet/>
      <dgm:spPr/>
      <dgm:t>
        <a:bodyPr/>
        <a:lstStyle/>
        <a:p>
          <a:endParaRPr lang="en-US"/>
        </a:p>
      </dgm:t>
    </dgm:pt>
    <dgm:pt modelId="{E58CE0E3-9572-4F41-8CB2-F000088120D9}" type="sibTrans" cxnId="{6C478762-35D5-4C4C-A44B-8DD86270EA67}">
      <dgm:prSet/>
      <dgm:spPr/>
      <dgm:t>
        <a:bodyPr/>
        <a:lstStyle/>
        <a:p>
          <a:endParaRPr lang="en-US"/>
        </a:p>
      </dgm:t>
    </dgm:pt>
    <dgm:pt modelId="{6524DB8E-ED30-4B96-80A3-6052FA0A0587}">
      <dgm:prSet/>
      <dgm:spPr/>
      <dgm:t>
        <a:bodyPr/>
        <a:lstStyle/>
        <a:p>
          <a:pPr>
            <a:lnSpc>
              <a:spcPct val="100000"/>
            </a:lnSpc>
          </a:pPr>
          <a:r>
            <a:rPr lang="en-US"/>
            <a:t>Develop personalized resource‑matching tools </a:t>
          </a:r>
        </a:p>
      </dgm:t>
    </dgm:pt>
    <dgm:pt modelId="{E0D1B75A-6E72-4CF2-AF27-69F09BC827A6}" type="parTrans" cxnId="{5D8E8525-89DA-42C5-A59B-376DA9E90AF7}">
      <dgm:prSet/>
      <dgm:spPr/>
      <dgm:t>
        <a:bodyPr/>
        <a:lstStyle/>
        <a:p>
          <a:endParaRPr lang="en-US"/>
        </a:p>
      </dgm:t>
    </dgm:pt>
    <dgm:pt modelId="{C83CEE61-9250-4E1F-A662-3DCC769096DE}" type="sibTrans" cxnId="{5D8E8525-89DA-42C5-A59B-376DA9E90AF7}">
      <dgm:prSet/>
      <dgm:spPr/>
      <dgm:t>
        <a:bodyPr/>
        <a:lstStyle/>
        <a:p>
          <a:endParaRPr lang="en-US"/>
        </a:p>
      </dgm:t>
    </dgm:pt>
    <dgm:pt modelId="{E1FE16D6-9165-4D91-B5A0-70AEB96D0F0F}">
      <dgm:prSet/>
      <dgm:spPr/>
      <dgm:t>
        <a:bodyPr/>
        <a:lstStyle/>
        <a:p>
          <a:pPr>
            <a:lnSpc>
              <a:spcPct val="100000"/>
            </a:lnSpc>
          </a:pPr>
          <a:r>
            <a:rPr lang="en-US"/>
            <a:t>Track KPIs consistently across programs </a:t>
          </a:r>
        </a:p>
      </dgm:t>
    </dgm:pt>
    <dgm:pt modelId="{3A7768A1-0DD3-445D-92BC-BBE652361413}" type="parTrans" cxnId="{CBB8FFA6-3D78-4E2A-A888-FC2BC2523965}">
      <dgm:prSet/>
      <dgm:spPr/>
      <dgm:t>
        <a:bodyPr/>
        <a:lstStyle/>
        <a:p>
          <a:endParaRPr lang="en-US"/>
        </a:p>
      </dgm:t>
    </dgm:pt>
    <dgm:pt modelId="{653E8698-21E7-4EF6-964F-7F14C7E2A2B4}" type="sibTrans" cxnId="{CBB8FFA6-3D78-4E2A-A888-FC2BC2523965}">
      <dgm:prSet/>
      <dgm:spPr/>
      <dgm:t>
        <a:bodyPr/>
        <a:lstStyle/>
        <a:p>
          <a:endParaRPr lang="en-US"/>
        </a:p>
      </dgm:t>
    </dgm:pt>
    <dgm:pt modelId="{9E0A6B80-B3F6-40CC-BE2D-8D67D7E99489}">
      <dgm:prSet/>
      <dgm:spPr/>
      <dgm:t>
        <a:bodyPr/>
        <a:lstStyle/>
        <a:p>
          <a:pPr>
            <a:lnSpc>
              <a:spcPct val="100000"/>
            </a:lnSpc>
          </a:pPr>
          <a:r>
            <a:rPr lang="en-US"/>
            <a:t>Integrate qualitative feedback into decision‑making</a:t>
          </a:r>
        </a:p>
      </dgm:t>
    </dgm:pt>
    <dgm:pt modelId="{77F67828-418F-4D6B-BC7B-E1CE49B6C782}" type="parTrans" cxnId="{61AAC37E-2EAB-4E17-A4F1-BAB5C6B607D7}">
      <dgm:prSet/>
      <dgm:spPr/>
      <dgm:t>
        <a:bodyPr/>
        <a:lstStyle/>
        <a:p>
          <a:endParaRPr lang="en-US"/>
        </a:p>
      </dgm:t>
    </dgm:pt>
    <dgm:pt modelId="{0C426A2B-C7B0-47D3-BD9F-227D608B5DE7}" type="sibTrans" cxnId="{61AAC37E-2EAB-4E17-A4F1-BAB5C6B607D7}">
      <dgm:prSet/>
      <dgm:spPr/>
      <dgm:t>
        <a:bodyPr/>
        <a:lstStyle/>
        <a:p>
          <a:endParaRPr lang="en-US"/>
        </a:p>
      </dgm:t>
    </dgm:pt>
    <dgm:pt modelId="{DF5D4014-CC75-4EEB-85EE-5E68ADB2E235}" type="pres">
      <dgm:prSet presAssocID="{7D2E62B4-F962-4C02-8FDB-3AA21D944D44}" presName="root" presStyleCnt="0">
        <dgm:presLayoutVars>
          <dgm:dir/>
          <dgm:resizeHandles val="exact"/>
        </dgm:presLayoutVars>
      </dgm:prSet>
      <dgm:spPr/>
    </dgm:pt>
    <dgm:pt modelId="{2BADE709-86DA-4A87-8955-6D8FAE24A429}" type="pres">
      <dgm:prSet presAssocID="{9FC3195F-AFCA-4CFD-8663-F76C5D8D6011}" presName="compNode" presStyleCnt="0"/>
      <dgm:spPr/>
    </dgm:pt>
    <dgm:pt modelId="{C5E79C69-FDB2-442C-A020-FE4D0D4472FC}" type="pres">
      <dgm:prSet presAssocID="{9FC3195F-AFCA-4CFD-8663-F76C5D8D6011}" presName="bgRect" presStyleLbl="bgShp" presStyleIdx="0" presStyleCnt="5"/>
      <dgm:spPr/>
    </dgm:pt>
    <dgm:pt modelId="{B486D970-3F7D-4C80-A9ED-D44B3CA3DA0E}" type="pres">
      <dgm:prSet presAssocID="{9FC3195F-AFCA-4CFD-8663-F76C5D8D601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EFC94AC9-5870-4144-B945-0D5B07B5A528}" type="pres">
      <dgm:prSet presAssocID="{9FC3195F-AFCA-4CFD-8663-F76C5D8D6011}" presName="spaceRect" presStyleCnt="0"/>
      <dgm:spPr/>
    </dgm:pt>
    <dgm:pt modelId="{848312E6-F5AF-4DFC-9C6F-0FEC02191643}" type="pres">
      <dgm:prSet presAssocID="{9FC3195F-AFCA-4CFD-8663-F76C5D8D6011}" presName="parTx" presStyleLbl="revTx" presStyleIdx="0" presStyleCnt="5">
        <dgm:presLayoutVars>
          <dgm:chMax val="0"/>
          <dgm:chPref val="0"/>
        </dgm:presLayoutVars>
      </dgm:prSet>
      <dgm:spPr/>
    </dgm:pt>
    <dgm:pt modelId="{BB4983E4-FC21-4A9B-AEB5-2704DE242655}" type="pres">
      <dgm:prSet presAssocID="{4E562B6C-6B62-454F-9E72-FA28A1DB7F2D}" presName="sibTrans" presStyleCnt="0"/>
      <dgm:spPr/>
    </dgm:pt>
    <dgm:pt modelId="{E6D62C3C-5971-4DF5-9221-655DBC6D945C}" type="pres">
      <dgm:prSet presAssocID="{0F20326F-284A-465F-8F25-1B2F9FB71D69}" presName="compNode" presStyleCnt="0"/>
      <dgm:spPr/>
    </dgm:pt>
    <dgm:pt modelId="{C71E0CC7-564B-4B7D-9465-581F9860D251}" type="pres">
      <dgm:prSet presAssocID="{0F20326F-284A-465F-8F25-1B2F9FB71D69}" presName="bgRect" presStyleLbl="bgShp" presStyleIdx="1" presStyleCnt="5"/>
      <dgm:spPr/>
    </dgm:pt>
    <dgm:pt modelId="{75336361-DCC4-4706-8D2C-9167488DD302}" type="pres">
      <dgm:prSet presAssocID="{0F20326F-284A-465F-8F25-1B2F9FB71D69}"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a:ext>
      </dgm:extLst>
    </dgm:pt>
    <dgm:pt modelId="{4F63A67C-BFB8-4276-A876-017129535A16}" type="pres">
      <dgm:prSet presAssocID="{0F20326F-284A-465F-8F25-1B2F9FB71D69}" presName="spaceRect" presStyleCnt="0"/>
      <dgm:spPr/>
    </dgm:pt>
    <dgm:pt modelId="{C609C5F1-1D95-4B81-B751-582672D2D25D}" type="pres">
      <dgm:prSet presAssocID="{0F20326F-284A-465F-8F25-1B2F9FB71D69}" presName="parTx" presStyleLbl="revTx" presStyleIdx="1" presStyleCnt="5">
        <dgm:presLayoutVars>
          <dgm:chMax val="0"/>
          <dgm:chPref val="0"/>
        </dgm:presLayoutVars>
      </dgm:prSet>
      <dgm:spPr/>
    </dgm:pt>
    <dgm:pt modelId="{4B88C820-2234-4F44-A541-C908352F5D10}" type="pres">
      <dgm:prSet presAssocID="{E58CE0E3-9572-4F41-8CB2-F000088120D9}" presName="sibTrans" presStyleCnt="0"/>
      <dgm:spPr/>
    </dgm:pt>
    <dgm:pt modelId="{DC0DAEE3-FFAF-462B-81CA-80F88F5EDA15}" type="pres">
      <dgm:prSet presAssocID="{6524DB8E-ED30-4B96-80A3-6052FA0A0587}" presName="compNode" presStyleCnt="0"/>
      <dgm:spPr/>
    </dgm:pt>
    <dgm:pt modelId="{A4CF1773-3501-4CA8-BF62-8AB7497C84FA}" type="pres">
      <dgm:prSet presAssocID="{6524DB8E-ED30-4B96-80A3-6052FA0A0587}" presName="bgRect" presStyleLbl="bgShp" presStyleIdx="2" presStyleCnt="5"/>
      <dgm:spPr/>
    </dgm:pt>
    <dgm:pt modelId="{61589118-430E-4E98-8D73-28F4043E79B4}" type="pres">
      <dgm:prSet presAssocID="{6524DB8E-ED30-4B96-80A3-6052FA0A058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
        </a:ext>
      </dgm:extLst>
    </dgm:pt>
    <dgm:pt modelId="{D00B3E64-E68F-4A63-99C9-C43707FA2469}" type="pres">
      <dgm:prSet presAssocID="{6524DB8E-ED30-4B96-80A3-6052FA0A0587}" presName="spaceRect" presStyleCnt="0"/>
      <dgm:spPr/>
    </dgm:pt>
    <dgm:pt modelId="{37DE7385-395A-4B26-9636-84FB602855F5}" type="pres">
      <dgm:prSet presAssocID="{6524DB8E-ED30-4B96-80A3-6052FA0A0587}" presName="parTx" presStyleLbl="revTx" presStyleIdx="2" presStyleCnt="5">
        <dgm:presLayoutVars>
          <dgm:chMax val="0"/>
          <dgm:chPref val="0"/>
        </dgm:presLayoutVars>
      </dgm:prSet>
      <dgm:spPr/>
    </dgm:pt>
    <dgm:pt modelId="{615B96E5-FCA2-46A8-A86A-3BD37005613C}" type="pres">
      <dgm:prSet presAssocID="{C83CEE61-9250-4E1F-A662-3DCC769096DE}" presName="sibTrans" presStyleCnt="0"/>
      <dgm:spPr/>
    </dgm:pt>
    <dgm:pt modelId="{D8885032-314C-4A75-B831-5731ED3B5FF3}" type="pres">
      <dgm:prSet presAssocID="{E1FE16D6-9165-4D91-B5A0-70AEB96D0F0F}" presName="compNode" presStyleCnt="0"/>
      <dgm:spPr/>
    </dgm:pt>
    <dgm:pt modelId="{6894545D-8EE3-491B-B094-66B426BB2739}" type="pres">
      <dgm:prSet presAssocID="{E1FE16D6-9165-4D91-B5A0-70AEB96D0F0F}" presName="bgRect" presStyleLbl="bgShp" presStyleIdx="3" presStyleCnt="5"/>
      <dgm:spPr/>
    </dgm:pt>
    <dgm:pt modelId="{B1B0641C-DF14-4C6D-A730-E826345C3D58}" type="pres">
      <dgm:prSet presAssocID="{E1FE16D6-9165-4D91-B5A0-70AEB96D0F0F}"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6FC98217-A865-4C57-98B2-654A15E7521D}" type="pres">
      <dgm:prSet presAssocID="{E1FE16D6-9165-4D91-B5A0-70AEB96D0F0F}" presName="spaceRect" presStyleCnt="0"/>
      <dgm:spPr/>
    </dgm:pt>
    <dgm:pt modelId="{B4C7F544-3690-468E-99AF-CA34761186EC}" type="pres">
      <dgm:prSet presAssocID="{E1FE16D6-9165-4D91-B5A0-70AEB96D0F0F}" presName="parTx" presStyleLbl="revTx" presStyleIdx="3" presStyleCnt="5">
        <dgm:presLayoutVars>
          <dgm:chMax val="0"/>
          <dgm:chPref val="0"/>
        </dgm:presLayoutVars>
      </dgm:prSet>
      <dgm:spPr/>
    </dgm:pt>
    <dgm:pt modelId="{F3E989B7-DD40-4CC1-84B3-ECA9341B7C9B}" type="pres">
      <dgm:prSet presAssocID="{653E8698-21E7-4EF6-964F-7F14C7E2A2B4}" presName="sibTrans" presStyleCnt="0"/>
      <dgm:spPr/>
    </dgm:pt>
    <dgm:pt modelId="{6B6F81E9-086A-4348-B6CF-785C8632D7B0}" type="pres">
      <dgm:prSet presAssocID="{9E0A6B80-B3F6-40CC-BE2D-8D67D7E99489}" presName="compNode" presStyleCnt="0"/>
      <dgm:spPr/>
    </dgm:pt>
    <dgm:pt modelId="{63AC8710-2716-4512-BBE5-1361ACA23F94}" type="pres">
      <dgm:prSet presAssocID="{9E0A6B80-B3F6-40CC-BE2D-8D67D7E99489}" presName="bgRect" presStyleLbl="bgShp" presStyleIdx="4" presStyleCnt="5"/>
      <dgm:spPr/>
    </dgm:pt>
    <dgm:pt modelId="{5DBD26A0-2A53-4887-9401-BE55D8B255F2}" type="pres">
      <dgm:prSet presAssocID="{9E0A6B80-B3F6-40CC-BE2D-8D67D7E99489}"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at"/>
        </a:ext>
      </dgm:extLst>
    </dgm:pt>
    <dgm:pt modelId="{C0129C89-DAB6-476A-88A8-820353C6D67C}" type="pres">
      <dgm:prSet presAssocID="{9E0A6B80-B3F6-40CC-BE2D-8D67D7E99489}" presName="spaceRect" presStyleCnt="0"/>
      <dgm:spPr/>
    </dgm:pt>
    <dgm:pt modelId="{DF6637A6-65EC-4381-A121-E6D98659A034}" type="pres">
      <dgm:prSet presAssocID="{9E0A6B80-B3F6-40CC-BE2D-8D67D7E99489}" presName="parTx" presStyleLbl="revTx" presStyleIdx="4" presStyleCnt="5">
        <dgm:presLayoutVars>
          <dgm:chMax val="0"/>
          <dgm:chPref val="0"/>
        </dgm:presLayoutVars>
      </dgm:prSet>
      <dgm:spPr/>
    </dgm:pt>
  </dgm:ptLst>
  <dgm:cxnLst>
    <dgm:cxn modelId="{5D8E8525-89DA-42C5-A59B-376DA9E90AF7}" srcId="{7D2E62B4-F962-4C02-8FDB-3AA21D944D44}" destId="{6524DB8E-ED30-4B96-80A3-6052FA0A0587}" srcOrd="2" destOrd="0" parTransId="{E0D1B75A-6E72-4CF2-AF27-69F09BC827A6}" sibTransId="{C83CEE61-9250-4E1F-A662-3DCC769096DE}"/>
    <dgm:cxn modelId="{6C478762-35D5-4C4C-A44B-8DD86270EA67}" srcId="{7D2E62B4-F962-4C02-8FDB-3AA21D944D44}" destId="{0F20326F-284A-465F-8F25-1B2F9FB71D69}" srcOrd="1" destOrd="0" parTransId="{4A6ABC6F-F8D1-438E-81FB-6223B90FA555}" sibTransId="{E58CE0E3-9572-4F41-8CB2-F000088120D9}"/>
    <dgm:cxn modelId="{E3657856-91B4-4228-9145-FB014358335B}" type="presOf" srcId="{6524DB8E-ED30-4B96-80A3-6052FA0A0587}" destId="{37DE7385-395A-4B26-9636-84FB602855F5}" srcOrd="0" destOrd="0" presId="urn:microsoft.com/office/officeart/2018/2/layout/IconVerticalSolidList"/>
    <dgm:cxn modelId="{61AAC37E-2EAB-4E17-A4F1-BAB5C6B607D7}" srcId="{7D2E62B4-F962-4C02-8FDB-3AA21D944D44}" destId="{9E0A6B80-B3F6-40CC-BE2D-8D67D7E99489}" srcOrd="4" destOrd="0" parTransId="{77F67828-418F-4D6B-BC7B-E1CE49B6C782}" sibTransId="{0C426A2B-C7B0-47D3-BD9F-227D608B5DE7}"/>
    <dgm:cxn modelId="{CBB8FFA6-3D78-4E2A-A888-FC2BC2523965}" srcId="{7D2E62B4-F962-4C02-8FDB-3AA21D944D44}" destId="{E1FE16D6-9165-4D91-B5A0-70AEB96D0F0F}" srcOrd="3" destOrd="0" parTransId="{3A7768A1-0DD3-445D-92BC-BBE652361413}" sibTransId="{653E8698-21E7-4EF6-964F-7F14C7E2A2B4}"/>
    <dgm:cxn modelId="{D1C54BC0-250D-4132-9675-11BB07547EC3}" type="presOf" srcId="{9E0A6B80-B3F6-40CC-BE2D-8D67D7E99489}" destId="{DF6637A6-65EC-4381-A121-E6D98659A034}" srcOrd="0" destOrd="0" presId="urn:microsoft.com/office/officeart/2018/2/layout/IconVerticalSolidList"/>
    <dgm:cxn modelId="{3CCD5EC3-AFF1-4B1F-8085-442D8A115296}" srcId="{7D2E62B4-F962-4C02-8FDB-3AA21D944D44}" destId="{9FC3195F-AFCA-4CFD-8663-F76C5D8D6011}" srcOrd="0" destOrd="0" parTransId="{7A07C32F-AA01-44F4-87DB-716FC0121BE3}" sibTransId="{4E562B6C-6B62-454F-9E72-FA28A1DB7F2D}"/>
    <dgm:cxn modelId="{D7D743C8-875B-4E78-9C6C-15C105D22281}" type="presOf" srcId="{0F20326F-284A-465F-8F25-1B2F9FB71D69}" destId="{C609C5F1-1D95-4B81-B751-582672D2D25D}" srcOrd="0" destOrd="0" presId="urn:microsoft.com/office/officeart/2018/2/layout/IconVerticalSolidList"/>
    <dgm:cxn modelId="{185593D9-8021-4CE1-B14B-2451D9FD7A96}" type="presOf" srcId="{E1FE16D6-9165-4D91-B5A0-70AEB96D0F0F}" destId="{B4C7F544-3690-468E-99AF-CA34761186EC}" srcOrd="0" destOrd="0" presId="urn:microsoft.com/office/officeart/2018/2/layout/IconVerticalSolidList"/>
    <dgm:cxn modelId="{314504EA-51BF-4955-B3E0-BEE439185F2C}" type="presOf" srcId="{9FC3195F-AFCA-4CFD-8663-F76C5D8D6011}" destId="{848312E6-F5AF-4DFC-9C6F-0FEC02191643}" srcOrd="0" destOrd="0" presId="urn:microsoft.com/office/officeart/2018/2/layout/IconVerticalSolidList"/>
    <dgm:cxn modelId="{6B5DC4EB-54D4-44C1-AFAB-5BC3965F442C}" type="presOf" srcId="{7D2E62B4-F962-4C02-8FDB-3AA21D944D44}" destId="{DF5D4014-CC75-4EEB-85EE-5E68ADB2E235}" srcOrd="0" destOrd="0" presId="urn:microsoft.com/office/officeart/2018/2/layout/IconVerticalSolidList"/>
    <dgm:cxn modelId="{60A1B800-8680-457F-AF33-20642669F18F}" type="presParOf" srcId="{DF5D4014-CC75-4EEB-85EE-5E68ADB2E235}" destId="{2BADE709-86DA-4A87-8955-6D8FAE24A429}" srcOrd="0" destOrd="0" presId="urn:microsoft.com/office/officeart/2018/2/layout/IconVerticalSolidList"/>
    <dgm:cxn modelId="{CD8EAE95-DD5C-4160-A148-157AAF1713BF}" type="presParOf" srcId="{2BADE709-86DA-4A87-8955-6D8FAE24A429}" destId="{C5E79C69-FDB2-442C-A020-FE4D0D4472FC}" srcOrd="0" destOrd="0" presId="urn:microsoft.com/office/officeart/2018/2/layout/IconVerticalSolidList"/>
    <dgm:cxn modelId="{E5AB4B26-8CBD-40DE-9B64-E67EAF8432B0}" type="presParOf" srcId="{2BADE709-86DA-4A87-8955-6D8FAE24A429}" destId="{B486D970-3F7D-4C80-A9ED-D44B3CA3DA0E}" srcOrd="1" destOrd="0" presId="urn:microsoft.com/office/officeart/2018/2/layout/IconVerticalSolidList"/>
    <dgm:cxn modelId="{4018F6F5-77A2-4DCB-BEB5-9DD15586F8DA}" type="presParOf" srcId="{2BADE709-86DA-4A87-8955-6D8FAE24A429}" destId="{EFC94AC9-5870-4144-B945-0D5B07B5A528}" srcOrd="2" destOrd="0" presId="urn:microsoft.com/office/officeart/2018/2/layout/IconVerticalSolidList"/>
    <dgm:cxn modelId="{5EACF00F-C474-4AF7-B977-CD02B2DFAEB3}" type="presParOf" srcId="{2BADE709-86DA-4A87-8955-6D8FAE24A429}" destId="{848312E6-F5AF-4DFC-9C6F-0FEC02191643}" srcOrd="3" destOrd="0" presId="urn:microsoft.com/office/officeart/2018/2/layout/IconVerticalSolidList"/>
    <dgm:cxn modelId="{55AE22A8-BA6D-49C5-A3C9-86B288D228EB}" type="presParOf" srcId="{DF5D4014-CC75-4EEB-85EE-5E68ADB2E235}" destId="{BB4983E4-FC21-4A9B-AEB5-2704DE242655}" srcOrd="1" destOrd="0" presId="urn:microsoft.com/office/officeart/2018/2/layout/IconVerticalSolidList"/>
    <dgm:cxn modelId="{E19AC3E2-D3B6-40FA-89CC-409712F78211}" type="presParOf" srcId="{DF5D4014-CC75-4EEB-85EE-5E68ADB2E235}" destId="{E6D62C3C-5971-4DF5-9221-655DBC6D945C}" srcOrd="2" destOrd="0" presId="urn:microsoft.com/office/officeart/2018/2/layout/IconVerticalSolidList"/>
    <dgm:cxn modelId="{598EAC0D-2765-409D-AC0E-D54F93206505}" type="presParOf" srcId="{E6D62C3C-5971-4DF5-9221-655DBC6D945C}" destId="{C71E0CC7-564B-4B7D-9465-581F9860D251}" srcOrd="0" destOrd="0" presId="urn:microsoft.com/office/officeart/2018/2/layout/IconVerticalSolidList"/>
    <dgm:cxn modelId="{6828C4BA-5E20-430D-B12D-53E026B8A9E8}" type="presParOf" srcId="{E6D62C3C-5971-4DF5-9221-655DBC6D945C}" destId="{75336361-DCC4-4706-8D2C-9167488DD302}" srcOrd="1" destOrd="0" presId="urn:microsoft.com/office/officeart/2018/2/layout/IconVerticalSolidList"/>
    <dgm:cxn modelId="{FB27CBF5-94E5-49CF-AD1B-459451271DD3}" type="presParOf" srcId="{E6D62C3C-5971-4DF5-9221-655DBC6D945C}" destId="{4F63A67C-BFB8-4276-A876-017129535A16}" srcOrd="2" destOrd="0" presId="urn:microsoft.com/office/officeart/2018/2/layout/IconVerticalSolidList"/>
    <dgm:cxn modelId="{88B560D1-B17D-4B63-8476-84E1CDF2D9E1}" type="presParOf" srcId="{E6D62C3C-5971-4DF5-9221-655DBC6D945C}" destId="{C609C5F1-1D95-4B81-B751-582672D2D25D}" srcOrd="3" destOrd="0" presId="urn:microsoft.com/office/officeart/2018/2/layout/IconVerticalSolidList"/>
    <dgm:cxn modelId="{D980C039-8515-415D-98D8-0FD864204EA2}" type="presParOf" srcId="{DF5D4014-CC75-4EEB-85EE-5E68ADB2E235}" destId="{4B88C820-2234-4F44-A541-C908352F5D10}" srcOrd="3" destOrd="0" presId="urn:microsoft.com/office/officeart/2018/2/layout/IconVerticalSolidList"/>
    <dgm:cxn modelId="{BBF2B497-5AB3-43E6-8F4F-3ED1673184E1}" type="presParOf" srcId="{DF5D4014-CC75-4EEB-85EE-5E68ADB2E235}" destId="{DC0DAEE3-FFAF-462B-81CA-80F88F5EDA15}" srcOrd="4" destOrd="0" presId="urn:microsoft.com/office/officeart/2018/2/layout/IconVerticalSolidList"/>
    <dgm:cxn modelId="{01F0CFAC-125F-458C-9253-CA4764E31977}" type="presParOf" srcId="{DC0DAEE3-FFAF-462B-81CA-80F88F5EDA15}" destId="{A4CF1773-3501-4CA8-BF62-8AB7497C84FA}" srcOrd="0" destOrd="0" presId="urn:microsoft.com/office/officeart/2018/2/layout/IconVerticalSolidList"/>
    <dgm:cxn modelId="{714DB4B4-6FF5-4EBC-9F3D-1DCA9404D406}" type="presParOf" srcId="{DC0DAEE3-FFAF-462B-81CA-80F88F5EDA15}" destId="{61589118-430E-4E98-8D73-28F4043E79B4}" srcOrd="1" destOrd="0" presId="urn:microsoft.com/office/officeart/2018/2/layout/IconVerticalSolidList"/>
    <dgm:cxn modelId="{E97E113B-F78E-4BBF-ACB7-995829CA0CBA}" type="presParOf" srcId="{DC0DAEE3-FFAF-462B-81CA-80F88F5EDA15}" destId="{D00B3E64-E68F-4A63-99C9-C43707FA2469}" srcOrd="2" destOrd="0" presId="urn:microsoft.com/office/officeart/2018/2/layout/IconVerticalSolidList"/>
    <dgm:cxn modelId="{8C14387B-FCA7-4215-B24F-3E2094F8C053}" type="presParOf" srcId="{DC0DAEE3-FFAF-462B-81CA-80F88F5EDA15}" destId="{37DE7385-395A-4B26-9636-84FB602855F5}" srcOrd="3" destOrd="0" presId="urn:microsoft.com/office/officeart/2018/2/layout/IconVerticalSolidList"/>
    <dgm:cxn modelId="{D836390B-D72F-4AD4-A318-C1F2B0AEEA25}" type="presParOf" srcId="{DF5D4014-CC75-4EEB-85EE-5E68ADB2E235}" destId="{615B96E5-FCA2-46A8-A86A-3BD37005613C}" srcOrd="5" destOrd="0" presId="urn:microsoft.com/office/officeart/2018/2/layout/IconVerticalSolidList"/>
    <dgm:cxn modelId="{44D56CE5-C881-4099-9F08-3A40782E1240}" type="presParOf" srcId="{DF5D4014-CC75-4EEB-85EE-5E68ADB2E235}" destId="{D8885032-314C-4A75-B831-5731ED3B5FF3}" srcOrd="6" destOrd="0" presId="urn:microsoft.com/office/officeart/2018/2/layout/IconVerticalSolidList"/>
    <dgm:cxn modelId="{358BA0CC-200C-4318-8554-27F77373E54B}" type="presParOf" srcId="{D8885032-314C-4A75-B831-5731ED3B5FF3}" destId="{6894545D-8EE3-491B-B094-66B426BB2739}" srcOrd="0" destOrd="0" presId="urn:microsoft.com/office/officeart/2018/2/layout/IconVerticalSolidList"/>
    <dgm:cxn modelId="{E4233AE1-D6F1-44CD-838A-EC7224B0F680}" type="presParOf" srcId="{D8885032-314C-4A75-B831-5731ED3B5FF3}" destId="{B1B0641C-DF14-4C6D-A730-E826345C3D58}" srcOrd="1" destOrd="0" presId="urn:microsoft.com/office/officeart/2018/2/layout/IconVerticalSolidList"/>
    <dgm:cxn modelId="{E75797FC-B489-4C50-99E6-54D05347D32B}" type="presParOf" srcId="{D8885032-314C-4A75-B831-5731ED3B5FF3}" destId="{6FC98217-A865-4C57-98B2-654A15E7521D}" srcOrd="2" destOrd="0" presId="urn:microsoft.com/office/officeart/2018/2/layout/IconVerticalSolidList"/>
    <dgm:cxn modelId="{9FF69893-5DEC-4F7E-BD1E-381024843C33}" type="presParOf" srcId="{D8885032-314C-4A75-B831-5731ED3B5FF3}" destId="{B4C7F544-3690-468E-99AF-CA34761186EC}" srcOrd="3" destOrd="0" presId="urn:microsoft.com/office/officeart/2018/2/layout/IconVerticalSolidList"/>
    <dgm:cxn modelId="{244D50CE-1AE8-4E88-8AA7-CBFAA941336A}" type="presParOf" srcId="{DF5D4014-CC75-4EEB-85EE-5E68ADB2E235}" destId="{F3E989B7-DD40-4CC1-84B3-ECA9341B7C9B}" srcOrd="7" destOrd="0" presId="urn:microsoft.com/office/officeart/2018/2/layout/IconVerticalSolidList"/>
    <dgm:cxn modelId="{571ABE34-6AF7-4676-8CFC-CFEC4247A97D}" type="presParOf" srcId="{DF5D4014-CC75-4EEB-85EE-5E68ADB2E235}" destId="{6B6F81E9-086A-4348-B6CF-785C8632D7B0}" srcOrd="8" destOrd="0" presId="urn:microsoft.com/office/officeart/2018/2/layout/IconVerticalSolidList"/>
    <dgm:cxn modelId="{C9081847-4A30-440B-B4CE-E2A0F9EB582C}" type="presParOf" srcId="{6B6F81E9-086A-4348-B6CF-785C8632D7B0}" destId="{63AC8710-2716-4512-BBE5-1361ACA23F94}" srcOrd="0" destOrd="0" presId="urn:microsoft.com/office/officeart/2018/2/layout/IconVerticalSolidList"/>
    <dgm:cxn modelId="{94F00FD8-3948-4E44-92C9-647382B9C081}" type="presParOf" srcId="{6B6F81E9-086A-4348-B6CF-785C8632D7B0}" destId="{5DBD26A0-2A53-4887-9401-BE55D8B255F2}" srcOrd="1" destOrd="0" presId="urn:microsoft.com/office/officeart/2018/2/layout/IconVerticalSolidList"/>
    <dgm:cxn modelId="{E54DAD24-E6FF-44FA-B470-8E0272A02259}" type="presParOf" srcId="{6B6F81E9-086A-4348-B6CF-785C8632D7B0}" destId="{C0129C89-DAB6-476A-88A8-820353C6D67C}" srcOrd="2" destOrd="0" presId="urn:microsoft.com/office/officeart/2018/2/layout/IconVerticalSolidList"/>
    <dgm:cxn modelId="{CA9F9115-2F47-4B45-8457-EA5A0E9F47CD}" type="presParOf" srcId="{6B6F81E9-086A-4348-B6CF-785C8632D7B0}" destId="{DF6637A6-65EC-4381-A121-E6D98659A03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8234F77-D6EF-45F2-82C9-8AFA69411167}"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0D9D2F40-4325-452C-ADF0-281A49A5C7B8}">
      <dgm:prSet/>
      <dgm:spPr/>
      <dgm:t>
        <a:bodyPr/>
        <a:lstStyle/>
        <a:p>
          <a:r>
            <a:rPr lang="en-US"/>
            <a:t>Data‑driven outreach can significantly improve housing access </a:t>
          </a:r>
        </a:p>
      </dgm:t>
    </dgm:pt>
    <dgm:pt modelId="{3CA7D2E0-4D86-4B5C-8894-64AB17BED855}" type="parTrans" cxnId="{351F2CF1-ED87-4D13-AA42-2353F0FFE52D}">
      <dgm:prSet/>
      <dgm:spPr/>
      <dgm:t>
        <a:bodyPr/>
        <a:lstStyle/>
        <a:p>
          <a:endParaRPr lang="en-US"/>
        </a:p>
      </dgm:t>
    </dgm:pt>
    <dgm:pt modelId="{2026D457-1845-4FB7-B29D-09463C96EE7D}" type="sibTrans" cxnId="{351F2CF1-ED87-4D13-AA42-2353F0FFE52D}">
      <dgm:prSet/>
      <dgm:spPr/>
      <dgm:t>
        <a:bodyPr/>
        <a:lstStyle/>
        <a:p>
          <a:endParaRPr lang="en-US"/>
        </a:p>
      </dgm:t>
    </dgm:pt>
    <dgm:pt modelId="{CB8C8B22-9A76-4D58-B6A4-846DD028E1C0}">
      <dgm:prSet/>
      <dgm:spPr/>
      <dgm:t>
        <a:bodyPr/>
        <a:lstStyle/>
        <a:p>
          <a:r>
            <a:rPr lang="en-US"/>
            <a:t>Combining analytics + marketing strategies strengthens engagement </a:t>
          </a:r>
        </a:p>
      </dgm:t>
    </dgm:pt>
    <dgm:pt modelId="{E831B03E-BA31-466D-8CC8-271FDBECC19D}" type="parTrans" cxnId="{C33DE1D0-51D3-4B35-8BE9-12925D12C5BB}">
      <dgm:prSet/>
      <dgm:spPr/>
      <dgm:t>
        <a:bodyPr/>
        <a:lstStyle/>
        <a:p>
          <a:endParaRPr lang="en-US"/>
        </a:p>
      </dgm:t>
    </dgm:pt>
    <dgm:pt modelId="{6604EEC9-94D2-447D-9178-2074335D10BC}" type="sibTrans" cxnId="{C33DE1D0-51D3-4B35-8BE9-12925D12C5BB}">
      <dgm:prSet/>
      <dgm:spPr/>
      <dgm:t>
        <a:bodyPr/>
        <a:lstStyle/>
        <a:p>
          <a:endParaRPr lang="en-US"/>
        </a:p>
      </dgm:t>
    </dgm:pt>
    <dgm:pt modelId="{7E620230-0A8B-463F-BEED-7F9096D1A06A}">
      <dgm:prSet/>
      <dgm:spPr/>
      <dgm:t>
        <a:bodyPr/>
        <a:lstStyle/>
        <a:p>
          <a:r>
            <a:rPr lang="en-US"/>
            <a:t>Continuous evaluation ensures long‑term housing stability </a:t>
          </a:r>
        </a:p>
      </dgm:t>
    </dgm:pt>
    <dgm:pt modelId="{9E43D79D-C21C-42B6-9B93-F31B4E757346}" type="parTrans" cxnId="{DCAC3C00-3C81-4E41-A709-1C41FF6DE1DE}">
      <dgm:prSet/>
      <dgm:spPr/>
      <dgm:t>
        <a:bodyPr/>
        <a:lstStyle/>
        <a:p>
          <a:endParaRPr lang="en-US"/>
        </a:p>
      </dgm:t>
    </dgm:pt>
    <dgm:pt modelId="{0E94C133-3D77-4F6C-BF0F-33BFF6616F2A}" type="sibTrans" cxnId="{DCAC3C00-3C81-4E41-A709-1C41FF6DE1DE}">
      <dgm:prSet/>
      <dgm:spPr/>
      <dgm:t>
        <a:bodyPr/>
        <a:lstStyle/>
        <a:p>
          <a:endParaRPr lang="en-US"/>
        </a:p>
      </dgm:t>
    </dgm:pt>
    <dgm:pt modelId="{591DD4BC-EE9D-4628-A29A-EE810D0B5339}">
      <dgm:prSet/>
      <dgm:spPr/>
      <dgm:t>
        <a:bodyPr/>
        <a:lstStyle/>
        <a:p>
          <a:r>
            <a:rPr lang="en-US"/>
            <a:t>This framework supports more effective, equitable homelessness response systems</a:t>
          </a:r>
        </a:p>
      </dgm:t>
    </dgm:pt>
    <dgm:pt modelId="{14A93C04-D621-4730-BA09-E4D1C4FF604E}" type="parTrans" cxnId="{FAB5B0E3-FB73-4FE8-BD4B-0B381AB3779C}">
      <dgm:prSet/>
      <dgm:spPr/>
      <dgm:t>
        <a:bodyPr/>
        <a:lstStyle/>
        <a:p>
          <a:endParaRPr lang="en-US"/>
        </a:p>
      </dgm:t>
    </dgm:pt>
    <dgm:pt modelId="{42AB929D-7D5B-48F4-BECA-4FCC97513EE2}" type="sibTrans" cxnId="{FAB5B0E3-FB73-4FE8-BD4B-0B381AB3779C}">
      <dgm:prSet/>
      <dgm:spPr/>
      <dgm:t>
        <a:bodyPr/>
        <a:lstStyle/>
        <a:p>
          <a:endParaRPr lang="en-US"/>
        </a:p>
      </dgm:t>
    </dgm:pt>
    <dgm:pt modelId="{67B42FF4-DC7C-420A-9FEE-197671C59F71}" type="pres">
      <dgm:prSet presAssocID="{68234F77-D6EF-45F2-82C9-8AFA69411167}" presName="matrix" presStyleCnt="0">
        <dgm:presLayoutVars>
          <dgm:chMax val="1"/>
          <dgm:dir/>
          <dgm:resizeHandles val="exact"/>
        </dgm:presLayoutVars>
      </dgm:prSet>
      <dgm:spPr/>
    </dgm:pt>
    <dgm:pt modelId="{FA7DB42C-5364-4190-920A-825A8A9DA7AF}" type="pres">
      <dgm:prSet presAssocID="{68234F77-D6EF-45F2-82C9-8AFA69411167}" presName="diamond" presStyleLbl="bgShp" presStyleIdx="0" presStyleCnt="1"/>
      <dgm:spPr/>
    </dgm:pt>
    <dgm:pt modelId="{88FF2633-9657-4F6C-A374-E161213AC33D}" type="pres">
      <dgm:prSet presAssocID="{68234F77-D6EF-45F2-82C9-8AFA69411167}" presName="quad1" presStyleLbl="node1" presStyleIdx="0" presStyleCnt="4">
        <dgm:presLayoutVars>
          <dgm:chMax val="0"/>
          <dgm:chPref val="0"/>
          <dgm:bulletEnabled val="1"/>
        </dgm:presLayoutVars>
      </dgm:prSet>
      <dgm:spPr/>
    </dgm:pt>
    <dgm:pt modelId="{0D5C290F-052B-4258-BBE9-02D47DBAEB0B}" type="pres">
      <dgm:prSet presAssocID="{68234F77-D6EF-45F2-82C9-8AFA69411167}" presName="quad2" presStyleLbl="node1" presStyleIdx="1" presStyleCnt="4">
        <dgm:presLayoutVars>
          <dgm:chMax val="0"/>
          <dgm:chPref val="0"/>
          <dgm:bulletEnabled val="1"/>
        </dgm:presLayoutVars>
      </dgm:prSet>
      <dgm:spPr/>
    </dgm:pt>
    <dgm:pt modelId="{D6DD3F0C-6AFD-47CE-AF80-D12E1BF9E0EC}" type="pres">
      <dgm:prSet presAssocID="{68234F77-D6EF-45F2-82C9-8AFA69411167}" presName="quad3" presStyleLbl="node1" presStyleIdx="2" presStyleCnt="4">
        <dgm:presLayoutVars>
          <dgm:chMax val="0"/>
          <dgm:chPref val="0"/>
          <dgm:bulletEnabled val="1"/>
        </dgm:presLayoutVars>
      </dgm:prSet>
      <dgm:spPr/>
    </dgm:pt>
    <dgm:pt modelId="{D9D5D36A-F16C-4151-A006-59A711969DE3}" type="pres">
      <dgm:prSet presAssocID="{68234F77-D6EF-45F2-82C9-8AFA69411167}" presName="quad4" presStyleLbl="node1" presStyleIdx="3" presStyleCnt="4">
        <dgm:presLayoutVars>
          <dgm:chMax val="0"/>
          <dgm:chPref val="0"/>
          <dgm:bulletEnabled val="1"/>
        </dgm:presLayoutVars>
      </dgm:prSet>
      <dgm:spPr/>
    </dgm:pt>
  </dgm:ptLst>
  <dgm:cxnLst>
    <dgm:cxn modelId="{DCAC3C00-3C81-4E41-A709-1C41FF6DE1DE}" srcId="{68234F77-D6EF-45F2-82C9-8AFA69411167}" destId="{7E620230-0A8B-463F-BEED-7F9096D1A06A}" srcOrd="2" destOrd="0" parTransId="{9E43D79D-C21C-42B6-9B93-F31B4E757346}" sibTransId="{0E94C133-3D77-4F6C-BF0F-33BFF6616F2A}"/>
    <dgm:cxn modelId="{AC8B870B-2CD3-4C47-B8D0-BD6919DB36EB}" type="presOf" srcId="{CB8C8B22-9A76-4D58-B6A4-846DD028E1C0}" destId="{0D5C290F-052B-4258-BBE9-02D47DBAEB0B}" srcOrd="0" destOrd="0" presId="urn:microsoft.com/office/officeart/2005/8/layout/matrix3"/>
    <dgm:cxn modelId="{97C0AB2C-A60D-43B5-8649-4DEA4B3F934B}" type="presOf" srcId="{68234F77-D6EF-45F2-82C9-8AFA69411167}" destId="{67B42FF4-DC7C-420A-9FEE-197671C59F71}" srcOrd="0" destOrd="0" presId="urn:microsoft.com/office/officeart/2005/8/layout/matrix3"/>
    <dgm:cxn modelId="{97FE6030-5786-487C-9553-B8881F1C75FA}" type="presOf" srcId="{7E620230-0A8B-463F-BEED-7F9096D1A06A}" destId="{D6DD3F0C-6AFD-47CE-AF80-D12E1BF9E0EC}" srcOrd="0" destOrd="0" presId="urn:microsoft.com/office/officeart/2005/8/layout/matrix3"/>
    <dgm:cxn modelId="{A02967A5-34EC-4D4F-8E2A-607BDF187242}" type="presOf" srcId="{0D9D2F40-4325-452C-ADF0-281A49A5C7B8}" destId="{88FF2633-9657-4F6C-A374-E161213AC33D}" srcOrd="0" destOrd="0" presId="urn:microsoft.com/office/officeart/2005/8/layout/matrix3"/>
    <dgm:cxn modelId="{C33DE1D0-51D3-4B35-8BE9-12925D12C5BB}" srcId="{68234F77-D6EF-45F2-82C9-8AFA69411167}" destId="{CB8C8B22-9A76-4D58-B6A4-846DD028E1C0}" srcOrd="1" destOrd="0" parTransId="{E831B03E-BA31-466D-8CC8-271FDBECC19D}" sibTransId="{6604EEC9-94D2-447D-9178-2074335D10BC}"/>
    <dgm:cxn modelId="{FAB5B0E3-FB73-4FE8-BD4B-0B381AB3779C}" srcId="{68234F77-D6EF-45F2-82C9-8AFA69411167}" destId="{591DD4BC-EE9D-4628-A29A-EE810D0B5339}" srcOrd="3" destOrd="0" parTransId="{14A93C04-D621-4730-BA09-E4D1C4FF604E}" sibTransId="{42AB929D-7D5B-48F4-BECA-4FCC97513EE2}"/>
    <dgm:cxn modelId="{409472EF-93D9-46C2-B01C-9783AA80A584}" type="presOf" srcId="{591DD4BC-EE9D-4628-A29A-EE810D0B5339}" destId="{D9D5D36A-F16C-4151-A006-59A711969DE3}" srcOrd="0" destOrd="0" presId="urn:microsoft.com/office/officeart/2005/8/layout/matrix3"/>
    <dgm:cxn modelId="{351F2CF1-ED87-4D13-AA42-2353F0FFE52D}" srcId="{68234F77-D6EF-45F2-82C9-8AFA69411167}" destId="{0D9D2F40-4325-452C-ADF0-281A49A5C7B8}" srcOrd="0" destOrd="0" parTransId="{3CA7D2E0-4D86-4B5C-8894-64AB17BED855}" sibTransId="{2026D457-1845-4FB7-B29D-09463C96EE7D}"/>
    <dgm:cxn modelId="{2627E1D6-8674-4E95-BC96-6B056DFDFA1B}" type="presParOf" srcId="{67B42FF4-DC7C-420A-9FEE-197671C59F71}" destId="{FA7DB42C-5364-4190-920A-825A8A9DA7AF}" srcOrd="0" destOrd="0" presId="urn:microsoft.com/office/officeart/2005/8/layout/matrix3"/>
    <dgm:cxn modelId="{93160231-10BA-4232-AB4E-D062BA47D88A}" type="presParOf" srcId="{67B42FF4-DC7C-420A-9FEE-197671C59F71}" destId="{88FF2633-9657-4F6C-A374-E161213AC33D}" srcOrd="1" destOrd="0" presId="urn:microsoft.com/office/officeart/2005/8/layout/matrix3"/>
    <dgm:cxn modelId="{6B2C972F-C038-4D12-86D3-1FFB74BDF467}" type="presParOf" srcId="{67B42FF4-DC7C-420A-9FEE-197671C59F71}" destId="{0D5C290F-052B-4258-BBE9-02D47DBAEB0B}" srcOrd="2" destOrd="0" presId="urn:microsoft.com/office/officeart/2005/8/layout/matrix3"/>
    <dgm:cxn modelId="{56D4745C-2928-4AD9-9AC6-8E58A2B3A3B7}" type="presParOf" srcId="{67B42FF4-DC7C-420A-9FEE-197671C59F71}" destId="{D6DD3F0C-6AFD-47CE-AF80-D12E1BF9E0EC}" srcOrd="3" destOrd="0" presId="urn:microsoft.com/office/officeart/2005/8/layout/matrix3"/>
    <dgm:cxn modelId="{E74361E9-DE09-4E7E-891C-94F45A28F9E7}" type="presParOf" srcId="{67B42FF4-DC7C-420A-9FEE-197671C59F71}" destId="{D9D5D36A-F16C-4151-A006-59A711969DE3}"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A5BBA-578F-4579-A8CF-1200E84B636B}">
      <dsp:nvSpPr>
        <dsp:cNvPr id="0" name=""/>
        <dsp:cNvSpPr/>
      </dsp:nvSpPr>
      <dsp:spPr>
        <a:xfrm>
          <a:off x="1901650" y="0"/>
          <a:ext cx="1509048" cy="14859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E8A46D-BF68-4B5C-A93C-392AD012BF2B}">
      <dsp:nvSpPr>
        <dsp:cNvPr id="0" name=""/>
        <dsp:cNvSpPr/>
      </dsp:nvSpPr>
      <dsp:spPr>
        <a:xfrm>
          <a:off x="500391" y="1621715"/>
          <a:ext cx="4311566" cy="636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b="1"/>
          </a:pPr>
          <a:r>
            <a:rPr lang="en-US" sz="2200" kern="1200"/>
            <a:t>Evaluate current outreach methods: </a:t>
          </a:r>
        </a:p>
      </dsp:txBody>
      <dsp:txXfrm>
        <a:off x="500391" y="1621715"/>
        <a:ext cx="4311566" cy="636830"/>
      </dsp:txXfrm>
    </dsp:sp>
    <dsp:sp modelId="{035590E1-4B88-4A0A-B168-F5F849AB972A}">
      <dsp:nvSpPr>
        <dsp:cNvPr id="0" name=""/>
        <dsp:cNvSpPr/>
      </dsp:nvSpPr>
      <dsp:spPr>
        <a:xfrm>
          <a:off x="500391" y="2321699"/>
          <a:ext cx="4311566" cy="888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Street outreach </a:t>
          </a:r>
        </a:p>
        <a:p>
          <a:pPr marL="0" lvl="0" indent="0" algn="ctr" defTabSz="755650">
            <a:lnSpc>
              <a:spcPct val="90000"/>
            </a:lnSpc>
            <a:spcBef>
              <a:spcPct val="0"/>
            </a:spcBef>
            <a:spcAft>
              <a:spcPct val="35000"/>
            </a:spcAft>
            <a:buNone/>
          </a:pPr>
          <a:r>
            <a:rPr lang="en-US" sz="1700" kern="1200"/>
            <a:t>Shelters </a:t>
          </a:r>
        </a:p>
        <a:p>
          <a:pPr marL="0" lvl="0" indent="0" algn="ctr" defTabSz="755650">
            <a:lnSpc>
              <a:spcPct val="90000"/>
            </a:lnSpc>
            <a:spcBef>
              <a:spcPct val="0"/>
            </a:spcBef>
            <a:spcAft>
              <a:spcPct val="35000"/>
            </a:spcAft>
            <a:buNone/>
          </a:pPr>
          <a:r>
            <a:rPr lang="en-US" sz="1700" kern="1200"/>
            <a:t>Community events </a:t>
          </a:r>
        </a:p>
      </dsp:txBody>
      <dsp:txXfrm>
        <a:off x="500391" y="2321699"/>
        <a:ext cx="4311566" cy="888202"/>
      </dsp:txXfrm>
    </dsp:sp>
    <dsp:sp modelId="{4D3BAA88-C6C9-4B59-A1FA-2F439DB01448}">
      <dsp:nvSpPr>
        <dsp:cNvPr id="0" name=""/>
        <dsp:cNvSpPr/>
      </dsp:nvSpPr>
      <dsp:spPr>
        <a:xfrm>
          <a:off x="6967741" y="0"/>
          <a:ext cx="1509048" cy="14859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649F02-B735-4967-B4CA-60550E0236A0}">
      <dsp:nvSpPr>
        <dsp:cNvPr id="0" name=""/>
        <dsp:cNvSpPr/>
      </dsp:nvSpPr>
      <dsp:spPr>
        <a:xfrm>
          <a:off x="5566482" y="1621715"/>
          <a:ext cx="4311566" cy="636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b="1"/>
          </a:pPr>
          <a:r>
            <a:rPr lang="en-US" sz="2200" kern="1200"/>
            <a:t>Test new strategies: </a:t>
          </a:r>
        </a:p>
      </dsp:txBody>
      <dsp:txXfrm>
        <a:off x="5566482" y="1621715"/>
        <a:ext cx="4311566" cy="636830"/>
      </dsp:txXfrm>
    </dsp:sp>
    <dsp:sp modelId="{DD5C4205-4516-431A-A213-3AD970EA49E1}">
      <dsp:nvSpPr>
        <dsp:cNvPr id="0" name=""/>
        <dsp:cNvSpPr/>
      </dsp:nvSpPr>
      <dsp:spPr>
        <a:xfrm>
          <a:off x="5566482" y="2321699"/>
          <a:ext cx="4311566" cy="888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Digital outreach </a:t>
          </a:r>
        </a:p>
        <a:p>
          <a:pPr marL="0" lvl="0" indent="0" algn="ctr" defTabSz="755650">
            <a:lnSpc>
              <a:spcPct val="90000"/>
            </a:lnSpc>
            <a:spcBef>
              <a:spcPct val="0"/>
            </a:spcBef>
            <a:spcAft>
              <a:spcPct val="35000"/>
            </a:spcAft>
            <a:buNone/>
          </a:pPr>
          <a:r>
            <a:rPr lang="en-US" sz="1700" kern="1200"/>
            <a:t>Community partnerships </a:t>
          </a:r>
        </a:p>
        <a:p>
          <a:pPr marL="0" lvl="0" indent="0" algn="ctr" defTabSz="755650">
            <a:lnSpc>
              <a:spcPct val="90000"/>
            </a:lnSpc>
            <a:spcBef>
              <a:spcPct val="0"/>
            </a:spcBef>
            <a:spcAft>
              <a:spcPct val="35000"/>
            </a:spcAft>
            <a:buNone/>
          </a:pPr>
          <a:r>
            <a:rPr lang="en-US" sz="1700" kern="1200"/>
            <a:t>Peer‑to‑peer engagement</a:t>
          </a:r>
        </a:p>
      </dsp:txBody>
      <dsp:txXfrm>
        <a:off x="5566482" y="2321699"/>
        <a:ext cx="4311566" cy="8882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68A9EF-8BB2-4E2C-BC4B-6B1C65FEB526}">
      <dsp:nvSpPr>
        <dsp:cNvPr id="0" name=""/>
        <dsp:cNvSpPr/>
      </dsp:nvSpPr>
      <dsp:spPr>
        <a:xfrm>
          <a:off x="0" y="2102696"/>
          <a:ext cx="6894576" cy="13795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Develop tools for outreach workers to guide clients through:</a:t>
          </a:r>
        </a:p>
      </dsp:txBody>
      <dsp:txXfrm>
        <a:off x="0" y="2102696"/>
        <a:ext cx="6894576" cy="744982"/>
      </dsp:txXfrm>
    </dsp:sp>
    <dsp:sp modelId="{334B89B0-7023-4CC2-9FCC-0D20C4FED126}">
      <dsp:nvSpPr>
        <dsp:cNvPr id="0" name=""/>
        <dsp:cNvSpPr/>
      </dsp:nvSpPr>
      <dsp:spPr>
        <a:xfrm>
          <a:off x="3366" y="2820086"/>
          <a:ext cx="2295947" cy="63461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a:t>Application processes </a:t>
          </a:r>
        </a:p>
      </dsp:txBody>
      <dsp:txXfrm>
        <a:off x="3366" y="2820086"/>
        <a:ext cx="2295947" cy="634614"/>
      </dsp:txXfrm>
    </dsp:sp>
    <dsp:sp modelId="{D51AEEC5-512C-4550-83CF-8A36ECC0F362}">
      <dsp:nvSpPr>
        <dsp:cNvPr id="0" name=""/>
        <dsp:cNvSpPr/>
      </dsp:nvSpPr>
      <dsp:spPr>
        <a:xfrm>
          <a:off x="2299314" y="2820086"/>
          <a:ext cx="2295947" cy="63461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a:t>Program navigation </a:t>
          </a:r>
        </a:p>
      </dsp:txBody>
      <dsp:txXfrm>
        <a:off x="2299314" y="2820086"/>
        <a:ext cx="2295947" cy="634614"/>
      </dsp:txXfrm>
    </dsp:sp>
    <dsp:sp modelId="{15DF64CE-C592-44B6-BEBA-11E2FA49EF46}">
      <dsp:nvSpPr>
        <dsp:cNvPr id="0" name=""/>
        <dsp:cNvSpPr/>
      </dsp:nvSpPr>
      <dsp:spPr>
        <a:xfrm>
          <a:off x="4595261" y="2820086"/>
          <a:ext cx="2295947" cy="63461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a:t>Transition to stable housing</a:t>
          </a:r>
        </a:p>
      </dsp:txBody>
      <dsp:txXfrm>
        <a:off x="4595261" y="2820086"/>
        <a:ext cx="2295947" cy="634614"/>
      </dsp:txXfrm>
    </dsp:sp>
    <dsp:sp modelId="{4D7C84BC-C9BB-4D14-8568-7A413926F610}">
      <dsp:nvSpPr>
        <dsp:cNvPr id="0" name=""/>
        <dsp:cNvSpPr/>
      </dsp:nvSpPr>
      <dsp:spPr>
        <a:xfrm rot="10800000">
          <a:off x="0" y="1570"/>
          <a:ext cx="6894576" cy="2121819"/>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Match individuals to housing programs based on needs + eligibility</a:t>
          </a:r>
        </a:p>
      </dsp:txBody>
      <dsp:txXfrm rot="10800000">
        <a:off x="0" y="1570"/>
        <a:ext cx="6894576" cy="13786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308FF-B09B-486E-973D-0ACBBA6C3AB5}">
      <dsp:nvSpPr>
        <dsp:cNvPr id="0" name=""/>
        <dsp:cNvSpPr/>
      </dsp:nvSpPr>
      <dsp:spPr>
        <a:xfrm>
          <a:off x="0" y="342535"/>
          <a:ext cx="6272784" cy="5159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Establish KPIs: </a:t>
          </a:r>
        </a:p>
      </dsp:txBody>
      <dsp:txXfrm>
        <a:off x="25188" y="367723"/>
        <a:ext cx="6222408" cy="465594"/>
      </dsp:txXfrm>
    </dsp:sp>
    <dsp:sp modelId="{F8AA98C8-8991-49BE-977B-DF35E15CB2F7}">
      <dsp:nvSpPr>
        <dsp:cNvPr id="0" name=""/>
        <dsp:cNvSpPr/>
      </dsp:nvSpPr>
      <dsp:spPr>
        <a:xfrm>
          <a:off x="0" y="858505"/>
          <a:ext cx="6272784" cy="1108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61"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Total homelessness </a:t>
          </a:r>
        </a:p>
        <a:p>
          <a:pPr marL="171450" lvl="1" indent="-171450" algn="l" defTabSz="711200">
            <a:lnSpc>
              <a:spcPct val="90000"/>
            </a:lnSpc>
            <a:spcBef>
              <a:spcPct val="0"/>
            </a:spcBef>
            <a:spcAft>
              <a:spcPct val="20000"/>
            </a:spcAft>
            <a:buChar char="•"/>
          </a:pPr>
          <a:r>
            <a:rPr lang="en-US" sz="1600" kern="1200"/>
            <a:t>Sheltered vs. unsheltered population </a:t>
          </a:r>
        </a:p>
        <a:p>
          <a:pPr marL="171450" lvl="1" indent="-171450" algn="l" defTabSz="711200">
            <a:lnSpc>
              <a:spcPct val="90000"/>
            </a:lnSpc>
            <a:spcBef>
              <a:spcPct val="0"/>
            </a:spcBef>
            <a:spcAft>
              <a:spcPct val="20000"/>
            </a:spcAft>
            <a:buChar char="•"/>
          </a:pPr>
          <a:r>
            <a:rPr lang="en-US" sz="1600" kern="1200"/>
            <a:t>Housing placement rates </a:t>
          </a:r>
        </a:p>
        <a:p>
          <a:pPr marL="171450" lvl="1" indent="-171450" algn="l" defTabSz="711200">
            <a:lnSpc>
              <a:spcPct val="90000"/>
            </a:lnSpc>
            <a:spcBef>
              <a:spcPct val="0"/>
            </a:spcBef>
            <a:spcAft>
              <a:spcPct val="20000"/>
            </a:spcAft>
            <a:buChar char="•"/>
          </a:pPr>
          <a:r>
            <a:rPr lang="en-US" sz="1600" kern="1200"/>
            <a:t>Repeat homelessness </a:t>
          </a:r>
        </a:p>
      </dsp:txBody>
      <dsp:txXfrm>
        <a:off x="0" y="858505"/>
        <a:ext cx="6272784" cy="1108485"/>
      </dsp:txXfrm>
    </dsp:sp>
    <dsp:sp modelId="{46359A1B-1F48-4331-9434-16CDF67597A7}">
      <dsp:nvSpPr>
        <dsp:cNvPr id="0" name=""/>
        <dsp:cNvSpPr/>
      </dsp:nvSpPr>
      <dsp:spPr>
        <a:xfrm>
          <a:off x="0" y="1966990"/>
          <a:ext cx="6272784" cy="5159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Create a feedback loop for continuous improvement</a:t>
          </a:r>
        </a:p>
      </dsp:txBody>
      <dsp:txXfrm>
        <a:off x="25188" y="1992178"/>
        <a:ext cx="6222408" cy="4655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9D52EB-9BAA-4140-990A-B4DE3F6F5EE9}">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582A5A-15B1-44FE-9C1A-04B2B9D0D55B}">
      <dsp:nvSpPr>
        <dsp:cNvPr id="0" name=""/>
        <dsp:cNvSpPr/>
      </dsp:nvSpPr>
      <dsp:spPr>
        <a:xfrm>
          <a:off x="277554" y="21075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EAA92B-408E-4D1F-91E0-36A9873A0CEF}">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Housing First + supportive housing show mixed results for community integration </a:t>
          </a:r>
        </a:p>
      </dsp:txBody>
      <dsp:txXfrm>
        <a:off x="1059754" y="4307"/>
        <a:ext cx="5304469" cy="917536"/>
      </dsp:txXfrm>
    </dsp:sp>
    <dsp:sp modelId="{138379C2-F023-4A8D-A0C7-1002962E7ECB}">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856718-4AFE-4884-924C-AD2CB71D751F}">
      <dsp:nvSpPr>
        <dsp:cNvPr id="0" name=""/>
        <dsp:cNvSpPr/>
      </dsp:nvSpPr>
      <dsp:spPr>
        <a:xfrm>
          <a:off x="277554" y="135767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AEF1CB-EE30-429D-83FB-53556D349B3E}">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Peer‑support interventions show promise </a:t>
          </a:r>
        </a:p>
      </dsp:txBody>
      <dsp:txXfrm>
        <a:off x="1059754" y="1151227"/>
        <a:ext cx="5304469" cy="917536"/>
      </dsp:txXfrm>
    </dsp:sp>
    <dsp:sp modelId="{871443B3-B476-47FB-9F0F-581445BE0736}">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AC3AF9-7FFC-4358-AE74-5FA4F03E4A4D}">
      <dsp:nvSpPr>
        <dsp:cNvPr id="0" name=""/>
        <dsp:cNvSpPr/>
      </dsp:nvSpPr>
      <dsp:spPr>
        <a:xfrm>
          <a:off x="277554" y="250459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9E5255-0EAD-4C44-9B96-21B204C01E6E}">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Machine learning can optimize resource allocation but raises equity concerns </a:t>
          </a:r>
        </a:p>
      </dsp:txBody>
      <dsp:txXfrm>
        <a:off x="1059754" y="2298147"/>
        <a:ext cx="5304469" cy="917536"/>
      </dsp:txXfrm>
    </dsp:sp>
    <dsp:sp modelId="{1E8EC83B-D226-41FD-A86E-04009B3ED13E}">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443139-B951-4B4E-A27A-133B3098E72B}">
      <dsp:nvSpPr>
        <dsp:cNvPr id="0" name=""/>
        <dsp:cNvSpPr/>
      </dsp:nvSpPr>
      <dsp:spPr>
        <a:xfrm>
          <a:off x="277554" y="365151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043AD-C497-4ACB-AF1E-1B0B2B2B8A4A}">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Nonprofit marketing + social media can increase awareness and engagement </a:t>
          </a:r>
        </a:p>
      </dsp:txBody>
      <dsp:txXfrm>
        <a:off x="1059754" y="3445068"/>
        <a:ext cx="5304469" cy="917536"/>
      </dsp:txXfrm>
    </dsp:sp>
    <dsp:sp modelId="{299812FF-A839-4956-B91C-E5C62BDC65D9}">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B15DE3-F68D-4850-87C5-DEA3C3331743}">
      <dsp:nvSpPr>
        <dsp:cNvPr id="0" name=""/>
        <dsp:cNvSpPr/>
      </dsp:nvSpPr>
      <dsp:spPr>
        <a:xfrm>
          <a:off x="277554" y="479843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299D52-BBC1-4CF0-BC08-AFFDBDA1FFFE}">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Data analytics is essential for understanding trends and improving programs</a:t>
          </a:r>
        </a:p>
      </dsp:txBody>
      <dsp:txXfrm>
        <a:off x="1059754" y="4591988"/>
        <a:ext cx="5304469" cy="9175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83C339-377F-40D6-98BD-2DFD7BC461A6}">
      <dsp:nvSpPr>
        <dsp:cNvPr id="0" name=""/>
        <dsp:cNvSpPr/>
      </dsp:nvSpPr>
      <dsp:spPr>
        <a:xfrm>
          <a:off x="906179" y="1581"/>
          <a:ext cx="3624718" cy="693947"/>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0330" tIns="176263" rIns="70330" bIns="176263" numCol="1" spcCol="1270" anchor="ctr" anchorCtr="0">
          <a:noAutofit/>
        </a:bodyPr>
        <a:lstStyle/>
        <a:p>
          <a:pPr marL="0" lvl="0" indent="0" algn="l" defTabSz="533400">
            <a:lnSpc>
              <a:spcPct val="90000"/>
            </a:lnSpc>
            <a:spcBef>
              <a:spcPct val="0"/>
            </a:spcBef>
            <a:spcAft>
              <a:spcPct val="35000"/>
            </a:spcAft>
            <a:buNone/>
          </a:pPr>
          <a:r>
            <a:rPr lang="en-US" sz="1200" kern="1200"/>
            <a:t>Need for targeted interventions </a:t>
          </a:r>
        </a:p>
      </dsp:txBody>
      <dsp:txXfrm>
        <a:off x="906179" y="1581"/>
        <a:ext cx="3624718" cy="693947"/>
      </dsp:txXfrm>
    </dsp:sp>
    <dsp:sp modelId="{338B2FC3-CAC2-4BB7-9584-7BE437531D5B}">
      <dsp:nvSpPr>
        <dsp:cNvPr id="0" name=""/>
        <dsp:cNvSpPr/>
      </dsp:nvSpPr>
      <dsp:spPr>
        <a:xfrm>
          <a:off x="0" y="1581"/>
          <a:ext cx="906179" cy="693947"/>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52" tIns="68547" rIns="47952" bIns="68547" numCol="1" spcCol="1270" anchor="ctr" anchorCtr="0">
          <a:noAutofit/>
        </a:bodyPr>
        <a:lstStyle/>
        <a:p>
          <a:pPr marL="0" lvl="0" indent="0" algn="ctr" defTabSz="666750">
            <a:lnSpc>
              <a:spcPct val="90000"/>
            </a:lnSpc>
            <a:spcBef>
              <a:spcPct val="0"/>
            </a:spcBef>
            <a:spcAft>
              <a:spcPct val="35000"/>
            </a:spcAft>
            <a:buNone/>
          </a:pPr>
          <a:r>
            <a:rPr lang="en-US" sz="1500" kern="1200"/>
            <a:t>Need</a:t>
          </a:r>
        </a:p>
      </dsp:txBody>
      <dsp:txXfrm>
        <a:off x="0" y="1581"/>
        <a:ext cx="906179" cy="693947"/>
      </dsp:txXfrm>
    </dsp:sp>
    <dsp:sp modelId="{96BCF312-B3D3-4997-A74E-E83041CF7EAB}">
      <dsp:nvSpPr>
        <dsp:cNvPr id="0" name=""/>
        <dsp:cNvSpPr/>
      </dsp:nvSpPr>
      <dsp:spPr>
        <a:xfrm>
          <a:off x="906179" y="737166"/>
          <a:ext cx="3624718" cy="693947"/>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0330" tIns="176263" rIns="70330" bIns="176263" numCol="1" spcCol="1270" anchor="ctr" anchorCtr="0">
          <a:noAutofit/>
        </a:bodyPr>
        <a:lstStyle/>
        <a:p>
          <a:pPr marL="0" lvl="0" indent="0" algn="l" defTabSz="533400">
            <a:lnSpc>
              <a:spcPct val="90000"/>
            </a:lnSpc>
            <a:spcBef>
              <a:spcPct val="0"/>
            </a:spcBef>
            <a:spcAft>
              <a:spcPct val="35000"/>
            </a:spcAft>
            <a:buNone/>
          </a:pPr>
          <a:r>
            <a:rPr lang="en-US" sz="1200" kern="1200"/>
            <a:t>Improve outreach to unsheltered individuals </a:t>
          </a:r>
        </a:p>
      </dsp:txBody>
      <dsp:txXfrm>
        <a:off x="906179" y="737166"/>
        <a:ext cx="3624718" cy="693947"/>
      </dsp:txXfrm>
    </dsp:sp>
    <dsp:sp modelId="{ED604732-1C64-4BB7-AC66-5C5C31632488}">
      <dsp:nvSpPr>
        <dsp:cNvPr id="0" name=""/>
        <dsp:cNvSpPr/>
      </dsp:nvSpPr>
      <dsp:spPr>
        <a:xfrm>
          <a:off x="0" y="737166"/>
          <a:ext cx="906179" cy="693947"/>
        </a:xfrm>
        <a:prstGeom prst="rect">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52" tIns="68547" rIns="47952" bIns="68547" numCol="1" spcCol="1270" anchor="ctr" anchorCtr="0">
          <a:noAutofit/>
        </a:bodyPr>
        <a:lstStyle/>
        <a:p>
          <a:pPr marL="0" lvl="0" indent="0" algn="ctr" defTabSz="666750">
            <a:lnSpc>
              <a:spcPct val="90000"/>
            </a:lnSpc>
            <a:spcBef>
              <a:spcPct val="0"/>
            </a:spcBef>
            <a:spcAft>
              <a:spcPct val="35000"/>
            </a:spcAft>
            <a:buNone/>
          </a:pPr>
          <a:r>
            <a:rPr lang="en-US" sz="1500" kern="1200"/>
            <a:t>Improve</a:t>
          </a:r>
        </a:p>
      </dsp:txBody>
      <dsp:txXfrm>
        <a:off x="0" y="737166"/>
        <a:ext cx="906179" cy="693947"/>
      </dsp:txXfrm>
    </dsp:sp>
    <dsp:sp modelId="{C3770407-5D71-4371-B137-26325393902D}">
      <dsp:nvSpPr>
        <dsp:cNvPr id="0" name=""/>
        <dsp:cNvSpPr/>
      </dsp:nvSpPr>
      <dsp:spPr>
        <a:xfrm>
          <a:off x="906179" y="1472751"/>
          <a:ext cx="3624718" cy="693947"/>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0330" tIns="176263" rIns="70330" bIns="176263" numCol="1" spcCol="1270" anchor="ctr" anchorCtr="0">
          <a:noAutofit/>
        </a:bodyPr>
        <a:lstStyle/>
        <a:p>
          <a:pPr marL="0" lvl="0" indent="0" algn="l" defTabSz="533400">
            <a:lnSpc>
              <a:spcPct val="90000"/>
            </a:lnSpc>
            <a:spcBef>
              <a:spcPct val="0"/>
            </a:spcBef>
            <a:spcAft>
              <a:spcPct val="35000"/>
            </a:spcAft>
            <a:buNone/>
          </a:pPr>
          <a:r>
            <a:rPr lang="en-US" sz="1200" kern="1200"/>
            <a:t>Strengthen communication strategies </a:t>
          </a:r>
        </a:p>
      </dsp:txBody>
      <dsp:txXfrm>
        <a:off x="906179" y="1472751"/>
        <a:ext cx="3624718" cy="693947"/>
      </dsp:txXfrm>
    </dsp:sp>
    <dsp:sp modelId="{FA6EAEFF-0BBB-4FAD-9588-AFD0EC22D84E}">
      <dsp:nvSpPr>
        <dsp:cNvPr id="0" name=""/>
        <dsp:cNvSpPr/>
      </dsp:nvSpPr>
      <dsp:spPr>
        <a:xfrm>
          <a:off x="0" y="1472751"/>
          <a:ext cx="906179" cy="693947"/>
        </a:xfrm>
        <a:prstGeom prst="rect">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52" tIns="68547" rIns="47952" bIns="68547" numCol="1" spcCol="1270" anchor="ctr" anchorCtr="0">
          <a:noAutofit/>
        </a:bodyPr>
        <a:lstStyle/>
        <a:p>
          <a:pPr marL="0" lvl="0" indent="0" algn="ctr" defTabSz="666750">
            <a:lnSpc>
              <a:spcPct val="90000"/>
            </a:lnSpc>
            <a:spcBef>
              <a:spcPct val="0"/>
            </a:spcBef>
            <a:spcAft>
              <a:spcPct val="35000"/>
            </a:spcAft>
            <a:buNone/>
          </a:pPr>
          <a:r>
            <a:rPr lang="en-US" sz="1500" kern="1200"/>
            <a:t>Strengthen</a:t>
          </a:r>
        </a:p>
      </dsp:txBody>
      <dsp:txXfrm>
        <a:off x="0" y="1472751"/>
        <a:ext cx="906179" cy="693947"/>
      </dsp:txXfrm>
    </dsp:sp>
    <dsp:sp modelId="{19CE219B-9F93-4952-96D8-E6D1CFC774E7}">
      <dsp:nvSpPr>
        <dsp:cNvPr id="0" name=""/>
        <dsp:cNvSpPr/>
      </dsp:nvSpPr>
      <dsp:spPr>
        <a:xfrm>
          <a:off x="906179" y="2208335"/>
          <a:ext cx="3624718" cy="693947"/>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0330" tIns="176263" rIns="70330" bIns="176263" numCol="1" spcCol="1270" anchor="ctr" anchorCtr="0">
          <a:noAutofit/>
        </a:bodyPr>
        <a:lstStyle/>
        <a:p>
          <a:pPr marL="0" lvl="0" indent="0" algn="l" defTabSz="533400">
            <a:lnSpc>
              <a:spcPct val="90000"/>
            </a:lnSpc>
            <a:spcBef>
              <a:spcPct val="0"/>
            </a:spcBef>
            <a:spcAft>
              <a:spcPct val="35000"/>
            </a:spcAft>
            <a:buNone/>
          </a:pPr>
          <a:r>
            <a:rPr lang="en-US" sz="1200" kern="1200"/>
            <a:t>Enhance resource navigation tools </a:t>
          </a:r>
        </a:p>
      </dsp:txBody>
      <dsp:txXfrm>
        <a:off x="906179" y="2208335"/>
        <a:ext cx="3624718" cy="693947"/>
      </dsp:txXfrm>
    </dsp:sp>
    <dsp:sp modelId="{1AB36064-2D5B-4592-BD10-5B5D214FACBB}">
      <dsp:nvSpPr>
        <dsp:cNvPr id="0" name=""/>
        <dsp:cNvSpPr/>
      </dsp:nvSpPr>
      <dsp:spPr>
        <a:xfrm>
          <a:off x="0" y="2208335"/>
          <a:ext cx="906179" cy="693947"/>
        </a:xfrm>
        <a:prstGeom prst="rect">
          <a:avLst/>
        </a:prstGeom>
        <a:solidFill>
          <a:schemeClr val="lt1">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52" tIns="68547" rIns="47952" bIns="68547" numCol="1" spcCol="1270" anchor="ctr" anchorCtr="0">
          <a:noAutofit/>
        </a:bodyPr>
        <a:lstStyle/>
        <a:p>
          <a:pPr marL="0" lvl="0" indent="0" algn="ctr" defTabSz="666750">
            <a:lnSpc>
              <a:spcPct val="90000"/>
            </a:lnSpc>
            <a:spcBef>
              <a:spcPct val="0"/>
            </a:spcBef>
            <a:spcAft>
              <a:spcPct val="35000"/>
            </a:spcAft>
            <a:buNone/>
          </a:pPr>
          <a:r>
            <a:rPr lang="en-US" sz="1500" kern="1200"/>
            <a:t>Enhance</a:t>
          </a:r>
        </a:p>
      </dsp:txBody>
      <dsp:txXfrm>
        <a:off x="0" y="2208335"/>
        <a:ext cx="906179" cy="693947"/>
      </dsp:txXfrm>
    </dsp:sp>
    <dsp:sp modelId="{E7A439CF-2EB9-4172-B13A-247CF22A22BD}">
      <dsp:nvSpPr>
        <dsp:cNvPr id="0" name=""/>
        <dsp:cNvSpPr/>
      </dsp:nvSpPr>
      <dsp:spPr>
        <a:xfrm>
          <a:off x="906179" y="2943920"/>
          <a:ext cx="3624718" cy="693947"/>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0330" tIns="176263" rIns="70330" bIns="176263" numCol="1" spcCol="1270" anchor="ctr" anchorCtr="0">
          <a:noAutofit/>
        </a:bodyPr>
        <a:lstStyle/>
        <a:p>
          <a:pPr marL="0" lvl="0" indent="0" algn="l" defTabSz="533400">
            <a:lnSpc>
              <a:spcPct val="90000"/>
            </a:lnSpc>
            <a:spcBef>
              <a:spcPct val="0"/>
            </a:spcBef>
            <a:spcAft>
              <a:spcPct val="35000"/>
            </a:spcAft>
            <a:buNone/>
          </a:pPr>
          <a:r>
            <a:rPr lang="en-US" sz="1200" kern="1200"/>
            <a:t>Use data to guide program improvements</a:t>
          </a:r>
        </a:p>
      </dsp:txBody>
      <dsp:txXfrm>
        <a:off x="906179" y="2943920"/>
        <a:ext cx="3624718" cy="693947"/>
      </dsp:txXfrm>
    </dsp:sp>
    <dsp:sp modelId="{806D0D6F-AE7D-4471-BA0F-DB342187BA61}">
      <dsp:nvSpPr>
        <dsp:cNvPr id="0" name=""/>
        <dsp:cNvSpPr/>
      </dsp:nvSpPr>
      <dsp:spPr>
        <a:xfrm>
          <a:off x="0" y="2943920"/>
          <a:ext cx="906179" cy="693947"/>
        </a:xfrm>
        <a:prstGeom prst="rect">
          <a:avLst/>
        </a:prstGeom>
        <a:solidFill>
          <a:schemeClr val="lt1">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52" tIns="68547" rIns="47952" bIns="68547" numCol="1" spcCol="1270" anchor="ctr" anchorCtr="0">
          <a:noAutofit/>
        </a:bodyPr>
        <a:lstStyle/>
        <a:p>
          <a:pPr marL="0" lvl="0" indent="0" algn="ctr" defTabSz="666750">
            <a:lnSpc>
              <a:spcPct val="90000"/>
            </a:lnSpc>
            <a:spcBef>
              <a:spcPct val="0"/>
            </a:spcBef>
            <a:spcAft>
              <a:spcPct val="35000"/>
            </a:spcAft>
            <a:buNone/>
          </a:pPr>
          <a:r>
            <a:rPr lang="en-US" sz="1500" kern="1200"/>
            <a:t>Use</a:t>
          </a:r>
        </a:p>
      </dsp:txBody>
      <dsp:txXfrm>
        <a:off x="0" y="2943920"/>
        <a:ext cx="906179" cy="6939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E79C69-FDB2-442C-A020-FE4D0D4472FC}">
      <dsp:nvSpPr>
        <dsp:cNvPr id="0" name=""/>
        <dsp:cNvSpPr/>
      </dsp:nvSpPr>
      <dsp:spPr>
        <a:xfrm>
          <a:off x="0" y="3399"/>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86D970-3F7D-4C80-A9ED-D44B3CA3DA0E}">
      <dsp:nvSpPr>
        <dsp:cNvPr id="0" name=""/>
        <dsp:cNvSpPr/>
      </dsp:nvSpPr>
      <dsp:spPr>
        <a:xfrm>
          <a:off x="219037" y="166319"/>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8312E6-F5AF-4DFC-9C6F-0FEC02191643}">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Implement segmentation‑based outreach </a:t>
          </a:r>
        </a:p>
      </dsp:txBody>
      <dsp:txXfrm>
        <a:off x="836323" y="3399"/>
        <a:ext cx="9679276" cy="724089"/>
      </dsp:txXfrm>
    </dsp:sp>
    <dsp:sp modelId="{C71E0CC7-564B-4B7D-9465-581F9860D251}">
      <dsp:nvSpPr>
        <dsp:cNvPr id="0" name=""/>
        <dsp:cNvSpPr/>
      </dsp:nvSpPr>
      <dsp:spPr>
        <a:xfrm>
          <a:off x="0" y="908511"/>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336361-DCC4-4706-8D2C-9167488DD302}">
      <dsp:nvSpPr>
        <dsp:cNvPr id="0" name=""/>
        <dsp:cNvSpPr/>
      </dsp:nvSpPr>
      <dsp:spPr>
        <a:xfrm>
          <a:off x="219037" y="1071431"/>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09C5F1-1D95-4B81-B751-582672D2D25D}">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Expand digital + peer‑led communication channels </a:t>
          </a:r>
        </a:p>
      </dsp:txBody>
      <dsp:txXfrm>
        <a:off x="836323" y="908511"/>
        <a:ext cx="9679276" cy="724089"/>
      </dsp:txXfrm>
    </dsp:sp>
    <dsp:sp modelId="{A4CF1773-3501-4CA8-BF62-8AB7497C84FA}">
      <dsp:nvSpPr>
        <dsp:cNvPr id="0" name=""/>
        <dsp:cNvSpPr/>
      </dsp:nvSpPr>
      <dsp:spPr>
        <a:xfrm>
          <a:off x="0" y="1813624"/>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589118-430E-4E98-8D73-28F4043E79B4}">
      <dsp:nvSpPr>
        <dsp:cNvPr id="0" name=""/>
        <dsp:cNvSpPr/>
      </dsp:nvSpPr>
      <dsp:spPr>
        <a:xfrm>
          <a:off x="219037" y="1976544"/>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DE7385-395A-4B26-9636-84FB602855F5}">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Develop personalized resource‑matching tools </a:t>
          </a:r>
        </a:p>
      </dsp:txBody>
      <dsp:txXfrm>
        <a:off x="836323" y="1813624"/>
        <a:ext cx="9679276" cy="724089"/>
      </dsp:txXfrm>
    </dsp:sp>
    <dsp:sp modelId="{6894545D-8EE3-491B-B094-66B426BB2739}">
      <dsp:nvSpPr>
        <dsp:cNvPr id="0" name=""/>
        <dsp:cNvSpPr/>
      </dsp:nvSpPr>
      <dsp:spPr>
        <a:xfrm>
          <a:off x="0" y="2718736"/>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B0641C-DF14-4C6D-A730-E826345C3D58}">
      <dsp:nvSpPr>
        <dsp:cNvPr id="0" name=""/>
        <dsp:cNvSpPr/>
      </dsp:nvSpPr>
      <dsp:spPr>
        <a:xfrm>
          <a:off x="219037" y="2881656"/>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C7F544-3690-468E-99AF-CA34761186EC}">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Track KPIs consistently across programs </a:t>
          </a:r>
        </a:p>
      </dsp:txBody>
      <dsp:txXfrm>
        <a:off x="836323" y="2718736"/>
        <a:ext cx="9679276" cy="724089"/>
      </dsp:txXfrm>
    </dsp:sp>
    <dsp:sp modelId="{63AC8710-2716-4512-BBE5-1361ACA23F94}">
      <dsp:nvSpPr>
        <dsp:cNvPr id="0" name=""/>
        <dsp:cNvSpPr/>
      </dsp:nvSpPr>
      <dsp:spPr>
        <a:xfrm>
          <a:off x="0" y="3623848"/>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BD26A0-2A53-4887-9401-BE55D8B255F2}">
      <dsp:nvSpPr>
        <dsp:cNvPr id="0" name=""/>
        <dsp:cNvSpPr/>
      </dsp:nvSpPr>
      <dsp:spPr>
        <a:xfrm>
          <a:off x="219037" y="3786768"/>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6637A6-65EC-4381-A121-E6D98659A034}">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Integrate qualitative feedback into decision‑making</a:t>
          </a:r>
        </a:p>
      </dsp:txBody>
      <dsp:txXfrm>
        <a:off x="836323" y="3623848"/>
        <a:ext cx="9679276" cy="7240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7DB42C-5364-4190-920A-825A8A9DA7AF}">
      <dsp:nvSpPr>
        <dsp:cNvPr id="0" name=""/>
        <dsp:cNvSpPr/>
      </dsp:nvSpPr>
      <dsp:spPr>
        <a:xfrm>
          <a:off x="682185" y="0"/>
          <a:ext cx="5536141" cy="5536141"/>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FF2633-9657-4F6C-A374-E161213AC33D}">
      <dsp:nvSpPr>
        <dsp:cNvPr id="0" name=""/>
        <dsp:cNvSpPr/>
      </dsp:nvSpPr>
      <dsp:spPr>
        <a:xfrm>
          <a:off x="1208118" y="525933"/>
          <a:ext cx="2159094" cy="2159094"/>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Data‑driven outreach can significantly improve housing access </a:t>
          </a:r>
        </a:p>
      </dsp:txBody>
      <dsp:txXfrm>
        <a:off x="1313516" y="631331"/>
        <a:ext cx="1948298" cy="1948298"/>
      </dsp:txXfrm>
    </dsp:sp>
    <dsp:sp modelId="{0D5C290F-052B-4258-BBE9-02D47DBAEB0B}">
      <dsp:nvSpPr>
        <dsp:cNvPr id="0" name=""/>
        <dsp:cNvSpPr/>
      </dsp:nvSpPr>
      <dsp:spPr>
        <a:xfrm>
          <a:off x="3533298" y="525933"/>
          <a:ext cx="2159094" cy="21590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Combining analytics + marketing strategies strengthens engagement </a:t>
          </a:r>
        </a:p>
      </dsp:txBody>
      <dsp:txXfrm>
        <a:off x="3638696" y="631331"/>
        <a:ext cx="1948298" cy="1948298"/>
      </dsp:txXfrm>
    </dsp:sp>
    <dsp:sp modelId="{D6DD3F0C-6AFD-47CE-AF80-D12E1BF9E0EC}">
      <dsp:nvSpPr>
        <dsp:cNvPr id="0" name=""/>
        <dsp:cNvSpPr/>
      </dsp:nvSpPr>
      <dsp:spPr>
        <a:xfrm>
          <a:off x="1208118" y="2851112"/>
          <a:ext cx="2159094" cy="2159094"/>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Continuous evaluation ensures long‑term housing stability </a:t>
          </a:r>
        </a:p>
      </dsp:txBody>
      <dsp:txXfrm>
        <a:off x="1313516" y="2956510"/>
        <a:ext cx="1948298" cy="1948298"/>
      </dsp:txXfrm>
    </dsp:sp>
    <dsp:sp modelId="{D9D5D36A-F16C-4151-A006-59A711969DE3}">
      <dsp:nvSpPr>
        <dsp:cNvPr id="0" name=""/>
        <dsp:cNvSpPr/>
      </dsp:nvSpPr>
      <dsp:spPr>
        <a:xfrm>
          <a:off x="3533298" y="2851112"/>
          <a:ext cx="2159094" cy="2159094"/>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This framework supports more effective, equitable homelessness response systems</a:t>
          </a:r>
        </a:p>
      </dsp:txBody>
      <dsp:txXfrm>
        <a:off x="3638696" y="2956510"/>
        <a:ext cx="1948298" cy="1948298"/>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998D79-7CA2-4275-A889-0E7DB3BF84D5}"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934679-CEAE-47C6-9132-D265E77FAA4D}" type="slidenum">
              <a:rPr lang="en-US" smtClean="0"/>
              <a:t>‹#›</a:t>
            </a:fld>
            <a:endParaRPr lang="en-US"/>
          </a:p>
        </p:txBody>
      </p:sp>
    </p:spTree>
    <p:extLst>
      <p:ext uri="{BB962C8B-B14F-4D97-AF65-F5344CB8AC3E}">
        <p14:creationId xmlns:p14="http://schemas.microsoft.com/office/powerpoint/2010/main" val="140394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project explores how customer analytics can be applied to housing services. Instead of viewing individuals simply as service recipients, we approach them as “customers” navigating a system with multiple steps and barriers.</a:t>
            </a:r>
          </a:p>
          <a:p>
            <a:r>
              <a:rPr lang="en-US"/>
              <a:t>We focus on three key areas: outreach effectiveness, engagement patterns, and barriers to participation in housing programs.</a:t>
            </a:r>
          </a:p>
          <a:p>
            <a:r>
              <a:rPr lang="en-US"/>
              <a:t>Our goal is to develop data-driven recommendations that strengthen outreach strategies, increase participation in housing programs, and ultimately improve long-term housing stability.</a:t>
            </a:r>
          </a:p>
          <a:p>
            <a:r>
              <a:rPr lang="en-US"/>
              <a:t>To do this, we use a mixed-methods approach, combining quantitative data analysis with qualitative insights from interviews and research.</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2</a:t>
            </a:fld>
            <a:endParaRPr lang="en-US"/>
          </a:p>
        </p:txBody>
      </p:sp>
    </p:spTree>
    <p:extLst>
      <p:ext uri="{BB962C8B-B14F-4D97-AF65-F5344CB8AC3E}">
        <p14:creationId xmlns:p14="http://schemas.microsoft.com/office/powerpoint/2010/main" val="200579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Homelessness continues to be a major social and economic challenge in the United States. Many individuals face barriers such as limited access to housing resources, lack of documentation, and difficulty navigating complex assistance systems.</a:t>
            </a:r>
          </a:p>
          <a:p>
            <a:r>
              <a:rPr lang="en-US"/>
              <a:t>Organizations and nonprofits play a critical role in addressing these issues, but many outreach strategies are not consistently evaluated. This makes it difficult to determine what is actually working.</a:t>
            </a:r>
          </a:p>
          <a:p>
            <a:r>
              <a:rPr lang="en-US"/>
              <a:t>As a result, there are missed opportunities to improve engagement and placement outcomes.</a:t>
            </a:r>
          </a:p>
          <a:p>
            <a:r>
              <a:rPr lang="en-US"/>
              <a:t>This project is motivated by the need for more effective, measurable, and data-driven approaches to help individuals access stable housing faster and more efficiently.</a:t>
            </a:r>
          </a:p>
        </p:txBody>
      </p:sp>
      <p:sp>
        <p:nvSpPr>
          <p:cNvPr id="4" name="Slide Number Placeholder 3"/>
          <p:cNvSpPr>
            <a:spLocks noGrp="1"/>
          </p:cNvSpPr>
          <p:nvPr>
            <p:ph type="sldNum" sz="quarter" idx="5"/>
          </p:nvPr>
        </p:nvSpPr>
        <p:spPr/>
        <p:txBody>
          <a:bodyPr/>
          <a:lstStyle/>
          <a:p>
            <a:fld id="{A5934679-CEAE-47C6-9132-D265E77FAA4D}" type="slidenum">
              <a:rPr lang="en-US" smtClean="0"/>
              <a:t>3</a:t>
            </a:fld>
            <a:endParaRPr lang="en-US"/>
          </a:p>
        </p:txBody>
      </p:sp>
    </p:spTree>
    <p:extLst>
      <p:ext uri="{BB962C8B-B14F-4D97-AF65-F5344CB8AC3E}">
        <p14:creationId xmlns:p14="http://schemas.microsoft.com/office/powerpoint/2010/main" val="1971929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main goal of this project is to create a framework for better identifying, engaging, and supporting individuals experiencing homelessness.</a:t>
            </a:r>
          </a:p>
          <a:p>
            <a:r>
              <a:rPr lang="en-US"/>
              <a:t>We focus on four key areas: segmentation, outreach optimization, personalized matching, and performance measurement.</a:t>
            </a:r>
          </a:p>
          <a:p>
            <a:r>
              <a:rPr lang="en-US"/>
              <a:t>We also aim to establish key performance indicators, or KPIs, to evaluate system effectiveness. These include measures like housing placement rates and engagement levels.</a:t>
            </a:r>
          </a:p>
          <a:p>
            <a:r>
              <a:rPr lang="en-US"/>
              <a:t>By analyzing the housing “conversion funnel,” we can identify where individuals drop off in the process and provide targeted recommendations to improve outreach strategies and overall system performance.</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4</a:t>
            </a:fld>
            <a:endParaRPr lang="en-US"/>
          </a:p>
        </p:txBody>
      </p:sp>
    </p:spTree>
    <p:extLst>
      <p:ext uri="{BB962C8B-B14F-4D97-AF65-F5344CB8AC3E}">
        <p14:creationId xmlns:p14="http://schemas.microsoft.com/office/powerpoint/2010/main" val="1016281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first objective is customer segmentation. Not all individuals experiencing homelessness have the same needs, barriers, or circumstances.</a:t>
            </a:r>
          </a:p>
          <a:p>
            <a:r>
              <a:rPr lang="en-US"/>
              <a:t>Using demographic data, housing history, and qualitative insights, we identify distinct population segments. For example, some individuals may face documentation issues, while others may struggle with access to transportation or communication barriers.</a:t>
            </a:r>
          </a:p>
          <a:p>
            <a:r>
              <a:rPr lang="en-US"/>
              <a:t>By understanding these differences, organizations can tailor their outreach and services more effectively.</a:t>
            </a:r>
          </a:p>
          <a:p>
            <a:r>
              <a:rPr lang="en-US"/>
              <a:t>Instead of using a one-size-fits-all approach, segmentation allows for targeted interventions that better meet the needs of each group and improve overall outcomes.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5</a:t>
            </a:fld>
            <a:endParaRPr lang="en-US"/>
          </a:p>
        </p:txBody>
      </p:sp>
    </p:spTree>
    <p:extLst>
      <p:ext uri="{BB962C8B-B14F-4D97-AF65-F5344CB8AC3E}">
        <p14:creationId xmlns:p14="http://schemas.microsoft.com/office/powerpoint/2010/main" val="1476621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second objective focuses on improving outreach methods. We evaluate current strategies such as street outreach, shelters, and community events to determine how effective they are.</a:t>
            </a:r>
          </a:p>
          <a:p>
            <a:r>
              <a:rPr lang="en-US"/>
              <a:t>We also explore new approaches, including digital outreach, partnerships with community organizations, and peer-to-peer engagement.</a:t>
            </a:r>
          </a:p>
          <a:p>
            <a:r>
              <a:rPr lang="en-US"/>
              <a:t>Different individuals respond to different communication channels, so it’s important to diversify outreach efforts.</a:t>
            </a:r>
          </a:p>
          <a:p>
            <a:r>
              <a:rPr lang="en-US"/>
              <a:t>The goal is to identify which methods are most effective at reaching individuals, increasing engagement, and ultimately guiding them into housing programs.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6</a:t>
            </a:fld>
            <a:endParaRPr lang="en-US"/>
          </a:p>
        </p:txBody>
      </p:sp>
    </p:spTree>
    <p:extLst>
      <p:ext uri="{BB962C8B-B14F-4D97-AF65-F5344CB8AC3E}">
        <p14:creationId xmlns:p14="http://schemas.microsoft.com/office/powerpoint/2010/main" val="3048679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third objective is personalized resource matching. This involves connecting individuals with housing programs that best fit their needs and eligibility.</a:t>
            </a:r>
          </a:p>
          <a:p>
            <a:r>
              <a:rPr lang="en-US"/>
              <a:t>We propose developing tools that help outreach workers guide individuals through application processes, program navigation, and the transition to stable housing.</a:t>
            </a:r>
          </a:p>
          <a:p>
            <a:r>
              <a:rPr lang="en-US"/>
              <a:t>This reduces confusion and improves efficiency for both clients and organizations.</a:t>
            </a:r>
          </a:p>
          <a:p>
            <a:r>
              <a:rPr lang="en-US"/>
              <a:t>The idea is to ensure that each individual is matched with the right resource at the right time, increasing the likelihood of successful placement and long-term housing stability.</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7</a:t>
            </a:fld>
            <a:endParaRPr lang="en-US"/>
          </a:p>
        </p:txBody>
      </p:sp>
    </p:spTree>
    <p:extLst>
      <p:ext uri="{BB962C8B-B14F-4D97-AF65-F5344CB8AC3E}">
        <p14:creationId xmlns:p14="http://schemas.microsoft.com/office/powerpoint/2010/main" val="1445415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fourth objective focuses on measuring impact. To do this, we establish key performance indicators such as total homelessness, sheltered versus unsheltered populations, housing placement rates, and repeat homelessness.</a:t>
            </a:r>
          </a:p>
          <a:p>
            <a:r>
              <a:rPr lang="en-US"/>
              <a:t>These metrics help organizations track performance and identify areas for improvement.</a:t>
            </a:r>
          </a:p>
          <a:p>
            <a:r>
              <a:rPr lang="en-US"/>
              <a:t>We also emphasize creating a feedback loop, where data is continuously used to refine strategies and improve outcomes over time.</a:t>
            </a:r>
          </a:p>
          <a:p>
            <a:r>
              <a:rPr lang="en-US"/>
              <a:t>This ensures that outreach efforts are not only implemented but also evaluated and adjusted based on real results.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8</a:t>
            </a:fld>
            <a:endParaRPr lang="en-US"/>
          </a:p>
        </p:txBody>
      </p:sp>
    </p:spTree>
    <p:extLst>
      <p:ext uri="{BB962C8B-B14F-4D97-AF65-F5344CB8AC3E}">
        <p14:creationId xmlns:p14="http://schemas.microsoft.com/office/powerpoint/2010/main" val="1745347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major problem we identified is the lack of strong evaluation methods in outreach programs. Many organizations do not have clear metrics to measure success.</a:t>
            </a:r>
          </a:p>
          <a:p>
            <a:r>
              <a:rPr lang="en-US"/>
              <a:t>As a result, it’s difficult to identify where individuals drop off in the housing process, also known as the conversion funnel.</a:t>
            </a:r>
          </a:p>
          <a:p>
            <a:r>
              <a:rPr lang="en-US"/>
              <a:t>This leads to inefficiencies in resource allocation and missed opportunities to improve outcomes.</a:t>
            </a:r>
          </a:p>
          <a:p>
            <a:r>
              <a:rPr lang="en-US"/>
              <a:t>Additionally, a large portion of individuals remain unsheltered, which indicates a breakdown in the system.</a:t>
            </a:r>
          </a:p>
          <a:p>
            <a:r>
              <a:rPr lang="en-US"/>
              <a:t>Overall, the core issue is a combination of limited capacity and inefficiencies in converting outreach into successful housing placements.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9</a:t>
            </a:fld>
            <a:endParaRPr lang="en-US"/>
          </a:p>
        </p:txBody>
      </p:sp>
    </p:spTree>
    <p:extLst>
      <p:ext uri="{BB962C8B-B14F-4D97-AF65-F5344CB8AC3E}">
        <p14:creationId xmlns:p14="http://schemas.microsoft.com/office/powerpoint/2010/main" val="240039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literature review highlights several key insights. First, interventions like Housing First show mixed results, especially in terms of long-term community integration.</a:t>
            </a:r>
          </a:p>
          <a:p>
            <a:r>
              <a:rPr lang="en-US"/>
              <a:t>However, peer-support and psychosocial interventions appear more promising.</a:t>
            </a:r>
          </a:p>
          <a:p>
            <a:r>
              <a:rPr lang="en-US"/>
              <a:t>We also found that machine learning can improve resource allocation, but it raises concerns about fairness and equity.</a:t>
            </a:r>
          </a:p>
          <a:p>
            <a:r>
              <a:rPr lang="en-US"/>
              <a:t>Additionally, marketing strategies such as social media and storytelling can increase awareness and engagement.</a:t>
            </a:r>
          </a:p>
          <a:p>
            <a:r>
              <a:rPr lang="en-US"/>
              <a:t>Overall, the research emphasizes that data analytics is essential for understanding trends, improving outreach strategies, and making informed decisions.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10</a:t>
            </a:fld>
            <a:endParaRPr lang="en-US"/>
          </a:p>
        </p:txBody>
      </p:sp>
    </p:spTree>
    <p:extLst>
      <p:ext uri="{BB962C8B-B14F-4D97-AF65-F5344CB8AC3E}">
        <p14:creationId xmlns:p14="http://schemas.microsoft.com/office/powerpoint/2010/main" val="2585864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934679-CEAE-47C6-9132-D265E77FAA4D}" type="slidenum">
              <a:rPr lang="en-US" smtClean="0"/>
              <a:t>11</a:t>
            </a:fld>
            <a:endParaRPr lang="en-US"/>
          </a:p>
        </p:txBody>
      </p:sp>
    </p:spTree>
    <p:extLst>
      <p:ext uri="{BB962C8B-B14F-4D97-AF65-F5344CB8AC3E}">
        <p14:creationId xmlns:p14="http://schemas.microsoft.com/office/powerpoint/2010/main" val="2818546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use a mixed-methods approach that combines quantitative analysis with qualitative insights.</a:t>
            </a:r>
          </a:p>
          <a:p>
            <a:r>
              <a:rPr lang="en-US" dirty="0"/>
              <a:t>Quantitative data is cleaned and analyzed using Power BI to identify trends and develop key performance indicators.</a:t>
            </a:r>
          </a:p>
          <a:p>
            <a:r>
              <a:rPr lang="en-US"/>
              <a:t>Qualitative data from interviews is coded and transformed into variables that can be analyzed alongside the quantitative data.</a:t>
            </a:r>
          </a:p>
          <a:p>
            <a:r>
              <a:rPr lang="en-US" dirty="0"/>
              <a:t>This allows us to identify patterns, segment populations, and understand barriers more effectively. </a:t>
            </a:r>
          </a:p>
          <a:p>
            <a:r>
              <a:rPr lang="en-US"/>
              <a:t>Our approach is iterative, meaning we continuously refine strategies based on new data and insights to improve outreach and housing outcomes.</a:t>
            </a:r>
          </a:p>
        </p:txBody>
      </p:sp>
      <p:sp>
        <p:nvSpPr>
          <p:cNvPr id="4" name="Slide Number Placeholder 3"/>
          <p:cNvSpPr>
            <a:spLocks noGrp="1"/>
          </p:cNvSpPr>
          <p:nvPr>
            <p:ph type="sldNum" sz="quarter" idx="5"/>
          </p:nvPr>
        </p:nvSpPr>
        <p:spPr/>
        <p:txBody>
          <a:bodyPr/>
          <a:lstStyle/>
          <a:p>
            <a:fld id="{A5934679-CEAE-47C6-9132-D265E77FAA4D}" type="slidenum">
              <a:rPr lang="en-US" smtClean="0"/>
              <a:t>12</a:t>
            </a:fld>
            <a:endParaRPr lang="en-US"/>
          </a:p>
        </p:txBody>
      </p:sp>
    </p:spTree>
    <p:extLst>
      <p:ext uri="{BB962C8B-B14F-4D97-AF65-F5344CB8AC3E}">
        <p14:creationId xmlns:p14="http://schemas.microsoft.com/office/powerpoint/2010/main" val="3813205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analysis of Cumberland County shows that homelessness peaked around 2012 and declined steadily through 2021.</a:t>
            </a:r>
          </a:p>
          <a:p>
            <a:r>
              <a:rPr lang="en-US"/>
              <a:t>However, recent data shows an increase, indicating renewed demand and pressure on the system.</a:t>
            </a:r>
          </a:p>
          <a:p>
            <a:r>
              <a:rPr lang="en-US"/>
              <a:t>We also found that a significant portion of individuals remain unsheltered.</a:t>
            </a:r>
          </a:p>
          <a:p>
            <a:r>
              <a:rPr lang="en-US"/>
              <a:t>This suggests that while some progress has been made, there are still gaps in outreach effectiveness and access to housing resources.</a:t>
            </a:r>
          </a:p>
          <a:p>
            <a:r>
              <a:rPr lang="en-US"/>
              <a:t>These findings highlight the need for more targeted interventions and improved strategies to connect individuals with housing.</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13</a:t>
            </a:fld>
            <a:endParaRPr lang="en-US"/>
          </a:p>
        </p:txBody>
      </p:sp>
    </p:spTree>
    <p:extLst>
      <p:ext uri="{BB962C8B-B14F-4D97-AF65-F5344CB8AC3E}">
        <p14:creationId xmlns:p14="http://schemas.microsoft.com/office/powerpoint/2010/main" val="1159357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our findings, several improvements are needed.</a:t>
            </a:r>
          </a:p>
          <a:p>
            <a:r>
              <a:rPr lang="en-US"/>
              <a:t>First, outreach efforts must be more targeted, especially toward unsheltered individuals.</a:t>
            </a:r>
          </a:p>
          <a:p>
            <a:r>
              <a:rPr lang="en-US"/>
              <a:t>Second, communication strategies should be strengthened to ensure information reaches the right people.</a:t>
            </a:r>
          </a:p>
          <a:p>
            <a:r>
              <a:rPr lang="en-US"/>
              <a:t>Third, resource navigation tools should be enhanced to help individuals move through the system more easily.</a:t>
            </a:r>
          </a:p>
          <a:p>
            <a:r>
              <a:rPr lang="en-US"/>
              <a:t>Finally, data should be continuously used to guide decisions and improve programs.</a:t>
            </a:r>
          </a:p>
          <a:p>
            <a:r>
              <a:rPr lang="en-US" dirty="0"/>
              <a:t>Implementation should focus on practical, data-driven changes that address the gaps we identified.</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14</a:t>
            </a:fld>
            <a:endParaRPr lang="en-US"/>
          </a:p>
        </p:txBody>
      </p:sp>
    </p:spTree>
    <p:extLst>
      <p:ext uri="{BB962C8B-B14F-4D97-AF65-F5344CB8AC3E}">
        <p14:creationId xmlns:p14="http://schemas.microsoft.com/office/powerpoint/2010/main" val="634131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recommend implementing segmentation-based outreach strategies to better target different groups.</a:t>
            </a:r>
          </a:p>
          <a:p>
            <a:r>
              <a:rPr lang="en-US"/>
              <a:t>Organizations should expand digital and peer-led communication channels to increase engagement.</a:t>
            </a:r>
          </a:p>
          <a:p>
            <a:r>
              <a:rPr lang="en-US"/>
              <a:t>We also suggest developing personalized resource-matching tools to improve placement success.</a:t>
            </a:r>
          </a:p>
          <a:p>
            <a:r>
              <a:rPr lang="en-US"/>
              <a:t>Additionally, KPIs should be consistently tracked across programs to measure effectiveness.</a:t>
            </a:r>
          </a:p>
          <a:p>
            <a:r>
              <a:rPr lang="en-US"/>
              <a:t>Finally, qualitative feedback should be integrated into decision-making to ensure strategies reflect real-world experiences and needs.</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A5934679-CEAE-47C6-9132-D265E77FAA4D}" type="slidenum">
              <a:rPr lang="en-US" smtClean="0"/>
              <a:t>15</a:t>
            </a:fld>
            <a:endParaRPr lang="en-US"/>
          </a:p>
        </p:txBody>
      </p:sp>
    </p:spTree>
    <p:extLst>
      <p:ext uri="{BB962C8B-B14F-4D97-AF65-F5344CB8AC3E}">
        <p14:creationId xmlns:p14="http://schemas.microsoft.com/office/powerpoint/2010/main" val="412683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We welcome any questions and are happy to provide further clarification on our methodology, findings, or recommendations.</a:t>
            </a:r>
          </a:p>
        </p:txBody>
      </p:sp>
      <p:sp>
        <p:nvSpPr>
          <p:cNvPr id="4" name="Slide Number Placeholder 3"/>
          <p:cNvSpPr>
            <a:spLocks noGrp="1"/>
          </p:cNvSpPr>
          <p:nvPr>
            <p:ph type="sldNum" sz="quarter" idx="5"/>
          </p:nvPr>
        </p:nvSpPr>
        <p:spPr/>
        <p:txBody>
          <a:bodyPr/>
          <a:lstStyle/>
          <a:p>
            <a:fld id="{A5934679-CEAE-47C6-9132-D265E77FAA4D}" type="slidenum">
              <a:rPr lang="en-US" smtClean="0"/>
              <a:t>17</a:t>
            </a:fld>
            <a:endParaRPr lang="en-US"/>
          </a:p>
        </p:txBody>
      </p:sp>
    </p:spTree>
    <p:extLst>
      <p:ext uri="{BB962C8B-B14F-4D97-AF65-F5344CB8AC3E}">
        <p14:creationId xmlns:p14="http://schemas.microsoft.com/office/powerpoint/2010/main" val="2895018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t>
            </a:r>
            <a:r>
              <a:rPr lang="en-US" dirty="0" err="1"/>
              <a:t>resourses</a:t>
            </a:r>
            <a:r>
              <a:rPr lang="en-US" dirty="0"/>
              <a:t> that were used to support our research. Sources inc</a:t>
            </a:r>
            <a:r>
              <a:rPr lang="en-US"/>
              <a:t>lude academic studies, government data, and industry insights related to homelessness, marketing strategies, and data analytics as well as an organization that would like to remain anyomous.</a:t>
            </a:r>
          </a:p>
        </p:txBody>
      </p:sp>
      <p:sp>
        <p:nvSpPr>
          <p:cNvPr id="4" name="Slide Number Placeholder 3"/>
          <p:cNvSpPr>
            <a:spLocks noGrp="1"/>
          </p:cNvSpPr>
          <p:nvPr>
            <p:ph type="sldNum" sz="quarter" idx="5"/>
          </p:nvPr>
        </p:nvSpPr>
        <p:spPr/>
        <p:txBody>
          <a:bodyPr/>
          <a:lstStyle/>
          <a:p>
            <a:fld id="{A5934679-CEAE-47C6-9132-D265E77FAA4D}" type="slidenum">
              <a:rPr lang="en-US" smtClean="0"/>
              <a:t>18</a:t>
            </a:fld>
            <a:endParaRPr lang="en-US"/>
          </a:p>
        </p:txBody>
      </p:sp>
    </p:spTree>
    <p:extLst>
      <p:ext uri="{BB962C8B-B14F-4D97-AF65-F5344CB8AC3E}">
        <p14:creationId xmlns:p14="http://schemas.microsoft.com/office/powerpoint/2010/main" val="2775231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5D84-DB2B-F5B0-FA12-EB3EB0CC5F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B7493A-79B8-2D8E-9CEC-C727712170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ACA1AF-90CD-F506-CAE3-3B810E82F98F}"/>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5" name="Footer Placeholder 4">
            <a:extLst>
              <a:ext uri="{FF2B5EF4-FFF2-40B4-BE49-F238E27FC236}">
                <a16:creationId xmlns:a16="http://schemas.microsoft.com/office/drawing/2014/main" id="{555F84C8-B158-2BE9-2482-8846E97E4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DF890E-00B9-82A5-174E-A88B62E5740E}"/>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1587771358"/>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304D5-1B40-38D2-1B19-988FE21BE1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307221-5EEC-E2F1-E427-838E7763E4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AF6B5-1D27-301D-833D-C3A9DACF3A16}"/>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5" name="Footer Placeholder 4">
            <a:extLst>
              <a:ext uri="{FF2B5EF4-FFF2-40B4-BE49-F238E27FC236}">
                <a16:creationId xmlns:a16="http://schemas.microsoft.com/office/drawing/2014/main" id="{4B49328F-0B1C-C4D5-230C-18D9B1AD24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E8C94-F74B-211B-8A7B-658E91A2B5E7}"/>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3680584333"/>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4A879-0815-B615-6BD1-986BC71741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179B65-5EC8-5F4B-CA10-06C62588BE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2DABA8-8C72-2920-90F3-D43730672A5C}"/>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5" name="Footer Placeholder 4">
            <a:extLst>
              <a:ext uri="{FF2B5EF4-FFF2-40B4-BE49-F238E27FC236}">
                <a16:creationId xmlns:a16="http://schemas.microsoft.com/office/drawing/2014/main" id="{D61D741B-7A42-2DEE-EDC9-B640B8095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80BB94-1235-98A7-B4CA-ED466BABEF20}"/>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3713190243"/>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E0939-707D-96CE-D263-4BE7A2DC52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C5D88A-8BBD-8DB9-314A-097A576F56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7FC4A1-EABB-848A-FF5C-BA5FA70859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3B82B2-7790-75C4-20A4-FD1EA0DA944C}"/>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6" name="Footer Placeholder 5">
            <a:extLst>
              <a:ext uri="{FF2B5EF4-FFF2-40B4-BE49-F238E27FC236}">
                <a16:creationId xmlns:a16="http://schemas.microsoft.com/office/drawing/2014/main" id="{652AA8CC-0AF2-28A2-7AB8-F6902D7AB2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F4291-F1B7-D834-21C6-D280F6ED6886}"/>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985608721"/>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45F18-C6C8-3528-1503-FBED065CF5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EA6005-6858-8661-66E2-7FA345779F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EA359E-E114-1B81-3543-3146AAFD9D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E0D6EB-D104-4F02-3BED-3BBC26505C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FAC0F4-7354-6F35-88CA-761B6CF69F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3E7412-3E6E-D05E-730B-98E397D14994}"/>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8" name="Footer Placeholder 7">
            <a:extLst>
              <a:ext uri="{FF2B5EF4-FFF2-40B4-BE49-F238E27FC236}">
                <a16:creationId xmlns:a16="http://schemas.microsoft.com/office/drawing/2014/main" id="{FA0A034C-6AA1-A3A7-E585-47C51C76B0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4F3BAF-5194-6295-3A03-E2FBBD8546D8}"/>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2557399298"/>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E54C-58C6-FD09-82C2-66125D01F6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1267CF-20E9-8E60-6CC5-D0B1FAB9B77B}"/>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4" name="Footer Placeholder 3">
            <a:extLst>
              <a:ext uri="{FF2B5EF4-FFF2-40B4-BE49-F238E27FC236}">
                <a16:creationId xmlns:a16="http://schemas.microsoft.com/office/drawing/2014/main" id="{897482E7-9789-1326-C183-40FB4D9D92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C1E5A1-4AC2-7151-4709-EEDF7C6F5908}"/>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3322633093"/>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9EFFA2-5F3C-C0F6-F5A2-6151E4DDDA5C}"/>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3" name="Footer Placeholder 2">
            <a:extLst>
              <a:ext uri="{FF2B5EF4-FFF2-40B4-BE49-F238E27FC236}">
                <a16:creationId xmlns:a16="http://schemas.microsoft.com/office/drawing/2014/main" id="{F8CF5018-682F-B9C3-86D3-FB8D653BDA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90AAB2-1FB9-98B9-5D1E-10D6DAF6E91C}"/>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447950302"/>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78A67-C203-A59D-153B-A09FFF2481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0AF6EF-5E16-D319-2F93-35B78206CE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021657-F03C-A2DB-BD31-3BA92FD9E7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5B3335-34B7-5CB4-C6C1-9FE0EAE588A6}"/>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6" name="Footer Placeholder 5">
            <a:extLst>
              <a:ext uri="{FF2B5EF4-FFF2-40B4-BE49-F238E27FC236}">
                <a16:creationId xmlns:a16="http://schemas.microsoft.com/office/drawing/2014/main" id="{86C39124-8030-5599-EEBE-7BA0A27A8F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D54B80-5415-5C58-3525-636EE96C886F}"/>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1966346201"/>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FD2E2-5F3A-7F44-C70D-3DBA805098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8A19C3-715F-E492-2CB4-A509E4FD55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573FB2-A13A-406C-9449-DE1C38B6EF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4EC960-6424-37B5-F27D-974AE18EBD01}"/>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6" name="Footer Placeholder 5">
            <a:extLst>
              <a:ext uri="{FF2B5EF4-FFF2-40B4-BE49-F238E27FC236}">
                <a16:creationId xmlns:a16="http://schemas.microsoft.com/office/drawing/2014/main" id="{06B2FA54-01DC-E90F-BC55-A9959D5999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6026FB-8BA1-4D5C-0B0D-4F7C40E96A6B}"/>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2907843706"/>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4752-7AE2-1C16-3CC2-AA7878B35E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1454EA-9DED-8CC6-E75B-2829EAD79B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0FF0DB-78C3-B846-CBA0-95A7E264009F}"/>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5" name="Footer Placeholder 4">
            <a:extLst>
              <a:ext uri="{FF2B5EF4-FFF2-40B4-BE49-F238E27FC236}">
                <a16:creationId xmlns:a16="http://schemas.microsoft.com/office/drawing/2014/main" id="{37BE0141-CC2C-8DE3-64E1-B40136FBA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C7387-9BB3-9B96-BDF1-39B750DD8ED7}"/>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544191240"/>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E63C59-3A32-329B-D7F3-393238928B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3E8A22-0574-B24C-1980-BC19557093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250FE-60AA-4325-8A5D-90C996B621DA}"/>
              </a:ext>
            </a:extLst>
          </p:cNvPr>
          <p:cNvSpPr>
            <a:spLocks noGrp="1"/>
          </p:cNvSpPr>
          <p:nvPr>
            <p:ph type="dt" sz="half" idx="10"/>
          </p:nvPr>
        </p:nvSpPr>
        <p:spPr/>
        <p:txBody>
          <a:bodyPr/>
          <a:lstStyle/>
          <a:p>
            <a:fld id="{FAEADE9C-CBC8-43C5-B2C8-8AEDC0DC1CEC}" type="datetimeFigureOut">
              <a:rPr lang="en-US" smtClean="0"/>
              <a:t>4/30/2026</a:t>
            </a:fld>
            <a:endParaRPr lang="en-US"/>
          </a:p>
        </p:txBody>
      </p:sp>
      <p:sp>
        <p:nvSpPr>
          <p:cNvPr id="5" name="Footer Placeholder 4">
            <a:extLst>
              <a:ext uri="{FF2B5EF4-FFF2-40B4-BE49-F238E27FC236}">
                <a16:creationId xmlns:a16="http://schemas.microsoft.com/office/drawing/2014/main" id="{F68E0AA0-5E02-8FF8-8930-507AF4176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87108-E812-37A4-EDF5-4E6B893D8B2E}"/>
              </a:ext>
            </a:extLst>
          </p:cNvPr>
          <p:cNvSpPr>
            <a:spLocks noGrp="1"/>
          </p:cNvSpPr>
          <p:nvPr>
            <p:ph type="sldNum" sz="quarter" idx="12"/>
          </p:nvPr>
        </p:nvSpPr>
        <p:spPr/>
        <p:txBody>
          <a:bodyPr/>
          <a:lstStyle/>
          <a:p>
            <a:fld id="{EB500967-DDDA-4C6C-B6ED-DBCE2D7ED3C7}" type="slidenum">
              <a:rPr lang="en-US" smtClean="0"/>
              <a:t>‹#›</a:t>
            </a:fld>
            <a:endParaRPr lang="en-US"/>
          </a:p>
        </p:txBody>
      </p:sp>
    </p:spTree>
    <p:extLst>
      <p:ext uri="{BB962C8B-B14F-4D97-AF65-F5344CB8AC3E}">
        <p14:creationId xmlns:p14="http://schemas.microsoft.com/office/powerpoint/2010/main" val="2445432883"/>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F108E4-760A-7E61-4DFC-C8CFF21670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0999DA-5E3F-948A-FE42-ED174981C4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7A59F-8DD2-20D3-9455-3D1D7579EA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EADE9C-CBC8-43C5-B2C8-8AEDC0DC1CEC}" type="datetimeFigureOut">
              <a:rPr lang="en-US" smtClean="0"/>
              <a:t>4/30/2026</a:t>
            </a:fld>
            <a:endParaRPr lang="en-US"/>
          </a:p>
        </p:txBody>
      </p:sp>
      <p:sp>
        <p:nvSpPr>
          <p:cNvPr id="5" name="Footer Placeholder 4">
            <a:extLst>
              <a:ext uri="{FF2B5EF4-FFF2-40B4-BE49-F238E27FC236}">
                <a16:creationId xmlns:a16="http://schemas.microsoft.com/office/drawing/2014/main" id="{E1D8D401-7E25-BEB5-A483-A3AB7D821B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3D63F3-2137-EE76-7449-FA1483C144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500967-DDDA-4C6C-B6ED-DBCE2D7ED3C7}" type="slidenum">
              <a:rPr lang="en-US" smtClean="0"/>
              <a:t>‹#›</a:t>
            </a:fld>
            <a:endParaRPr lang="en-US"/>
          </a:p>
        </p:txBody>
      </p:sp>
    </p:spTree>
    <p:extLst>
      <p:ext uri="{BB962C8B-B14F-4D97-AF65-F5344CB8AC3E}">
        <p14:creationId xmlns:p14="http://schemas.microsoft.com/office/powerpoint/2010/main" val="2447090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randomBar dir="ver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xml"/><Relationship Id="rId7" Type="http://schemas.openxmlformats.org/officeDocument/2006/relationships/hyperlink" Target="https://friendsoftheunsheltered.org/" TargetMode="Externa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jpeg"/><Relationship Id="rId5" Type="http://schemas.openxmlformats.org/officeDocument/2006/relationships/hyperlink" Target="https://www.calhealthreport.org/2018/08/22/roadmap-ending-homelessness-silicon-valley/" TargetMode="Externa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hyperlink" Target="https://racism.org/articles/basic-needs/propertyland/301-housing/10964-asian-americans-for" TargetMode="External"/><Relationship Id="rId3" Type="http://schemas.openxmlformats.org/officeDocument/2006/relationships/slideLayout" Target="../slideLayouts/slideLayout2.xml"/><Relationship Id="rId7" Type="http://schemas.openxmlformats.org/officeDocument/2006/relationships/image" Target="../media/image5.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hyperlink" Target="https://egad.engineering.queensu.ca/?page_id=2913" TargetMode="External"/><Relationship Id="rId5" Type="http://schemas.openxmlformats.org/officeDocument/2006/relationships/image" Target="../media/image4.png"/><Relationship Id="rId4" Type="http://schemas.openxmlformats.org/officeDocument/2006/relationships/notesSlide" Target="../notesSlides/notesSlide1.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hyperlink" Target="https://www.flickr.com/photos/horrigans/2475347313/" TargetMode="External"/><Relationship Id="rId3" Type="http://schemas.openxmlformats.org/officeDocument/2006/relationships/image" Target="../media/image7.pn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flickr.com/photos/tocaboca/30389368283" TargetMode="External"/><Relationship Id="rId5" Type="http://schemas.openxmlformats.org/officeDocument/2006/relationships/image" Target="../media/image8.jpeg"/><Relationship Id="rId4" Type="http://schemas.openxmlformats.org/officeDocument/2006/relationships/hyperlink" Target="https://www.wikidoc.org/index.php/Chronic_stable_angina_differential_diagnosis"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ednc.org/hud-report-reveals-homelessness-hit-an-all-time-peak-in-2024/" TargetMode="External"/><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researchoutreach.org/articles/behavioural-sciences/homelessness-western-society-the-dark-side-of-the-moon/" TargetMode="External"/><Relationship Id="rId5" Type="http://schemas.openxmlformats.org/officeDocument/2006/relationships/image" Target="../media/image11.jpeg"/><Relationship Id="rId10" Type="http://schemas.openxmlformats.org/officeDocument/2006/relationships/hyperlink" Target="https://www.publicdomainpictures.net/en/view-image.php?image=313031&amp;picture=homeless-kurt" TargetMode="External"/><Relationship Id="rId4" Type="http://schemas.openxmlformats.org/officeDocument/2006/relationships/hyperlink" Target="https://dailyyonder.com/report-homelessness-in-rural-increased-from-2020-to-2022/2023/02/21/" TargetMode="External"/><Relationship Id="rId9"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mmajunkie.usatoday.com/story/news/nation/california/2024/12/27/how-many-people-were-homeless-in-the-us-in-2024-and-in-california/77263512007/" TargetMode="External"/><Relationship Id="rId5" Type="http://schemas.openxmlformats.org/officeDocument/2006/relationships/image" Target="../media/image15.jpeg"/><Relationship Id="rId4" Type="http://schemas.openxmlformats.org/officeDocument/2006/relationships/hyperlink" Target="https://eewiki.newint.org/index.php/QUIZ_-_HOMELESSNESS" TargetMode="Externa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hyperlink" Target="https://www.northcarolinahealthnews.org/2021/07/16/covid-19-creates-additional-challenges-for-those-leaving-incarceration-in-nc/" TargetMode="External"/><Relationship Id="rId5" Type="http://schemas.openxmlformats.org/officeDocument/2006/relationships/diagramQuickStyle" Target="../diagrams/quickStyle2.xml"/><Relationship Id="rId10" Type="http://schemas.openxmlformats.org/officeDocument/2006/relationships/image" Target="../media/image19.jpeg"/><Relationship Id="rId4" Type="http://schemas.openxmlformats.org/officeDocument/2006/relationships/diagramLayout" Target="../diagrams/layout2.xml"/><Relationship Id="rId9" Type="http://schemas.openxmlformats.org/officeDocument/2006/relationships/hyperlink" Target="https://www.frontiersin.org/articles/10.3389/fpubh.2020.00406/full" TargetMode="Externa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hyperlink" Target="https://libreshot.com/homeless-in-the-park/" TargetMode="External"/><Relationship Id="rId3" Type="http://schemas.openxmlformats.org/officeDocument/2006/relationships/image" Target="../media/image20.jpeg"/><Relationship Id="rId7" Type="http://schemas.openxmlformats.org/officeDocument/2006/relationships/diagramQuickStyle" Target="../diagrams/quickStyle3.xml"/><Relationship Id="rId12"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Layout" Target="../diagrams/layout3.xml"/><Relationship Id="rId11" Type="http://schemas.openxmlformats.org/officeDocument/2006/relationships/hyperlink" Target="https://sfb.nathanpachal.com/2017/05/a-new-framework-to-preventing.html" TargetMode="External"/><Relationship Id="rId5" Type="http://schemas.openxmlformats.org/officeDocument/2006/relationships/diagramData" Target="../diagrams/data3.xml"/><Relationship Id="rId10" Type="http://schemas.openxmlformats.org/officeDocument/2006/relationships/image" Target="../media/image21.jpeg"/><Relationship Id="rId4" Type="http://schemas.openxmlformats.org/officeDocument/2006/relationships/hyperlink" Target="https://evilleeye.com/news-commentary/politics/sf-homeless-project-can-oaklands-compassionate-communities-program-serve-model-others/" TargetMode="External"/><Relationship Id="rId9" Type="http://schemas.microsoft.com/office/2007/relationships/diagramDrawing" Target="../diagrams/drawing3.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picpedia.org/chalkboard/c/communication.html" TargetMode="External"/><Relationship Id="rId5" Type="http://schemas.openxmlformats.org/officeDocument/2006/relationships/image" Target="../media/image24.jpeg"/><Relationship Id="rId4" Type="http://schemas.openxmlformats.org/officeDocument/2006/relationships/hyperlink" Target="https://researchoutreach.org/articles/what-team-communication-can-tell-us-about-team-effectiveness/" TargetMode="Externa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jpeg"/><Relationship Id="rId7" Type="http://schemas.openxmlformats.org/officeDocument/2006/relationships/hyperlink" Target="https://localwiki.org/fayettevillenc/Fort_Brag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hyperlink" Target="https://ggwash.org/view/40800/breakfast-links-gimme-shelter"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3.png"/><Relationship Id="rId7" Type="http://schemas.openxmlformats.org/officeDocument/2006/relationships/diagramColors" Target="../diagrams/colors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1" name="Rectangle 220">
            <a:extLst>
              <a:ext uri="{FF2B5EF4-FFF2-40B4-BE49-F238E27FC236}">
                <a16:creationId xmlns:a16="http://schemas.microsoft.com/office/drawing/2014/main" id="{4D313860-A922-4FA4-B5E2-E8871F105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4BFFB3-E4CF-F15E-56C1-20097DEE9ABB}"/>
              </a:ext>
            </a:extLst>
          </p:cNvPr>
          <p:cNvSpPr>
            <a:spLocks noGrp="1"/>
          </p:cNvSpPr>
          <p:nvPr>
            <p:ph type="ctrTitle"/>
          </p:nvPr>
        </p:nvSpPr>
        <p:spPr>
          <a:xfrm>
            <a:off x="643466" y="753626"/>
            <a:ext cx="5334930" cy="3004145"/>
          </a:xfrm>
        </p:spPr>
        <p:txBody>
          <a:bodyPr>
            <a:normAutofit/>
          </a:bodyPr>
          <a:lstStyle/>
          <a:p>
            <a:r>
              <a:rPr lang="en-US" sz="4200"/>
              <a:t>Marketing and Customer Analytics in Housing for Individuals Experiencing Homelessness</a:t>
            </a:r>
          </a:p>
        </p:txBody>
      </p:sp>
      <p:sp>
        <p:nvSpPr>
          <p:cNvPr id="3" name="Subtitle 2">
            <a:extLst>
              <a:ext uri="{FF2B5EF4-FFF2-40B4-BE49-F238E27FC236}">
                <a16:creationId xmlns:a16="http://schemas.microsoft.com/office/drawing/2014/main" id="{126C631C-B47C-6E95-0F2F-9D8DF28FE0C6}"/>
              </a:ext>
            </a:extLst>
          </p:cNvPr>
          <p:cNvSpPr>
            <a:spLocks noGrp="1"/>
          </p:cNvSpPr>
          <p:nvPr>
            <p:ph type="subTitle" idx="1"/>
          </p:nvPr>
        </p:nvSpPr>
        <p:spPr>
          <a:xfrm>
            <a:off x="643465" y="3849845"/>
            <a:ext cx="5334931" cy="2189214"/>
          </a:xfrm>
        </p:spPr>
        <p:txBody>
          <a:bodyPr vert="horz" lIns="91440" tIns="45720" rIns="91440" bIns="45720" rtlCol="0" anchor="t">
            <a:normAutofit/>
          </a:bodyPr>
          <a:lstStyle/>
          <a:p>
            <a:r>
              <a:rPr lang="en-US"/>
              <a:t>By: Mercy D Harris, Zariana R Mobley and Braeden S Baker</a:t>
            </a:r>
          </a:p>
        </p:txBody>
      </p:sp>
      <p:sp>
        <p:nvSpPr>
          <p:cNvPr id="223" name="Oval 222">
            <a:extLst>
              <a:ext uri="{FF2B5EF4-FFF2-40B4-BE49-F238E27FC236}">
                <a16:creationId xmlns:a16="http://schemas.microsoft.com/office/drawing/2014/main" id="{6FD0FBFA-B43E-40C1-A6E4-B88234171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4341" y="1164128"/>
            <a:ext cx="569514" cy="569514"/>
          </a:xfrm>
          <a:prstGeom prst="ellipse">
            <a:avLst/>
          </a:prstGeom>
          <a:noFill/>
          <a:ln w="1016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Freeform: Shape 224">
            <a:extLst>
              <a:ext uri="{FF2B5EF4-FFF2-40B4-BE49-F238E27FC236}">
                <a16:creationId xmlns:a16="http://schemas.microsoft.com/office/drawing/2014/main" id="{499ACE06-2742-4366-B8DD-B1D27F4F3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42879" y="0"/>
            <a:ext cx="2123415" cy="1422481"/>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75E40F55-3EED-4C62-9146-AFA39F2BC94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9357" r="13893"/>
          <a:stretch>
            <a:fillRect/>
          </a:stretch>
        </p:blipFill>
        <p:spPr>
          <a:xfrm>
            <a:off x="6610266" y="2150583"/>
            <a:ext cx="3240592" cy="3240592"/>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pic>
        <p:nvPicPr>
          <p:cNvPr id="5" name="Picture 4">
            <a:extLst>
              <a:ext uri="{FF2B5EF4-FFF2-40B4-BE49-F238E27FC236}">
                <a16:creationId xmlns:a16="http://schemas.microsoft.com/office/drawing/2014/main" id="{CDFBE856-1528-623C-853C-909F3CB642BB}"/>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6250" r="10723" b="4"/>
          <a:stretch>
            <a:fillRect/>
          </a:stretch>
        </p:blipFill>
        <p:spPr>
          <a:xfrm>
            <a:off x="9490670" y="10"/>
            <a:ext cx="2701330" cy="2860786"/>
          </a:xfrm>
          <a:custGeom>
            <a:avLst/>
            <a:gdLst/>
            <a:ahLst/>
            <a:cxnLst/>
            <a:rect l="l" t="t" r="r" b="b"/>
            <a:pathLst>
              <a:path w="2701330" h="2860796">
                <a:moveTo>
                  <a:pt x="1381637" y="0"/>
                </a:moveTo>
                <a:lnTo>
                  <a:pt x="1481685" y="0"/>
                </a:lnTo>
                <a:lnTo>
                  <a:pt x="1578040" y="4866"/>
                </a:lnTo>
                <a:cubicBezTo>
                  <a:pt x="2059323" y="53742"/>
                  <a:pt x="2470132" y="341007"/>
                  <a:pt x="2690528" y="746720"/>
                </a:cubicBezTo>
                <a:lnTo>
                  <a:pt x="2701330" y="769143"/>
                </a:lnTo>
                <a:lnTo>
                  <a:pt x="2701330" y="2089127"/>
                </a:lnTo>
                <a:lnTo>
                  <a:pt x="2690528" y="2111550"/>
                </a:lnTo>
                <a:cubicBezTo>
                  <a:pt x="2448092" y="2557835"/>
                  <a:pt x="1975257" y="2860796"/>
                  <a:pt x="1431661" y="2860796"/>
                </a:cubicBezTo>
                <a:cubicBezTo>
                  <a:pt x="640976" y="2860796"/>
                  <a:pt x="0" y="2219820"/>
                  <a:pt x="0" y="1429135"/>
                </a:cubicBezTo>
                <a:cubicBezTo>
                  <a:pt x="0" y="687868"/>
                  <a:pt x="563358" y="78181"/>
                  <a:pt x="1285282" y="4866"/>
                </a:cubicBezTo>
                <a:close/>
              </a:path>
            </a:pathLst>
          </a:custGeom>
        </p:spPr>
      </p:pic>
      <p:cxnSp>
        <p:nvCxnSpPr>
          <p:cNvPr id="227" name="Straight Connector 226">
            <a:extLst>
              <a:ext uri="{FF2B5EF4-FFF2-40B4-BE49-F238E27FC236}">
                <a16:creationId xmlns:a16="http://schemas.microsoft.com/office/drawing/2014/main" id="{A054EDF5-7644-4A95-AB88-057FAB414F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05035" y="3681981"/>
            <a:ext cx="0" cy="1597708"/>
          </a:xfrm>
          <a:prstGeom prst="line">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cxnSp>
      <p:sp>
        <p:nvSpPr>
          <p:cNvPr id="229" name="Freeform: Shape 228">
            <a:extLst>
              <a:ext uri="{FF2B5EF4-FFF2-40B4-BE49-F238E27FC236}">
                <a16:creationId xmlns:a16="http://schemas.microsoft.com/office/drawing/2014/main" id="{6802AE7A-B0C7-496D-940B-0E6C6ECC2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29646" y="3416839"/>
            <a:ext cx="662355" cy="1616463"/>
          </a:xfrm>
          <a:custGeom>
            <a:avLst/>
            <a:gdLst>
              <a:gd name="connsiteX0" fmla="*/ 662355 w 662355"/>
              <a:gd name="connsiteY0" fmla="*/ 0 h 1616463"/>
              <a:gd name="connsiteX1" fmla="*/ 662355 w 662355"/>
              <a:gd name="connsiteY1" fmla="*/ 1616463 h 1616463"/>
              <a:gd name="connsiteX2" fmla="*/ 658212 w 662355"/>
              <a:gd name="connsiteY2" fmla="*/ 1615830 h 1616463"/>
              <a:gd name="connsiteX3" fmla="*/ 0 w 662355"/>
              <a:gd name="connsiteY3" fmla="*/ 808231 h 1616463"/>
              <a:gd name="connsiteX4" fmla="*/ 658212 w 662355"/>
              <a:gd name="connsiteY4" fmla="*/ 632 h 1616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355" h="1616463">
                <a:moveTo>
                  <a:pt x="662355" y="0"/>
                </a:moveTo>
                <a:lnTo>
                  <a:pt x="662355" y="1616463"/>
                </a:lnTo>
                <a:lnTo>
                  <a:pt x="658212" y="1615830"/>
                </a:lnTo>
                <a:cubicBezTo>
                  <a:pt x="282572" y="1538963"/>
                  <a:pt x="0" y="1206596"/>
                  <a:pt x="0" y="808231"/>
                </a:cubicBezTo>
                <a:cubicBezTo>
                  <a:pt x="0" y="409866"/>
                  <a:pt x="282572" y="77499"/>
                  <a:pt x="658212" y="632"/>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1" name="Freeform: Shape 230">
            <a:extLst>
              <a:ext uri="{FF2B5EF4-FFF2-40B4-BE49-F238E27FC236}">
                <a16:creationId xmlns:a16="http://schemas.microsoft.com/office/drawing/2014/main" id="{22DD1B47-C36B-4A09-A1B5-80A512623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29646" y="3416839"/>
            <a:ext cx="662355" cy="1616463"/>
          </a:xfrm>
          <a:custGeom>
            <a:avLst/>
            <a:gdLst>
              <a:gd name="connsiteX0" fmla="*/ 662355 w 662355"/>
              <a:gd name="connsiteY0" fmla="*/ 0 h 1616463"/>
              <a:gd name="connsiteX1" fmla="*/ 662355 w 662355"/>
              <a:gd name="connsiteY1" fmla="*/ 1616463 h 1616463"/>
              <a:gd name="connsiteX2" fmla="*/ 658212 w 662355"/>
              <a:gd name="connsiteY2" fmla="*/ 1615830 h 1616463"/>
              <a:gd name="connsiteX3" fmla="*/ 0 w 662355"/>
              <a:gd name="connsiteY3" fmla="*/ 808231 h 1616463"/>
              <a:gd name="connsiteX4" fmla="*/ 658212 w 662355"/>
              <a:gd name="connsiteY4" fmla="*/ 632 h 1616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355" h="1616463">
                <a:moveTo>
                  <a:pt x="662355" y="0"/>
                </a:moveTo>
                <a:lnTo>
                  <a:pt x="662355" y="1616463"/>
                </a:lnTo>
                <a:lnTo>
                  <a:pt x="658212" y="1615830"/>
                </a:lnTo>
                <a:cubicBezTo>
                  <a:pt x="282572" y="1538963"/>
                  <a:pt x="0" y="1206596"/>
                  <a:pt x="0" y="808231"/>
                </a:cubicBezTo>
                <a:cubicBezTo>
                  <a:pt x="0" y="409866"/>
                  <a:pt x="282572" y="77499"/>
                  <a:pt x="658212" y="632"/>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3" name="Freeform: Shape 232">
            <a:extLst>
              <a:ext uri="{FF2B5EF4-FFF2-40B4-BE49-F238E27FC236}">
                <a16:creationId xmlns:a16="http://schemas.microsoft.com/office/drawing/2014/main" id="{7ECD5C35-80E8-449F-8C7F-64975DE63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42879" y="6306952"/>
            <a:ext cx="1454378" cy="551049"/>
          </a:xfrm>
          <a:custGeom>
            <a:avLst/>
            <a:gdLst>
              <a:gd name="connsiteX0" fmla="*/ 780476 w 1560952"/>
              <a:gd name="connsiteY0" fmla="*/ 0 h 591429"/>
              <a:gd name="connsiteX1" fmla="*/ 1525548 w 1560952"/>
              <a:gd name="connsiteY1" fmla="*/ 480469 h 591429"/>
              <a:gd name="connsiteX2" fmla="*/ 1560952 w 1560952"/>
              <a:gd name="connsiteY2" fmla="*/ 591429 h 591429"/>
              <a:gd name="connsiteX3" fmla="*/ 0 w 1560952"/>
              <a:gd name="connsiteY3" fmla="*/ 591429 h 591429"/>
              <a:gd name="connsiteX4" fmla="*/ 35404 w 1560952"/>
              <a:gd name="connsiteY4" fmla="*/ 480469 h 591429"/>
              <a:gd name="connsiteX5" fmla="*/ 780476 w 1560952"/>
              <a:gd name="connsiteY5" fmla="*/ 0 h 59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952" h="591429">
                <a:moveTo>
                  <a:pt x="780476" y="0"/>
                </a:moveTo>
                <a:cubicBezTo>
                  <a:pt x="1115417" y="0"/>
                  <a:pt x="1402793" y="198118"/>
                  <a:pt x="1525548" y="480469"/>
                </a:cubicBezTo>
                <a:lnTo>
                  <a:pt x="1560952" y="591429"/>
                </a:lnTo>
                <a:lnTo>
                  <a:pt x="0" y="591429"/>
                </a:lnTo>
                <a:lnTo>
                  <a:pt x="35404" y="480469"/>
                </a:lnTo>
                <a:cubicBezTo>
                  <a:pt x="158159" y="198118"/>
                  <a:pt x="445536" y="0"/>
                  <a:pt x="7804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5" name="Freeform: Shape 234">
            <a:extLst>
              <a:ext uri="{FF2B5EF4-FFF2-40B4-BE49-F238E27FC236}">
                <a16:creationId xmlns:a16="http://schemas.microsoft.com/office/drawing/2014/main" id="{B998F233-1684-4EF1-9F9C-0F8EA27B0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261598">
            <a:off x="6908614" y="5665643"/>
            <a:ext cx="1780023" cy="1237913"/>
          </a:xfrm>
          <a:custGeom>
            <a:avLst/>
            <a:gdLst>
              <a:gd name="connsiteX0" fmla="*/ 1585229 w 1780023"/>
              <a:gd name="connsiteY0" fmla="*/ 764759 h 1237913"/>
              <a:gd name="connsiteX1" fmla="*/ 1623024 w 1780023"/>
              <a:gd name="connsiteY1" fmla="*/ 792810 h 1237913"/>
              <a:gd name="connsiteX2" fmla="*/ 1777614 w 1780023"/>
              <a:gd name="connsiteY2" fmla="*/ 1157141 h 1237913"/>
              <a:gd name="connsiteX3" fmla="*/ 1733799 w 1780023"/>
              <a:gd name="connsiteY3" fmla="*/ 1235532 h 1237913"/>
              <a:gd name="connsiteX4" fmla="*/ 1716464 w 1780023"/>
              <a:gd name="connsiteY4" fmla="*/ 1237722 h 1237913"/>
              <a:gd name="connsiteX5" fmla="*/ 1716464 w 1780023"/>
              <a:gd name="connsiteY5" fmla="*/ 1237913 h 1237913"/>
              <a:gd name="connsiteX6" fmla="*/ 1655409 w 1780023"/>
              <a:gd name="connsiteY6" fmla="*/ 1191717 h 1237913"/>
              <a:gd name="connsiteX7" fmla="*/ 1513200 w 1780023"/>
              <a:gd name="connsiteY7" fmla="*/ 856627 h 1237913"/>
              <a:gd name="connsiteX8" fmla="*/ 1538499 w 1780023"/>
              <a:gd name="connsiteY8" fmla="*/ 770415 h 1237913"/>
              <a:gd name="connsiteX9" fmla="*/ 1585229 w 1780023"/>
              <a:gd name="connsiteY9" fmla="*/ 764759 h 1237913"/>
              <a:gd name="connsiteX10" fmla="*/ 933455 w 1780023"/>
              <a:gd name="connsiteY10" fmla="*/ 161308 h 1237913"/>
              <a:gd name="connsiteX11" fmla="*/ 957797 w 1780023"/>
              <a:gd name="connsiteY11" fmla="*/ 167970 h 1237913"/>
              <a:gd name="connsiteX12" fmla="*/ 1286982 w 1780023"/>
              <a:gd name="connsiteY12" fmla="*/ 387616 h 1237913"/>
              <a:gd name="connsiteX13" fmla="*/ 1293725 w 1780023"/>
              <a:gd name="connsiteY13" fmla="*/ 477075 h 1237913"/>
              <a:gd name="connsiteX14" fmla="*/ 1245453 w 1780023"/>
              <a:gd name="connsiteY14" fmla="*/ 499154 h 1237913"/>
              <a:gd name="connsiteX15" fmla="*/ 1245167 w 1780023"/>
              <a:gd name="connsiteY15" fmla="*/ 499154 h 1237913"/>
              <a:gd name="connsiteX16" fmla="*/ 1203638 w 1780023"/>
              <a:gd name="connsiteY16" fmla="*/ 484104 h 1237913"/>
              <a:gd name="connsiteX17" fmla="*/ 900647 w 1780023"/>
              <a:gd name="connsiteY17" fmla="*/ 281508 h 1237913"/>
              <a:gd name="connsiteX18" fmla="*/ 872454 w 1780023"/>
              <a:gd name="connsiteY18" fmla="*/ 196164 h 1237913"/>
              <a:gd name="connsiteX19" fmla="*/ 933455 w 1780023"/>
              <a:gd name="connsiteY19" fmla="*/ 161308 h 1237913"/>
              <a:gd name="connsiteX20" fmla="*/ 454020 w 1780023"/>
              <a:gd name="connsiteY20" fmla="*/ 13474 h 1237913"/>
              <a:gd name="connsiteX21" fmla="*/ 477919 w 1780023"/>
              <a:gd name="connsiteY21" fmla="*/ 21437 h 1237913"/>
              <a:gd name="connsiteX22" fmla="*/ 509236 w 1780023"/>
              <a:gd name="connsiteY22" fmla="*/ 84182 h 1237913"/>
              <a:gd name="connsiteX23" fmla="*/ 445829 w 1780023"/>
              <a:gd name="connsiteY23" fmla="*/ 139871 h 1237913"/>
              <a:gd name="connsiteX24" fmla="*/ 437447 w 1780023"/>
              <a:gd name="connsiteY24" fmla="*/ 139395 h 1237913"/>
              <a:gd name="connsiteX25" fmla="*/ 73211 w 1780023"/>
              <a:gd name="connsiteY25" fmla="*/ 137204 h 1237913"/>
              <a:gd name="connsiteX26" fmla="*/ 749 w 1780023"/>
              <a:gd name="connsiteY26" fmla="*/ 84082 h 1237913"/>
              <a:gd name="connsiteX27" fmla="*/ 53871 w 1780023"/>
              <a:gd name="connsiteY27" fmla="*/ 11621 h 1237913"/>
              <a:gd name="connsiteX28" fmla="*/ 58352 w 1780023"/>
              <a:gd name="connsiteY28" fmla="*/ 11093 h 1237913"/>
              <a:gd name="connsiteX29" fmla="*/ 454020 w 1780023"/>
              <a:gd name="connsiteY29" fmla="*/ 13474 h 1237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0023" h="1237913">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933455" y="161308"/>
                </a:moveTo>
                <a:cubicBezTo>
                  <a:pt x="941692" y="161854"/>
                  <a:pt x="949959" y="164024"/>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49"/>
                  <a:pt x="908742" y="159670"/>
                  <a:pt x="933455" y="161308"/>
                </a:cubicBezTo>
                <a:close/>
                <a:moveTo>
                  <a:pt x="454020" y="13474"/>
                </a:moveTo>
                <a:cubicBezTo>
                  <a:pt x="462713" y="14543"/>
                  <a:pt x="470778" y="17324"/>
                  <a:pt x="477919" y="21437"/>
                </a:cubicBez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lose/>
              </a:path>
            </a:pathLst>
          </a:custGeom>
          <a:solidFill>
            <a:schemeClr val="accent4"/>
          </a:solidFill>
          <a:ln w="9525" cap="flat">
            <a:noFill/>
            <a:prstDash val="solid"/>
            <a:miter/>
          </a:ln>
        </p:spPr>
        <p:txBody>
          <a:bodyPr wrap="square" rtlCol="0" anchor="ctr">
            <a:noAutofit/>
          </a:bodyPr>
          <a:lstStyle/>
          <a:p>
            <a:endParaRPr lang="en-US"/>
          </a:p>
        </p:txBody>
      </p:sp>
      <p:sp>
        <p:nvSpPr>
          <p:cNvPr id="237" name="Freeform: Shape 236">
            <a:extLst>
              <a:ext uri="{FF2B5EF4-FFF2-40B4-BE49-F238E27FC236}">
                <a16:creationId xmlns:a16="http://schemas.microsoft.com/office/drawing/2014/main" id="{1A4A4089-D056-4220-9E48-9C1A6B506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358" y="5835650"/>
            <a:ext cx="2358642" cy="1022351"/>
          </a:xfrm>
          <a:custGeom>
            <a:avLst/>
            <a:gdLst>
              <a:gd name="connsiteX0" fmla="*/ 61913 w 2358642"/>
              <a:gd name="connsiteY0" fmla="*/ 0 h 1022351"/>
              <a:gd name="connsiteX1" fmla="*/ 2358642 w 2358642"/>
              <a:gd name="connsiteY1" fmla="*/ 0 h 1022351"/>
              <a:gd name="connsiteX2" fmla="*/ 2358642 w 2358642"/>
              <a:gd name="connsiteY2" fmla="*/ 123825 h 1022351"/>
              <a:gd name="connsiteX3" fmla="*/ 123825 w 2358642"/>
              <a:gd name="connsiteY3" fmla="*/ 123825 h 1022351"/>
              <a:gd name="connsiteX4" fmla="*/ 123825 w 2358642"/>
              <a:gd name="connsiteY4" fmla="*/ 1022351 h 1022351"/>
              <a:gd name="connsiteX5" fmla="*/ 0 w 2358642"/>
              <a:gd name="connsiteY5" fmla="*/ 1022351 h 1022351"/>
              <a:gd name="connsiteX6" fmla="*/ 0 w 2358642"/>
              <a:gd name="connsiteY6" fmla="*/ 61913 h 1022351"/>
              <a:gd name="connsiteX7" fmla="*/ 61913 w 2358642"/>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8642" h="1022351">
                <a:moveTo>
                  <a:pt x="61913" y="0"/>
                </a:moveTo>
                <a:lnTo>
                  <a:pt x="2358642" y="0"/>
                </a:lnTo>
                <a:lnTo>
                  <a:pt x="2358642"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10" name="Video 9">
            <a:hlinkClick r:id="" action="ppaction://media"/>
            <a:extLst>
              <a:ext uri="{FF2B5EF4-FFF2-40B4-BE49-F238E27FC236}">
                <a16:creationId xmlns:a16="http://schemas.microsoft.com/office/drawing/2014/main" id="{32192220-5A70-A32C-C86E-BE38C90CB7F8}"/>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8"/>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938878602"/>
      </p:ext>
    </p:extLst>
  </p:cSld>
  <p:clrMapOvr>
    <a:masterClrMapping/>
  </p:clrMapOvr>
  <p:transition spd="slow" advTm="18607">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1" name="Rectangle 20">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9924F7-8D4B-031E-0726-924223F8F515}"/>
              </a:ext>
            </a:extLst>
          </p:cNvPr>
          <p:cNvSpPr>
            <a:spLocks noGrp="1"/>
          </p:cNvSpPr>
          <p:nvPr>
            <p:ph type="title"/>
          </p:nvPr>
        </p:nvSpPr>
        <p:spPr>
          <a:xfrm>
            <a:off x="1057025" y="922644"/>
            <a:ext cx="5040285" cy="1169585"/>
          </a:xfrm>
        </p:spPr>
        <p:txBody>
          <a:bodyPr anchor="b">
            <a:normAutofit/>
          </a:bodyPr>
          <a:lstStyle/>
          <a:p>
            <a:r>
              <a:rPr lang="en-US" sz="3700"/>
              <a:t>Introduction / Project Overview</a:t>
            </a:r>
          </a:p>
        </p:txBody>
      </p:sp>
      <p:sp>
        <p:nvSpPr>
          <p:cNvPr id="22" name="Rectangle 2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E080DB1-81FA-9307-7C18-E8E4EF609379}"/>
              </a:ext>
            </a:extLst>
          </p:cNvPr>
          <p:cNvSpPr>
            <a:spLocks noGrp="1"/>
          </p:cNvSpPr>
          <p:nvPr>
            <p:ph idx="1"/>
          </p:nvPr>
        </p:nvSpPr>
        <p:spPr>
          <a:xfrm>
            <a:off x="1055715" y="2508105"/>
            <a:ext cx="5040285" cy="3632493"/>
          </a:xfrm>
        </p:spPr>
        <p:txBody>
          <a:bodyPr anchor="ctr">
            <a:normAutofit/>
          </a:bodyPr>
          <a:lstStyle/>
          <a:p>
            <a:r>
              <a:rPr lang="en-US" sz="2000"/>
              <a:t>Focus: Apply customer analytics to improve housing outreach </a:t>
            </a:r>
          </a:p>
          <a:p>
            <a:r>
              <a:rPr lang="en-US" sz="2000"/>
              <a:t>Goal: Strengthen engagement, increase program participation, and support long‑term housing stability </a:t>
            </a:r>
          </a:p>
          <a:p>
            <a:r>
              <a:rPr lang="en-US" sz="2000"/>
              <a:t>Approach: Mixed‑methods analysis combining quantitative PIT data and qualitative interviews</a:t>
            </a:r>
          </a:p>
        </p:txBody>
      </p:sp>
      <p:pic>
        <p:nvPicPr>
          <p:cNvPr id="8" name="Picture 7">
            <a:extLst>
              <a:ext uri="{FF2B5EF4-FFF2-40B4-BE49-F238E27FC236}">
                <a16:creationId xmlns:a16="http://schemas.microsoft.com/office/drawing/2014/main" id="{F34BB545-852E-441A-4600-08D984453194}"/>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7148043" y="774285"/>
            <a:ext cx="3986368" cy="2581173"/>
          </a:xfrm>
          <a:prstGeom prst="rect">
            <a:avLst/>
          </a:prstGeom>
        </p:spPr>
      </p:pic>
      <p:pic>
        <p:nvPicPr>
          <p:cNvPr id="5" name="Picture 4">
            <a:extLst>
              <a:ext uri="{FF2B5EF4-FFF2-40B4-BE49-F238E27FC236}">
                <a16:creationId xmlns:a16="http://schemas.microsoft.com/office/drawing/2014/main" id="{E3F1C754-6076-61AF-ED6B-A0AEB4F523C0}"/>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946667" y="4295075"/>
            <a:ext cx="4389120" cy="1141171"/>
          </a:xfrm>
          <a:prstGeom prst="rect">
            <a:avLst/>
          </a:prstGeom>
        </p:spPr>
      </p:pic>
      <p:pic>
        <p:nvPicPr>
          <p:cNvPr id="11" name="Video 10">
            <a:hlinkClick r:id="" action="ppaction://media"/>
            <a:extLst>
              <a:ext uri="{FF2B5EF4-FFF2-40B4-BE49-F238E27FC236}">
                <a16:creationId xmlns:a16="http://schemas.microsoft.com/office/drawing/2014/main" id="{7CB4C9A7-071E-2F4D-9A11-6D7198C91B1C}"/>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9"/>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73569781"/>
      </p:ext>
    </p:extLst>
  </p:cSld>
  <p:clrMapOvr>
    <a:masterClrMapping/>
  </p:clrMapOvr>
  <p:transition spd="slow" advTm="34771">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tint">
            <a:extLst>
              <a:ext uri="{FF2B5EF4-FFF2-40B4-BE49-F238E27FC236}">
                <a16:creationId xmlns:a16="http://schemas.microsoft.com/office/drawing/2014/main" id="{BC84AE2F-44F4-4DB9-AA52-F1DF1D835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9D38F80-A0D0-4062-8B61-16440AC9D8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5999" cy="6858000"/>
          </a:xfrm>
          <a:prstGeom prst="rect">
            <a:avLst/>
          </a:prstGeom>
          <a:solidFill>
            <a:srgbClr val="FFFFFF"/>
          </a:solidFill>
          <a:ln>
            <a:noFill/>
          </a:ln>
          <a:effectLst>
            <a:outerShdw blurRad="635000" dist="254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a:extLst>
              <a:ext uri="{FF2B5EF4-FFF2-40B4-BE49-F238E27FC236}">
                <a16:creationId xmlns:a16="http://schemas.microsoft.com/office/drawing/2014/main" id="{90B6B893-A22E-3404-0752-819EE7049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80E315-5EB0-4A75-71DA-0B96FF332F75}"/>
              </a:ext>
            </a:extLst>
          </p:cNvPr>
          <p:cNvSpPr>
            <a:spLocks noGrp="1"/>
          </p:cNvSpPr>
          <p:nvPr>
            <p:ph type="title"/>
          </p:nvPr>
        </p:nvSpPr>
        <p:spPr>
          <a:xfrm>
            <a:off x="758952" y="312347"/>
            <a:ext cx="10591989" cy="1089805"/>
          </a:xfrm>
        </p:spPr>
        <p:txBody>
          <a:bodyPr>
            <a:normAutofit/>
          </a:bodyPr>
          <a:lstStyle/>
          <a:p>
            <a:r>
              <a:rPr lang="en-US" sz="4000"/>
              <a:t>Motivation</a:t>
            </a:r>
          </a:p>
        </p:txBody>
      </p:sp>
      <p:pic>
        <p:nvPicPr>
          <p:cNvPr id="8" name="Picture 7">
            <a:extLst>
              <a:ext uri="{FF2B5EF4-FFF2-40B4-BE49-F238E27FC236}">
                <a16:creationId xmlns:a16="http://schemas.microsoft.com/office/drawing/2014/main" id="{78D1DCD6-BC52-755D-296E-3EF84ED8453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6560" y="2459354"/>
            <a:ext cx="4673640" cy="1303970"/>
          </a:xfrm>
          <a:prstGeom prst="rect">
            <a:avLst/>
          </a:prstGeom>
        </p:spPr>
      </p:pic>
      <p:pic>
        <p:nvPicPr>
          <p:cNvPr id="11" name="Picture 10">
            <a:extLst>
              <a:ext uri="{FF2B5EF4-FFF2-40B4-BE49-F238E27FC236}">
                <a16:creationId xmlns:a16="http://schemas.microsoft.com/office/drawing/2014/main" id="{CCE1EA7A-79CF-C6E9-5275-4116CE5189C2}"/>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724619" y="4476765"/>
            <a:ext cx="2192677" cy="1548578"/>
          </a:xfrm>
          <a:prstGeom prst="rect">
            <a:avLst/>
          </a:prstGeom>
        </p:spPr>
      </p:pic>
      <p:pic>
        <p:nvPicPr>
          <p:cNvPr id="5" name="Picture 4">
            <a:extLst>
              <a:ext uri="{FF2B5EF4-FFF2-40B4-BE49-F238E27FC236}">
                <a16:creationId xmlns:a16="http://schemas.microsoft.com/office/drawing/2014/main" id="{D0CB8F59-A901-A27B-8B4E-7A804F2ECAD9}"/>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3194603" y="4532952"/>
            <a:ext cx="2192677" cy="1436203"/>
          </a:xfrm>
          <a:prstGeom prst="rect">
            <a:avLst/>
          </a:prstGeom>
        </p:spPr>
      </p:pic>
      <p:sp>
        <p:nvSpPr>
          <p:cNvPr id="3" name="Content Placeholder 2">
            <a:extLst>
              <a:ext uri="{FF2B5EF4-FFF2-40B4-BE49-F238E27FC236}">
                <a16:creationId xmlns:a16="http://schemas.microsoft.com/office/drawing/2014/main" id="{D376AEC6-2D39-7B61-1187-709F06A2EB0D}"/>
              </a:ext>
            </a:extLst>
          </p:cNvPr>
          <p:cNvSpPr>
            <a:spLocks noGrp="1"/>
          </p:cNvSpPr>
          <p:nvPr>
            <p:ph idx="1"/>
          </p:nvPr>
        </p:nvSpPr>
        <p:spPr>
          <a:xfrm>
            <a:off x="6680578" y="2248619"/>
            <a:ext cx="4673222" cy="3991460"/>
          </a:xfrm>
        </p:spPr>
        <p:txBody>
          <a:bodyPr anchor="ctr">
            <a:normAutofit/>
          </a:bodyPr>
          <a:lstStyle/>
          <a:p>
            <a:r>
              <a:rPr lang="en-US" sz="2000" dirty="0"/>
              <a:t>Homelessness remains a major social and economic challenge</a:t>
            </a:r>
          </a:p>
          <a:p>
            <a:r>
              <a:rPr lang="en-US" sz="2000" dirty="0"/>
              <a:t>Limited visibility into customer journey </a:t>
            </a:r>
          </a:p>
          <a:p>
            <a:r>
              <a:rPr lang="en-US" sz="2000" dirty="0"/>
              <a:t>Organizations cannot identify conversion bottlenecks</a:t>
            </a:r>
            <a:endParaRPr lang="en-US" dirty="0"/>
          </a:p>
          <a:p>
            <a:r>
              <a:rPr lang="en-US" sz="2000" dirty="0"/>
              <a:t>Need for innovative, measurable strategies to connect people with stable housing</a:t>
            </a:r>
          </a:p>
        </p:txBody>
      </p:sp>
    </p:spTree>
    <p:extLst>
      <p:ext uri="{BB962C8B-B14F-4D97-AF65-F5344CB8AC3E}">
        <p14:creationId xmlns:p14="http://schemas.microsoft.com/office/powerpoint/2010/main" val="3460214634"/>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113EC7C-368D-469A-9B5C-F3555B088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E1EB61B-529F-3F32-4719-6ABC1C09D96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1592" r="-2" b="-2"/>
          <a:stretch>
            <a:fillRect/>
          </a:stretch>
        </p:blipFill>
        <p:spPr>
          <a:xfrm>
            <a:off x="-3" y="2257425"/>
            <a:ext cx="4196274" cy="4600575"/>
          </a:xfrm>
          <a:custGeom>
            <a:avLst/>
            <a:gdLst/>
            <a:ahLst/>
            <a:cxnLst/>
            <a:rect l="l" t="t" r="r" b="b"/>
            <a:pathLst>
              <a:path w="4196274" h="4600575">
                <a:moveTo>
                  <a:pt x="698533" y="23"/>
                </a:moveTo>
                <a:cubicBezTo>
                  <a:pt x="1054085" y="-1460"/>
                  <a:pt x="2609539" y="68645"/>
                  <a:pt x="3265768" y="1088109"/>
                </a:cubicBezTo>
                <a:cubicBezTo>
                  <a:pt x="3279190" y="1093398"/>
                  <a:pt x="3294289" y="1107275"/>
                  <a:pt x="3298987" y="1120493"/>
                </a:cubicBezTo>
                <a:cubicBezTo>
                  <a:pt x="3321470" y="1182283"/>
                  <a:pt x="3376502" y="1209047"/>
                  <a:pt x="3426164" y="1242419"/>
                </a:cubicBezTo>
                <a:cubicBezTo>
                  <a:pt x="3469788" y="1271828"/>
                  <a:pt x="3516097" y="1302557"/>
                  <a:pt x="3534217" y="1352122"/>
                </a:cubicBezTo>
                <a:cubicBezTo>
                  <a:pt x="3558041" y="1418206"/>
                  <a:pt x="3490259" y="1364016"/>
                  <a:pt x="3477841" y="1389129"/>
                </a:cubicBezTo>
                <a:cubicBezTo>
                  <a:pt x="3503679" y="1423492"/>
                  <a:pt x="3543613" y="1454883"/>
                  <a:pt x="3554015" y="1493873"/>
                </a:cubicBezTo>
                <a:cubicBezTo>
                  <a:pt x="3591931" y="1634635"/>
                  <a:pt x="3673808" y="1737067"/>
                  <a:pt x="3796288" y="1816698"/>
                </a:cubicBezTo>
                <a:cubicBezTo>
                  <a:pt x="3831522" y="1839498"/>
                  <a:pt x="3854674" y="1881132"/>
                  <a:pt x="3902658" y="1887738"/>
                </a:cubicBezTo>
                <a:cubicBezTo>
                  <a:pt x="4009367" y="1902279"/>
                  <a:pt x="3975811" y="2015945"/>
                  <a:pt x="4032186" y="2066499"/>
                </a:cubicBezTo>
                <a:cubicBezTo>
                  <a:pt x="4042924" y="2076084"/>
                  <a:pt x="4052655" y="2094915"/>
                  <a:pt x="4050642" y="2107801"/>
                </a:cubicBezTo>
                <a:cubicBezTo>
                  <a:pt x="4047624" y="2126309"/>
                  <a:pt x="4034870" y="2143820"/>
                  <a:pt x="4024133" y="2160342"/>
                </a:cubicBezTo>
                <a:cubicBezTo>
                  <a:pt x="4013059" y="2176862"/>
                  <a:pt x="3996282" y="2191402"/>
                  <a:pt x="4004335" y="2213209"/>
                </a:cubicBezTo>
                <a:cubicBezTo>
                  <a:pt x="4007687" y="2222130"/>
                  <a:pt x="4005342" y="2253190"/>
                  <a:pt x="4030173" y="2228740"/>
                </a:cubicBezTo>
                <a:cubicBezTo>
                  <a:pt x="4098290" y="2161662"/>
                  <a:pt x="4137888" y="2225102"/>
                  <a:pt x="4196274" y="2255503"/>
                </a:cubicBezTo>
                <a:cubicBezTo>
                  <a:pt x="4149296" y="2286895"/>
                  <a:pt x="4107016" y="2309031"/>
                  <a:pt x="4099968" y="2355951"/>
                </a:cubicBezTo>
                <a:cubicBezTo>
                  <a:pt x="4085540" y="2452767"/>
                  <a:pt x="4023800" y="2497043"/>
                  <a:pt x="3930177" y="2505635"/>
                </a:cubicBezTo>
                <a:cubicBezTo>
                  <a:pt x="3964739" y="2599144"/>
                  <a:pt x="3964739" y="2599144"/>
                  <a:pt x="3852997" y="2612033"/>
                </a:cubicBezTo>
                <a:cubicBezTo>
                  <a:pt x="3895949" y="2671508"/>
                  <a:pt x="3895949" y="2686707"/>
                  <a:pt x="3843936" y="2707194"/>
                </a:cubicBezTo>
                <a:cubicBezTo>
                  <a:pt x="3793938" y="2726690"/>
                  <a:pt x="3738572" y="2733299"/>
                  <a:pt x="3692263" y="2763365"/>
                </a:cubicBezTo>
                <a:cubicBezTo>
                  <a:pt x="3734880" y="2839364"/>
                  <a:pt x="3746960" y="2927586"/>
                  <a:pt x="3834876" y="2964596"/>
                </a:cubicBezTo>
                <a:cubicBezTo>
                  <a:pt x="3848634" y="2970213"/>
                  <a:pt x="3858030" y="2993012"/>
                  <a:pt x="3849307" y="3006229"/>
                </a:cubicBezTo>
                <a:cubicBezTo>
                  <a:pt x="3817428" y="3054139"/>
                  <a:pt x="3863064" y="3145008"/>
                  <a:pt x="3763740" y="3155250"/>
                </a:cubicBezTo>
                <a:cubicBezTo>
                  <a:pt x="3751322" y="3156241"/>
                  <a:pt x="3739912" y="3166155"/>
                  <a:pt x="3749644" y="3179042"/>
                </a:cubicBezTo>
                <a:cubicBezTo>
                  <a:pt x="3783202" y="3223978"/>
                  <a:pt x="3742598" y="3221006"/>
                  <a:pt x="3718104" y="3226623"/>
                </a:cubicBezTo>
                <a:cubicBezTo>
                  <a:pt x="3688572" y="3233560"/>
                  <a:pt x="3655017" y="3213736"/>
                  <a:pt x="3627501" y="3238187"/>
                </a:cubicBezTo>
                <a:cubicBezTo>
                  <a:pt x="3633878" y="3263961"/>
                  <a:pt x="3657701" y="3263631"/>
                  <a:pt x="3674479" y="3271890"/>
                </a:cubicBezTo>
                <a:cubicBezTo>
                  <a:pt x="3723470" y="3295682"/>
                  <a:pt x="3763404" y="3324097"/>
                  <a:pt x="3765753" y="3385888"/>
                </a:cubicBezTo>
                <a:cubicBezTo>
                  <a:pt x="3767428" y="3435782"/>
                  <a:pt x="3772798" y="3479727"/>
                  <a:pt x="3705014" y="3494928"/>
                </a:cubicBezTo>
                <a:cubicBezTo>
                  <a:pt x="3676828" y="3501208"/>
                  <a:pt x="3684884" y="3537222"/>
                  <a:pt x="3700990" y="3555066"/>
                </a:cubicBezTo>
                <a:cubicBezTo>
                  <a:pt x="3729848" y="3586786"/>
                  <a:pt x="3753670" y="3629080"/>
                  <a:pt x="3803335" y="3632054"/>
                </a:cubicBezTo>
                <a:cubicBezTo>
                  <a:pt x="3833535" y="3634035"/>
                  <a:pt x="3856689" y="3647255"/>
                  <a:pt x="3880513" y="3662453"/>
                </a:cubicBezTo>
                <a:cubicBezTo>
                  <a:pt x="3897626" y="3673360"/>
                  <a:pt x="3918095" y="3682610"/>
                  <a:pt x="3916083" y="3706069"/>
                </a:cubicBezTo>
                <a:cubicBezTo>
                  <a:pt x="3914069" y="3728539"/>
                  <a:pt x="3894273" y="3737791"/>
                  <a:pt x="3874137" y="3742416"/>
                </a:cubicBezTo>
                <a:cubicBezTo>
                  <a:pt x="3807024" y="3757285"/>
                  <a:pt x="3743942" y="3779093"/>
                  <a:pt x="3687901" y="3828987"/>
                </a:cubicBezTo>
                <a:cubicBezTo>
                  <a:pt x="3725150" y="3855422"/>
                  <a:pt x="3760718" y="3874586"/>
                  <a:pt x="3788234" y="3901352"/>
                </a:cubicBezTo>
                <a:cubicBezTo>
                  <a:pt x="3854674" y="3966112"/>
                  <a:pt x="3291941" y="4169986"/>
                  <a:pt x="3263755" y="4242681"/>
                </a:cubicBezTo>
                <a:cubicBezTo>
                  <a:pt x="3255030" y="4265149"/>
                  <a:pt x="3225166" y="4288278"/>
                  <a:pt x="3200332" y="4294887"/>
                </a:cubicBezTo>
                <a:cubicBezTo>
                  <a:pt x="3083895" y="4325948"/>
                  <a:pt x="2982893" y="4395668"/>
                  <a:pt x="2863768" y="4421442"/>
                </a:cubicBezTo>
                <a:cubicBezTo>
                  <a:pt x="2751355" y="4445892"/>
                  <a:pt x="2640621" y="4478605"/>
                  <a:pt x="2517472" y="4510985"/>
                </a:cubicBezTo>
                <a:cubicBezTo>
                  <a:pt x="2555222" y="4551627"/>
                  <a:pt x="2607569" y="4569553"/>
                  <a:pt x="2654380" y="4591980"/>
                </a:cubicBezTo>
                <a:lnTo>
                  <a:pt x="2667892" y="4600575"/>
                </a:lnTo>
                <a:lnTo>
                  <a:pt x="0" y="4600575"/>
                </a:lnTo>
                <a:lnTo>
                  <a:pt x="0" y="144733"/>
                </a:lnTo>
                <a:lnTo>
                  <a:pt x="121106" y="102309"/>
                </a:lnTo>
                <a:cubicBezTo>
                  <a:pt x="290510" y="47726"/>
                  <a:pt x="463596" y="8200"/>
                  <a:pt x="644044" y="1014"/>
                </a:cubicBezTo>
                <a:cubicBezTo>
                  <a:pt x="656459" y="538"/>
                  <a:pt x="674830" y="121"/>
                  <a:pt x="698533" y="23"/>
                </a:cubicBezTo>
                <a:close/>
              </a:path>
            </a:pathLst>
          </a:custGeom>
        </p:spPr>
      </p:pic>
      <p:pic>
        <p:nvPicPr>
          <p:cNvPr id="13" name="Picture 12">
            <a:extLst>
              <a:ext uri="{FF2B5EF4-FFF2-40B4-BE49-F238E27FC236}">
                <a16:creationId xmlns:a16="http://schemas.microsoft.com/office/drawing/2014/main" id="{8C716BBD-58C6-0B15-B60B-0B820737EC87}"/>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34226" r="1676" b="2"/>
          <a:stretch>
            <a:fillRect/>
          </a:stretch>
        </p:blipFill>
        <p:spPr>
          <a:xfrm>
            <a:off x="5314848" y="464683"/>
            <a:ext cx="3241499" cy="3354472"/>
          </a:xfrm>
          <a:custGeom>
            <a:avLst/>
            <a:gdLst/>
            <a:ahLst/>
            <a:cxnLst/>
            <a:rect l="l" t="t" r="r" b="b"/>
            <a:pathLst>
              <a:path w="3359190" h="3476265">
                <a:moveTo>
                  <a:pt x="450539" y="15"/>
                </a:moveTo>
                <a:cubicBezTo>
                  <a:pt x="458434" y="271"/>
                  <a:pt x="466600" y="3856"/>
                  <a:pt x="473999" y="4995"/>
                </a:cubicBezTo>
                <a:cubicBezTo>
                  <a:pt x="637327" y="30493"/>
                  <a:pt x="800653" y="58040"/>
                  <a:pt x="964158" y="82398"/>
                </a:cubicBezTo>
                <a:cubicBezTo>
                  <a:pt x="1117018" y="105163"/>
                  <a:pt x="1270959" y="110398"/>
                  <a:pt x="1424540" y="122237"/>
                </a:cubicBezTo>
                <a:cubicBezTo>
                  <a:pt x="1610425" y="136579"/>
                  <a:pt x="1795950" y="156841"/>
                  <a:pt x="1980752" y="188711"/>
                </a:cubicBezTo>
                <a:cubicBezTo>
                  <a:pt x="2109067" y="211022"/>
                  <a:pt x="2238645" y="226502"/>
                  <a:pt x="2368766" y="208745"/>
                </a:cubicBezTo>
                <a:cubicBezTo>
                  <a:pt x="2375261" y="207834"/>
                  <a:pt x="2382661" y="204876"/>
                  <a:pt x="2388075" y="207834"/>
                </a:cubicBezTo>
                <a:cubicBezTo>
                  <a:pt x="2451242" y="241073"/>
                  <a:pt x="2520180" y="217168"/>
                  <a:pt x="2585691" y="238113"/>
                </a:cubicBezTo>
                <a:cubicBezTo>
                  <a:pt x="2568908" y="318930"/>
                  <a:pt x="2496899" y="312327"/>
                  <a:pt x="2456294" y="368331"/>
                </a:cubicBezTo>
                <a:cubicBezTo>
                  <a:pt x="2522527" y="390639"/>
                  <a:pt x="2582081" y="413178"/>
                  <a:pt x="2642540" y="430023"/>
                </a:cubicBezTo>
                <a:cubicBezTo>
                  <a:pt x="2706608" y="447780"/>
                  <a:pt x="2760929" y="495816"/>
                  <a:pt x="2823551" y="517215"/>
                </a:cubicBezTo>
                <a:cubicBezTo>
                  <a:pt x="2836907" y="521769"/>
                  <a:pt x="2852969" y="537704"/>
                  <a:pt x="2857661" y="553184"/>
                </a:cubicBezTo>
                <a:cubicBezTo>
                  <a:pt x="2872820" y="603269"/>
                  <a:pt x="3175470" y="743732"/>
                  <a:pt x="3139737" y="788350"/>
                </a:cubicBezTo>
                <a:cubicBezTo>
                  <a:pt x="3124939" y="806790"/>
                  <a:pt x="3105809" y="819994"/>
                  <a:pt x="3085776" y="838207"/>
                </a:cubicBezTo>
                <a:cubicBezTo>
                  <a:pt x="3115916" y="872582"/>
                  <a:pt x="3149843" y="887608"/>
                  <a:pt x="3185938" y="897851"/>
                </a:cubicBezTo>
                <a:cubicBezTo>
                  <a:pt x="3196767" y="901039"/>
                  <a:pt x="3207414" y="907413"/>
                  <a:pt x="3208497" y="922894"/>
                </a:cubicBezTo>
                <a:cubicBezTo>
                  <a:pt x="3209580" y="939056"/>
                  <a:pt x="3198571" y="945429"/>
                  <a:pt x="3189367" y="952944"/>
                </a:cubicBezTo>
                <a:cubicBezTo>
                  <a:pt x="3176554" y="963415"/>
                  <a:pt x="3164101" y="972523"/>
                  <a:pt x="3147859" y="973888"/>
                </a:cubicBezTo>
                <a:cubicBezTo>
                  <a:pt x="3121148" y="975937"/>
                  <a:pt x="3108336" y="1005076"/>
                  <a:pt x="3092816" y="1026930"/>
                </a:cubicBezTo>
                <a:cubicBezTo>
                  <a:pt x="3084153" y="1039224"/>
                  <a:pt x="3079821" y="1064037"/>
                  <a:pt x="3094980" y="1068363"/>
                </a:cubicBezTo>
                <a:cubicBezTo>
                  <a:pt x="3131436" y="1078836"/>
                  <a:pt x="3128548" y="1109114"/>
                  <a:pt x="3127647" y="1143489"/>
                </a:cubicBezTo>
                <a:cubicBezTo>
                  <a:pt x="3126383" y="1186061"/>
                  <a:pt x="3104906" y="1205638"/>
                  <a:pt x="3078557" y="1222030"/>
                </a:cubicBezTo>
                <a:cubicBezTo>
                  <a:pt x="3069534" y="1227720"/>
                  <a:pt x="3056721" y="1227493"/>
                  <a:pt x="3053292" y="1245250"/>
                </a:cubicBezTo>
                <a:cubicBezTo>
                  <a:pt x="3068090" y="1262097"/>
                  <a:pt x="3086137" y="1248439"/>
                  <a:pt x="3102020" y="1253218"/>
                </a:cubicBezTo>
                <a:cubicBezTo>
                  <a:pt x="3115193" y="1257088"/>
                  <a:pt x="3137031" y="1255040"/>
                  <a:pt x="3118983" y="1286000"/>
                </a:cubicBezTo>
                <a:cubicBezTo>
                  <a:pt x="3113749" y="1294878"/>
                  <a:pt x="3119885" y="1301709"/>
                  <a:pt x="3126564" y="1302392"/>
                </a:cubicBezTo>
                <a:cubicBezTo>
                  <a:pt x="3179982" y="1309448"/>
                  <a:pt x="3155438" y="1372054"/>
                  <a:pt x="3172584" y="1405063"/>
                </a:cubicBezTo>
                <a:cubicBezTo>
                  <a:pt x="3177275" y="1414169"/>
                  <a:pt x="3172222" y="1429877"/>
                  <a:pt x="3164822" y="1433747"/>
                </a:cubicBezTo>
                <a:cubicBezTo>
                  <a:pt x="3117539" y="1459245"/>
                  <a:pt x="3111043" y="1520028"/>
                  <a:pt x="3088122" y="1572389"/>
                </a:cubicBezTo>
                <a:cubicBezTo>
                  <a:pt x="3113028" y="1593104"/>
                  <a:pt x="3142805" y="1597657"/>
                  <a:pt x="3169695" y="1611089"/>
                </a:cubicBezTo>
                <a:cubicBezTo>
                  <a:pt x="3197669" y="1625204"/>
                  <a:pt x="3197669" y="1635676"/>
                  <a:pt x="3174569" y="1676653"/>
                </a:cubicBezTo>
                <a:cubicBezTo>
                  <a:pt x="3234665" y="1685532"/>
                  <a:pt x="3234665" y="1685532"/>
                  <a:pt x="3216077" y="1749957"/>
                </a:cubicBezTo>
                <a:cubicBezTo>
                  <a:pt x="3266430" y="1755877"/>
                  <a:pt x="3299635" y="1786382"/>
                  <a:pt x="3307395" y="1853085"/>
                </a:cubicBezTo>
                <a:cubicBezTo>
                  <a:pt x="3311185" y="1885411"/>
                  <a:pt x="3333924" y="1900663"/>
                  <a:pt x="3359190" y="1922291"/>
                </a:cubicBezTo>
                <a:cubicBezTo>
                  <a:pt x="3327789" y="1943236"/>
                  <a:pt x="3306492" y="1986945"/>
                  <a:pt x="3269857" y="1940730"/>
                </a:cubicBezTo>
                <a:cubicBezTo>
                  <a:pt x="3256503" y="1923885"/>
                  <a:pt x="3257764" y="1945284"/>
                  <a:pt x="3255961" y="1951430"/>
                </a:cubicBezTo>
                <a:cubicBezTo>
                  <a:pt x="3251630" y="1966455"/>
                  <a:pt x="3260653" y="1976472"/>
                  <a:pt x="3266609" y="1987854"/>
                </a:cubicBezTo>
                <a:cubicBezTo>
                  <a:pt x="3272384" y="1999237"/>
                  <a:pt x="3279243" y="2011302"/>
                  <a:pt x="3280866" y="2024054"/>
                </a:cubicBezTo>
                <a:cubicBezTo>
                  <a:pt x="3281948" y="2032931"/>
                  <a:pt x="3276715" y="2045905"/>
                  <a:pt x="3270940" y="2052509"/>
                </a:cubicBezTo>
                <a:cubicBezTo>
                  <a:pt x="3240620" y="2087340"/>
                  <a:pt x="3258667" y="2165652"/>
                  <a:pt x="3201277" y="2175670"/>
                </a:cubicBezTo>
                <a:cubicBezTo>
                  <a:pt x="3175470" y="2180221"/>
                  <a:pt x="3163018" y="2208906"/>
                  <a:pt x="3144069" y="2224614"/>
                </a:cubicBezTo>
                <a:cubicBezTo>
                  <a:pt x="3078197" y="2279478"/>
                  <a:pt x="3034161" y="2350051"/>
                  <a:pt x="3013769" y="2447031"/>
                </a:cubicBezTo>
                <a:cubicBezTo>
                  <a:pt x="3008175" y="2473894"/>
                  <a:pt x="2986698" y="2495522"/>
                  <a:pt x="2972802" y="2519197"/>
                </a:cubicBezTo>
                <a:cubicBezTo>
                  <a:pt x="2979480" y="2536499"/>
                  <a:pt x="3015935" y="2499164"/>
                  <a:pt x="3003121" y="2544694"/>
                </a:cubicBezTo>
                <a:cubicBezTo>
                  <a:pt x="2993376" y="2578843"/>
                  <a:pt x="2968470" y="2600014"/>
                  <a:pt x="2945008" y="2620276"/>
                </a:cubicBezTo>
                <a:cubicBezTo>
                  <a:pt x="2918299" y="2643268"/>
                  <a:pt x="2888702" y="2661708"/>
                  <a:pt x="2876610" y="2704279"/>
                </a:cubicBezTo>
                <a:cubicBezTo>
                  <a:pt x="2874083" y="2713386"/>
                  <a:pt x="2865963" y="2722947"/>
                  <a:pt x="2858744" y="2726591"/>
                </a:cubicBezTo>
                <a:cubicBezTo>
                  <a:pt x="2482281" y="3475797"/>
                  <a:pt x="1555563" y="3480805"/>
                  <a:pt x="1448724" y="3475568"/>
                </a:cubicBezTo>
                <a:cubicBezTo>
                  <a:pt x="1319326" y="3468966"/>
                  <a:pt x="1196966" y="3422753"/>
                  <a:pt x="1076954" y="3365156"/>
                </a:cubicBezTo>
                <a:cubicBezTo>
                  <a:pt x="1026241" y="3340797"/>
                  <a:pt x="979138" y="3306195"/>
                  <a:pt x="929868" y="3279332"/>
                </a:cubicBezTo>
                <a:cubicBezTo>
                  <a:pt x="861832" y="3242223"/>
                  <a:pt x="809315" y="3171424"/>
                  <a:pt x="741457" y="3141601"/>
                </a:cubicBezTo>
                <a:cubicBezTo>
                  <a:pt x="671616" y="3110867"/>
                  <a:pt x="611879" y="3054638"/>
                  <a:pt x="540052" y="3030734"/>
                </a:cubicBezTo>
                <a:cubicBezTo>
                  <a:pt x="502153" y="3017985"/>
                  <a:pt x="465517" y="2994993"/>
                  <a:pt x="471471" y="2929200"/>
                </a:cubicBezTo>
                <a:cubicBezTo>
                  <a:pt x="473096" y="2910532"/>
                  <a:pt x="463171" y="2895282"/>
                  <a:pt x="447469" y="2900745"/>
                </a:cubicBezTo>
                <a:cubicBezTo>
                  <a:pt x="417513" y="2910989"/>
                  <a:pt x="403977" y="2883898"/>
                  <a:pt x="387373" y="2863636"/>
                </a:cubicBezTo>
                <a:cubicBezTo>
                  <a:pt x="357776" y="2827667"/>
                  <a:pt x="329623" y="2789422"/>
                  <a:pt x="282519" y="2783503"/>
                </a:cubicBezTo>
                <a:cubicBezTo>
                  <a:pt x="291543" y="2755272"/>
                  <a:pt x="306883" y="2759371"/>
                  <a:pt x="320959" y="2765290"/>
                </a:cubicBezTo>
                <a:cubicBezTo>
                  <a:pt x="357956" y="2780772"/>
                  <a:pt x="394592" y="2798300"/>
                  <a:pt x="431588" y="2813781"/>
                </a:cubicBezTo>
                <a:cubicBezTo>
                  <a:pt x="455771" y="2823799"/>
                  <a:pt x="479775" y="2837912"/>
                  <a:pt x="512079" y="2826755"/>
                </a:cubicBezTo>
                <a:cubicBezTo>
                  <a:pt x="484286" y="2769843"/>
                  <a:pt x="437003" y="2759598"/>
                  <a:pt x="398743" y="2742071"/>
                </a:cubicBezTo>
                <a:cubicBezTo>
                  <a:pt x="350919" y="2719988"/>
                  <a:pt x="322765" y="2678326"/>
                  <a:pt x="289016" y="2631885"/>
                </a:cubicBezTo>
                <a:cubicBezTo>
                  <a:pt x="324209" y="2620730"/>
                  <a:pt x="346045" y="2654879"/>
                  <a:pt x="373657" y="2653056"/>
                </a:cubicBezTo>
                <a:cubicBezTo>
                  <a:pt x="375101" y="2647140"/>
                  <a:pt x="377627" y="2638488"/>
                  <a:pt x="377267" y="2638259"/>
                </a:cubicBezTo>
                <a:cubicBezTo>
                  <a:pt x="332149" y="2612763"/>
                  <a:pt x="311034" y="2564956"/>
                  <a:pt x="303995" y="2507131"/>
                </a:cubicBezTo>
                <a:cubicBezTo>
                  <a:pt x="300386" y="2477310"/>
                  <a:pt x="283963" y="2467976"/>
                  <a:pt x="267720" y="2454316"/>
                </a:cubicBezTo>
                <a:cubicBezTo>
                  <a:pt x="211053" y="2405826"/>
                  <a:pt x="151137" y="2361890"/>
                  <a:pt x="104574" y="2295188"/>
                </a:cubicBezTo>
                <a:cubicBezTo>
                  <a:pt x="158355" y="2304066"/>
                  <a:pt x="201487" y="2347547"/>
                  <a:pt x="259420" y="2366215"/>
                </a:cubicBezTo>
                <a:cubicBezTo>
                  <a:pt x="213400" y="2292910"/>
                  <a:pt x="153843" y="2255803"/>
                  <a:pt x="99521" y="2211409"/>
                </a:cubicBezTo>
                <a:cubicBezTo>
                  <a:pt x="74797" y="2191149"/>
                  <a:pt x="51878" y="2165197"/>
                  <a:pt x="21920" y="2154269"/>
                </a:cubicBezTo>
                <a:cubicBezTo>
                  <a:pt x="11271" y="2150400"/>
                  <a:pt x="-6235" y="2142204"/>
                  <a:pt x="2248" y="2120577"/>
                </a:cubicBezTo>
                <a:cubicBezTo>
                  <a:pt x="9466" y="2102593"/>
                  <a:pt x="23723" y="2108055"/>
                  <a:pt x="36718" y="2113292"/>
                </a:cubicBezTo>
                <a:cubicBezTo>
                  <a:pt x="67939" y="2126269"/>
                  <a:pt x="100244" y="2126495"/>
                  <a:pt x="142474" y="2126269"/>
                </a:cubicBezTo>
                <a:cubicBezTo>
                  <a:pt x="107102" y="2066851"/>
                  <a:pt x="42311" y="2084608"/>
                  <a:pt x="11993" y="2022231"/>
                </a:cubicBezTo>
                <a:cubicBezTo>
                  <a:pt x="49892" y="2011302"/>
                  <a:pt x="79128" y="2033841"/>
                  <a:pt x="109809" y="2038166"/>
                </a:cubicBezTo>
                <a:cubicBezTo>
                  <a:pt x="137600" y="2042036"/>
                  <a:pt x="144459" y="2031565"/>
                  <a:pt x="137962" y="1997188"/>
                </a:cubicBezTo>
                <a:cubicBezTo>
                  <a:pt x="127856" y="1943690"/>
                  <a:pt x="143015" y="1916371"/>
                  <a:pt x="183441" y="1930941"/>
                </a:cubicBezTo>
                <a:cubicBezTo>
                  <a:pt x="220978" y="1944601"/>
                  <a:pt x="224948" y="1924568"/>
                  <a:pt x="214842" y="1894062"/>
                </a:cubicBezTo>
                <a:cubicBezTo>
                  <a:pt x="200405" y="1849671"/>
                  <a:pt x="216827" y="1815295"/>
                  <a:pt x="228017" y="1777960"/>
                </a:cubicBezTo>
                <a:cubicBezTo>
                  <a:pt x="245162" y="1721045"/>
                  <a:pt x="237944" y="1693272"/>
                  <a:pt x="200946" y="1650929"/>
                </a:cubicBezTo>
                <a:cubicBezTo>
                  <a:pt x="180193" y="1627251"/>
                  <a:pt x="157815" y="1607219"/>
                  <a:pt x="127675" y="1586731"/>
                </a:cubicBezTo>
                <a:cubicBezTo>
                  <a:pt x="197157" y="1575576"/>
                  <a:pt x="124246" y="1538013"/>
                  <a:pt x="148791" y="1514564"/>
                </a:cubicBezTo>
                <a:cubicBezTo>
                  <a:pt x="197878" y="1505003"/>
                  <a:pt x="237944" y="1579673"/>
                  <a:pt x="304718" y="1558274"/>
                </a:cubicBezTo>
                <a:cubicBezTo>
                  <a:pt x="222243" y="1493618"/>
                  <a:pt x="131104" y="1472448"/>
                  <a:pt x="71369" y="1386396"/>
                </a:cubicBezTo>
                <a:cubicBezTo>
                  <a:pt x="85084" y="1366817"/>
                  <a:pt x="98799" y="1385029"/>
                  <a:pt x="110530" y="1377745"/>
                </a:cubicBezTo>
                <a:cubicBezTo>
                  <a:pt x="110169" y="1373192"/>
                  <a:pt x="111073" y="1366361"/>
                  <a:pt x="108906" y="1364313"/>
                </a:cubicBezTo>
                <a:cubicBezTo>
                  <a:pt x="64330" y="1317416"/>
                  <a:pt x="63607" y="1316279"/>
                  <a:pt x="111433" y="1281675"/>
                </a:cubicBezTo>
                <a:cubicBezTo>
                  <a:pt x="128217" y="1269609"/>
                  <a:pt x="126772" y="1258909"/>
                  <a:pt x="117930" y="1243657"/>
                </a:cubicBezTo>
                <a:cubicBezTo>
                  <a:pt x="111612" y="1232957"/>
                  <a:pt x="104033" y="1223395"/>
                  <a:pt x="107643" y="1199947"/>
                </a:cubicBezTo>
                <a:cubicBezTo>
                  <a:pt x="133810" y="1229998"/>
                  <a:pt x="260321" y="1220208"/>
                  <a:pt x="282700" y="1217021"/>
                </a:cubicBezTo>
                <a:cubicBezTo>
                  <a:pt x="307786" y="1213607"/>
                  <a:pt x="332510" y="1199037"/>
                  <a:pt x="358858" y="1207003"/>
                </a:cubicBezTo>
                <a:cubicBezTo>
                  <a:pt x="379973" y="1213381"/>
                  <a:pt x="477788" y="1275073"/>
                  <a:pt x="491685" y="1204273"/>
                </a:cubicBezTo>
                <a:cubicBezTo>
                  <a:pt x="492408" y="1200857"/>
                  <a:pt x="531930" y="1208826"/>
                  <a:pt x="553226" y="1212696"/>
                </a:cubicBezTo>
                <a:cubicBezTo>
                  <a:pt x="571995" y="1215883"/>
                  <a:pt x="593110" y="1229998"/>
                  <a:pt x="605743" y="1201769"/>
                </a:cubicBezTo>
                <a:cubicBezTo>
                  <a:pt x="613143" y="1185150"/>
                  <a:pt x="582643" y="1153051"/>
                  <a:pt x="555391" y="1150320"/>
                </a:cubicBezTo>
                <a:cubicBezTo>
                  <a:pt x="531749" y="1147814"/>
                  <a:pt x="507025" y="1144172"/>
                  <a:pt x="484466" y="1151001"/>
                </a:cubicBezTo>
                <a:cubicBezTo>
                  <a:pt x="456674" y="1159198"/>
                  <a:pt x="441696" y="1145994"/>
                  <a:pt x="433934" y="1117538"/>
                </a:cubicBezTo>
                <a:cubicBezTo>
                  <a:pt x="425273" y="1086122"/>
                  <a:pt x="408668" y="1071550"/>
                  <a:pt x="385749" y="1056980"/>
                </a:cubicBezTo>
                <a:cubicBezTo>
                  <a:pt x="330163" y="1021696"/>
                  <a:pt x="276744" y="980946"/>
                  <a:pt x="215745" y="960456"/>
                </a:cubicBezTo>
                <a:cubicBezTo>
                  <a:pt x="203653" y="956358"/>
                  <a:pt x="190298" y="950894"/>
                  <a:pt x="184704" y="923805"/>
                </a:cubicBezTo>
                <a:cubicBezTo>
                  <a:pt x="349836" y="964326"/>
                  <a:pt x="500349" y="1069958"/>
                  <a:pt x="670713" y="1063811"/>
                </a:cubicBezTo>
                <a:cubicBezTo>
                  <a:pt x="624151" y="1030346"/>
                  <a:pt x="570192" y="1028524"/>
                  <a:pt x="520561" y="1005076"/>
                </a:cubicBezTo>
                <a:cubicBezTo>
                  <a:pt x="555753" y="987546"/>
                  <a:pt x="588779" y="1005759"/>
                  <a:pt x="622167" y="1015777"/>
                </a:cubicBezTo>
                <a:cubicBezTo>
                  <a:pt x="650140" y="1023970"/>
                  <a:pt x="675405" y="1025337"/>
                  <a:pt x="678473" y="976393"/>
                </a:cubicBezTo>
                <a:cubicBezTo>
                  <a:pt x="677389" y="973205"/>
                  <a:pt x="677570" y="969107"/>
                  <a:pt x="677751" y="965238"/>
                </a:cubicBezTo>
                <a:cubicBezTo>
                  <a:pt x="668365" y="944976"/>
                  <a:pt x="653749" y="934504"/>
                  <a:pt x="636423" y="928584"/>
                </a:cubicBezTo>
                <a:cubicBezTo>
                  <a:pt x="625955" y="924942"/>
                  <a:pt x="612060" y="919478"/>
                  <a:pt x="612239" y="904909"/>
                </a:cubicBezTo>
                <a:cubicBezTo>
                  <a:pt x="612781" y="850955"/>
                  <a:pt x="579394" y="835246"/>
                  <a:pt x="546007" y="819539"/>
                </a:cubicBezTo>
                <a:cubicBezTo>
                  <a:pt x="564596" y="792676"/>
                  <a:pt x="579213" y="812481"/>
                  <a:pt x="593290" y="810433"/>
                </a:cubicBezTo>
                <a:cubicBezTo>
                  <a:pt x="602495" y="809067"/>
                  <a:pt x="610796" y="806563"/>
                  <a:pt x="610796" y="792676"/>
                </a:cubicBezTo>
                <a:cubicBezTo>
                  <a:pt x="610977" y="781065"/>
                  <a:pt x="606645" y="767861"/>
                  <a:pt x="597622" y="767635"/>
                </a:cubicBezTo>
                <a:cubicBezTo>
                  <a:pt x="541135" y="765585"/>
                  <a:pt x="509913" y="690914"/>
                  <a:pt x="451260" y="690687"/>
                </a:cubicBezTo>
                <a:cubicBezTo>
                  <a:pt x="416248" y="690687"/>
                  <a:pt x="469488" y="648571"/>
                  <a:pt x="439891" y="631042"/>
                </a:cubicBezTo>
                <a:cubicBezTo>
                  <a:pt x="433393" y="627171"/>
                  <a:pt x="456855" y="621254"/>
                  <a:pt x="467323" y="622164"/>
                </a:cubicBezTo>
                <a:cubicBezTo>
                  <a:pt x="477609" y="623074"/>
                  <a:pt x="486813" y="634229"/>
                  <a:pt x="499265" y="626261"/>
                </a:cubicBezTo>
                <a:cubicBezTo>
                  <a:pt x="506123" y="597806"/>
                  <a:pt x="488438" y="587332"/>
                  <a:pt x="473818" y="579365"/>
                </a:cubicBezTo>
                <a:cubicBezTo>
                  <a:pt x="440070" y="560925"/>
                  <a:pt x="407224" y="538615"/>
                  <a:pt x="370228" y="532013"/>
                </a:cubicBezTo>
                <a:cubicBezTo>
                  <a:pt x="357055" y="529737"/>
                  <a:pt x="389177" y="499231"/>
                  <a:pt x="395494" y="488532"/>
                </a:cubicBezTo>
                <a:cubicBezTo>
                  <a:pt x="376883" y="474474"/>
                  <a:pt x="357801" y="462263"/>
                  <a:pt x="338331" y="451478"/>
                </a:cubicBezTo>
                <a:lnTo>
                  <a:pt x="331729" y="448316"/>
                </a:lnTo>
                <a:lnTo>
                  <a:pt x="333477" y="428106"/>
                </a:lnTo>
                <a:cubicBezTo>
                  <a:pt x="333477" y="428106"/>
                  <a:pt x="322127" y="376930"/>
                  <a:pt x="314427" y="351906"/>
                </a:cubicBezTo>
                <a:lnTo>
                  <a:pt x="296726" y="307655"/>
                </a:lnTo>
                <a:lnTo>
                  <a:pt x="312139" y="309596"/>
                </a:lnTo>
                <a:cubicBezTo>
                  <a:pt x="327682" y="313807"/>
                  <a:pt x="343879" y="321889"/>
                  <a:pt x="357956" y="329174"/>
                </a:cubicBezTo>
                <a:cubicBezTo>
                  <a:pt x="381237" y="341238"/>
                  <a:pt x="403435" y="344425"/>
                  <a:pt x="434297" y="329174"/>
                </a:cubicBezTo>
                <a:cubicBezTo>
                  <a:pt x="406324" y="319841"/>
                  <a:pt x="384846" y="311645"/>
                  <a:pt x="362829" y="305953"/>
                </a:cubicBezTo>
                <a:cubicBezTo>
                  <a:pt x="345323" y="301400"/>
                  <a:pt x="387012" y="282960"/>
                  <a:pt x="408307" y="285237"/>
                </a:cubicBezTo>
                <a:cubicBezTo>
                  <a:pt x="438085" y="288423"/>
                  <a:pt x="421302" y="276586"/>
                  <a:pt x="416248" y="260195"/>
                </a:cubicBezTo>
                <a:cubicBezTo>
                  <a:pt x="410835" y="242665"/>
                  <a:pt x="426897" y="237203"/>
                  <a:pt x="437003" y="240844"/>
                </a:cubicBezTo>
                <a:cubicBezTo>
                  <a:pt x="475803" y="255187"/>
                  <a:pt x="514425" y="229917"/>
                  <a:pt x="554491" y="250407"/>
                </a:cubicBezTo>
                <a:cubicBezTo>
                  <a:pt x="544384" y="199867"/>
                  <a:pt x="522546" y="177784"/>
                  <a:pt x="476887" y="170726"/>
                </a:cubicBezTo>
                <a:cubicBezTo>
                  <a:pt x="459741" y="167996"/>
                  <a:pt x="441876" y="172093"/>
                  <a:pt x="427076" y="157522"/>
                </a:cubicBezTo>
                <a:cubicBezTo>
                  <a:pt x="418594" y="149101"/>
                  <a:pt x="409030" y="139084"/>
                  <a:pt x="415707" y="123603"/>
                </a:cubicBezTo>
                <a:cubicBezTo>
                  <a:pt x="420400" y="112674"/>
                  <a:pt x="430506" y="112674"/>
                  <a:pt x="438808" y="116318"/>
                </a:cubicBezTo>
                <a:cubicBezTo>
                  <a:pt x="475984" y="132483"/>
                  <a:pt x="514786" y="138400"/>
                  <a:pt x="553586" y="144320"/>
                </a:cubicBezTo>
                <a:cubicBezTo>
                  <a:pt x="559543" y="145230"/>
                  <a:pt x="566220" y="148191"/>
                  <a:pt x="572898" y="133164"/>
                </a:cubicBezTo>
                <a:cubicBezTo>
                  <a:pt x="500349" y="108805"/>
                  <a:pt x="431408" y="74202"/>
                  <a:pt x="356874" y="60770"/>
                </a:cubicBezTo>
                <a:cubicBezTo>
                  <a:pt x="357956" y="54397"/>
                  <a:pt x="359038" y="48022"/>
                  <a:pt x="360122" y="41649"/>
                </a:cubicBezTo>
                <a:cubicBezTo>
                  <a:pt x="418413" y="50753"/>
                  <a:pt x="476707" y="59859"/>
                  <a:pt x="550338" y="71243"/>
                </a:cubicBezTo>
                <a:cubicBezTo>
                  <a:pt x="505041" y="35045"/>
                  <a:pt x="462269" y="47111"/>
                  <a:pt x="428701" y="15013"/>
                </a:cubicBezTo>
                <a:cubicBezTo>
                  <a:pt x="435018" y="2833"/>
                  <a:pt x="442643" y="-241"/>
                  <a:pt x="450539" y="15"/>
                </a:cubicBezTo>
                <a:close/>
              </a:path>
            </a:pathLst>
          </a:custGeom>
        </p:spPr>
      </p:pic>
      <p:sp>
        <p:nvSpPr>
          <p:cNvPr id="2" name="Title 1">
            <a:extLst>
              <a:ext uri="{FF2B5EF4-FFF2-40B4-BE49-F238E27FC236}">
                <a16:creationId xmlns:a16="http://schemas.microsoft.com/office/drawing/2014/main" id="{C19AFF18-E4EE-BB8C-CADC-D44B27801039}"/>
              </a:ext>
            </a:extLst>
          </p:cNvPr>
          <p:cNvSpPr>
            <a:spLocks noGrp="1"/>
          </p:cNvSpPr>
          <p:nvPr>
            <p:ph type="title"/>
          </p:nvPr>
        </p:nvSpPr>
        <p:spPr>
          <a:xfrm>
            <a:off x="4498850" y="3819157"/>
            <a:ext cx="6864412" cy="1131215"/>
          </a:xfrm>
        </p:spPr>
        <p:txBody>
          <a:bodyPr anchor="b">
            <a:normAutofit/>
          </a:bodyPr>
          <a:lstStyle/>
          <a:p>
            <a:r>
              <a:rPr lang="en-US"/>
              <a:t>Project Goals</a:t>
            </a:r>
          </a:p>
        </p:txBody>
      </p:sp>
      <p:pic>
        <p:nvPicPr>
          <p:cNvPr id="7" name="Picture 6">
            <a:extLst>
              <a:ext uri="{FF2B5EF4-FFF2-40B4-BE49-F238E27FC236}">
                <a16:creationId xmlns:a16="http://schemas.microsoft.com/office/drawing/2014/main" id="{468605A6-02A9-8BA5-A91D-051E4666FB4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r="-2" b="2953"/>
          <a:stretch>
            <a:fillRect/>
          </a:stretch>
        </p:blipFill>
        <p:spPr>
          <a:xfrm>
            <a:off x="480177" y="3"/>
            <a:ext cx="4980517" cy="2440831"/>
          </a:xfrm>
          <a:custGeom>
            <a:avLst/>
            <a:gdLst/>
            <a:ahLst/>
            <a:cxnLst/>
            <a:rect l="l" t="t" r="r" b="b"/>
            <a:pathLst>
              <a:path w="4980517" h="2440831">
                <a:moveTo>
                  <a:pt x="287929" y="0"/>
                </a:moveTo>
                <a:lnTo>
                  <a:pt x="4817890" y="0"/>
                </a:lnTo>
                <a:lnTo>
                  <a:pt x="4816841" y="3177"/>
                </a:lnTo>
                <a:cubicBezTo>
                  <a:pt x="4816707" y="6109"/>
                  <a:pt x="4816908" y="9403"/>
                  <a:pt x="4816641" y="12038"/>
                </a:cubicBezTo>
                <a:cubicBezTo>
                  <a:pt x="4834033" y="20468"/>
                  <a:pt x="4854369" y="-611"/>
                  <a:pt x="4874703" y="22050"/>
                </a:cubicBezTo>
                <a:cubicBezTo>
                  <a:pt x="4786137" y="121645"/>
                  <a:pt x="4651010" y="146147"/>
                  <a:pt x="4528727" y="220979"/>
                </a:cubicBezTo>
                <a:cubicBezTo>
                  <a:pt x="4627731" y="245745"/>
                  <a:pt x="4687133" y="159323"/>
                  <a:pt x="4759914" y="170389"/>
                </a:cubicBezTo>
                <a:cubicBezTo>
                  <a:pt x="4796305" y="197528"/>
                  <a:pt x="4688204" y="241003"/>
                  <a:pt x="4791221" y="253914"/>
                </a:cubicBezTo>
                <a:cubicBezTo>
                  <a:pt x="4746534" y="277627"/>
                  <a:pt x="4713355" y="300811"/>
                  <a:pt x="4682585" y="328215"/>
                </a:cubicBezTo>
                <a:cubicBezTo>
                  <a:pt x="4627731" y="377223"/>
                  <a:pt x="4617028" y="409367"/>
                  <a:pt x="4642449" y="475239"/>
                </a:cubicBezTo>
                <a:cubicBezTo>
                  <a:pt x="4659039" y="518450"/>
                  <a:pt x="4683387" y="558237"/>
                  <a:pt x="4661983" y="609614"/>
                </a:cubicBezTo>
                <a:cubicBezTo>
                  <a:pt x="4646998" y="644922"/>
                  <a:pt x="4652885" y="668107"/>
                  <a:pt x="4708539" y="652298"/>
                </a:cubicBezTo>
                <a:cubicBezTo>
                  <a:pt x="4768476" y="635435"/>
                  <a:pt x="4790952" y="667053"/>
                  <a:pt x="4775969" y="728971"/>
                </a:cubicBezTo>
                <a:cubicBezTo>
                  <a:pt x="4766336" y="768758"/>
                  <a:pt x="4776506" y="780877"/>
                  <a:pt x="4817710" y="776398"/>
                </a:cubicBezTo>
                <a:cubicBezTo>
                  <a:pt x="4863199" y="771392"/>
                  <a:pt x="4906546" y="745306"/>
                  <a:pt x="4962737" y="757955"/>
                </a:cubicBezTo>
                <a:cubicBezTo>
                  <a:pt x="4917786" y="830149"/>
                  <a:pt x="4821724" y="809597"/>
                  <a:pt x="4769279" y="878367"/>
                </a:cubicBezTo>
                <a:cubicBezTo>
                  <a:pt x="4831892" y="878629"/>
                  <a:pt x="4879788" y="878367"/>
                  <a:pt x="4926079" y="863347"/>
                </a:cubicBezTo>
                <a:cubicBezTo>
                  <a:pt x="4945346" y="857286"/>
                  <a:pt x="4966484" y="850965"/>
                  <a:pt x="4977186" y="871779"/>
                </a:cubicBezTo>
                <a:cubicBezTo>
                  <a:pt x="4989762" y="896809"/>
                  <a:pt x="4963808" y="906295"/>
                  <a:pt x="4948019" y="910774"/>
                </a:cubicBezTo>
                <a:cubicBezTo>
                  <a:pt x="4903602" y="923421"/>
                  <a:pt x="4869621" y="953458"/>
                  <a:pt x="4832963" y="976907"/>
                </a:cubicBezTo>
                <a:cubicBezTo>
                  <a:pt x="4752423" y="1028288"/>
                  <a:pt x="4664121" y="1071235"/>
                  <a:pt x="4595889" y="1156077"/>
                </a:cubicBezTo>
                <a:cubicBezTo>
                  <a:pt x="4681783" y="1134471"/>
                  <a:pt x="4745733" y="1084147"/>
                  <a:pt x="4825471" y="1073871"/>
                </a:cubicBezTo>
                <a:cubicBezTo>
                  <a:pt x="4756436" y="1151071"/>
                  <a:pt x="4667600" y="1201922"/>
                  <a:pt x="4583583" y="1258044"/>
                </a:cubicBezTo>
                <a:cubicBezTo>
                  <a:pt x="4559500" y="1273853"/>
                  <a:pt x="4535151" y="1284656"/>
                  <a:pt x="4529799" y="1319171"/>
                </a:cubicBezTo>
                <a:cubicBezTo>
                  <a:pt x="4519362" y="1386097"/>
                  <a:pt x="4488056" y="1441427"/>
                  <a:pt x="4421163" y="1470936"/>
                </a:cubicBezTo>
                <a:cubicBezTo>
                  <a:pt x="4420628" y="1471202"/>
                  <a:pt x="4424373" y="1481215"/>
                  <a:pt x="4426515" y="1488062"/>
                </a:cubicBezTo>
                <a:cubicBezTo>
                  <a:pt x="4467453" y="1490172"/>
                  <a:pt x="4499829" y="1450649"/>
                  <a:pt x="4552008" y="1463559"/>
                </a:cubicBezTo>
                <a:cubicBezTo>
                  <a:pt x="4501970" y="1517309"/>
                  <a:pt x="4460227" y="1565528"/>
                  <a:pt x="4389321" y="1591086"/>
                </a:cubicBezTo>
                <a:cubicBezTo>
                  <a:pt x="4332594" y="1611373"/>
                  <a:pt x="4262490" y="1623230"/>
                  <a:pt x="4221282" y="1689099"/>
                </a:cubicBezTo>
                <a:cubicBezTo>
                  <a:pt x="4269178" y="1702012"/>
                  <a:pt x="4304768" y="1685677"/>
                  <a:pt x="4340623" y="1674082"/>
                </a:cubicBezTo>
                <a:cubicBezTo>
                  <a:pt x="4395475" y="1656165"/>
                  <a:pt x="4449794" y="1635878"/>
                  <a:pt x="4504647" y="1617960"/>
                </a:cubicBezTo>
                <a:cubicBezTo>
                  <a:pt x="4525518" y="1611110"/>
                  <a:pt x="4548262" y="1606365"/>
                  <a:pt x="4561640" y="1639039"/>
                </a:cubicBezTo>
                <a:cubicBezTo>
                  <a:pt x="4491801" y="1645890"/>
                  <a:pt x="4450060" y="1690154"/>
                  <a:pt x="4406179" y="1731784"/>
                </a:cubicBezTo>
                <a:cubicBezTo>
                  <a:pt x="4381561" y="1755234"/>
                  <a:pt x="4361492" y="1786589"/>
                  <a:pt x="4317076" y="1774733"/>
                </a:cubicBezTo>
                <a:cubicBezTo>
                  <a:pt x="4293796" y="1768410"/>
                  <a:pt x="4279080" y="1786061"/>
                  <a:pt x="4281490" y="1807667"/>
                </a:cubicBezTo>
                <a:cubicBezTo>
                  <a:pt x="4290317" y="1883815"/>
                  <a:pt x="4236000" y="1910425"/>
                  <a:pt x="4179809" y="1925180"/>
                </a:cubicBezTo>
                <a:cubicBezTo>
                  <a:pt x="4073313" y="1952846"/>
                  <a:pt x="3984744" y="2017925"/>
                  <a:pt x="3881194" y="2053496"/>
                </a:cubicBezTo>
                <a:cubicBezTo>
                  <a:pt x="3780584" y="2088012"/>
                  <a:pt x="3702720" y="2169955"/>
                  <a:pt x="3601845" y="2212904"/>
                </a:cubicBezTo>
                <a:cubicBezTo>
                  <a:pt x="3528795" y="2243995"/>
                  <a:pt x="3458958" y="2284043"/>
                  <a:pt x="3383767" y="2312235"/>
                </a:cubicBezTo>
                <a:cubicBezTo>
                  <a:pt x="3205831" y="2378897"/>
                  <a:pt x="3024414" y="2432384"/>
                  <a:pt x="2832561" y="2440024"/>
                </a:cubicBezTo>
                <a:cubicBezTo>
                  <a:pt x="2674156" y="2446085"/>
                  <a:pt x="1300154" y="2440289"/>
                  <a:pt x="741989" y="1573170"/>
                </a:cubicBezTo>
                <a:cubicBezTo>
                  <a:pt x="731286" y="1568953"/>
                  <a:pt x="719246" y="1557887"/>
                  <a:pt x="715500" y="1547347"/>
                </a:cubicBezTo>
                <a:cubicBezTo>
                  <a:pt x="697572" y="1498075"/>
                  <a:pt x="653689" y="1476733"/>
                  <a:pt x="614088" y="1450123"/>
                </a:cubicBezTo>
                <a:cubicBezTo>
                  <a:pt x="579303" y="1426672"/>
                  <a:pt x="542376" y="1402169"/>
                  <a:pt x="527927" y="1362645"/>
                </a:cubicBezTo>
                <a:cubicBezTo>
                  <a:pt x="508929" y="1309949"/>
                  <a:pt x="562979" y="1353160"/>
                  <a:pt x="572881" y="1333136"/>
                </a:cubicBezTo>
                <a:cubicBezTo>
                  <a:pt x="552277" y="1305735"/>
                  <a:pt x="520434" y="1280703"/>
                  <a:pt x="512140" y="1249612"/>
                </a:cubicBezTo>
                <a:cubicBezTo>
                  <a:pt x="481905" y="1137368"/>
                  <a:pt x="416616" y="1055689"/>
                  <a:pt x="318951" y="992190"/>
                </a:cubicBezTo>
                <a:cubicBezTo>
                  <a:pt x="290855" y="974010"/>
                  <a:pt x="272393" y="940811"/>
                  <a:pt x="234131" y="935543"/>
                </a:cubicBezTo>
                <a:cubicBezTo>
                  <a:pt x="149040" y="923949"/>
                  <a:pt x="175798" y="833311"/>
                  <a:pt x="130844" y="792998"/>
                </a:cubicBezTo>
                <a:cubicBezTo>
                  <a:pt x="122282" y="785355"/>
                  <a:pt x="114523" y="770339"/>
                  <a:pt x="116127" y="760064"/>
                </a:cubicBezTo>
                <a:cubicBezTo>
                  <a:pt x="118534" y="745306"/>
                  <a:pt x="128704" y="731343"/>
                  <a:pt x="137266" y="718168"/>
                </a:cubicBezTo>
                <a:cubicBezTo>
                  <a:pt x="146097" y="704995"/>
                  <a:pt x="159474" y="693400"/>
                  <a:pt x="153053" y="676011"/>
                </a:cubicBezTo>
                <a:cubicBezTo>
                  <a:pt x="150380" y="668898"/>
                  <a:pt x="152250" y="644130"/>
                  <a:pt x="132450" y="663627"/>
                </a:cubicBezTo>
                <a:cubicBezTo>
                  <a:pt x="78133" y="717115"/>
                  <a:pt x="46557" y="666528"/>
                  <a:pt x="0" y="642286"/>
                </a:cubicBezTo>
                <a:cubicBezTo>
                  <a:pt x="37460" y="617254"/>
                  <a:pt x="71175" y="599602"/>
                  <a:pt x="76795" y="562188"/>
                </a:cubicBezTo>
                <a:cubicBezTo>
                  <a:pt x="88300" y="484987"/>
                  <a:pt x="137532" y="449681"/>
                  <a:pt x="212187" y="442830"/>
                </a:cubicBezTo>
                <a:cubicBezTo>
                  <a:pt x="184627" y="368265"/>
                  <a:pt x="184627" y="368265"/>
                  <a:pt x="273730" y="357988"/>
                </a:cubicBezTo>
                <a:cubicBezTo>
                  <a:pt x="239480" y="310562"/>
                  <a:pt x="239480" y="298442"/>
                  <a:pt x="280956" y="282106"/>
                </a:cubicBezTo>
                <a:cubicBezTo>
                  <a:pt x="320824" y="266560"/>
                  <a:pt x="364973" y="261290"/>
                  <a:pt x="401900" y="237315"/>
                </a:cubicBezTo>
                <a:cubicBezTo>
                  <a:pt x="367917" y="176713"/>
                  <a:pt x="358285" y="106364"/>
                  <a:pt x="288180" y="76852"/>
                </a:cubicBezTo>
                <a:cubicBezTo>
                  <a:pt x="277209" y="72374"/>
                  <a:pt x="269717" y="54193"/>
                  <a:pt x="276673" y="43654"/>
                </a:cubicBezTo>
                <a:cubicBezTo>
                  <a:pt x="283028" y="34103"/>
                  <a:pt x="285520" y="22412"/>
                  <a:pt x="286921" y="10118"/>
                </a:cubicBezTo>
                <a:close/>
              </a:path>
            </a:pathLst>
          </a:custGeom>
        </p:spPr>
      </p:pic>
      <p:pic>
        <p:nvPicPr>
          <p:cNvPr id="5" name="Picture 4">
            <a:extLst>
              <a:ext uri="{FF2B5EF4-FFF2-40B4-BE49-F238E27FC236}">
                <a16:creationId xmlns:a16="http://schemas.microsoft.com/office/drawing/2014/main" id="{813D23C2-E340-EE21-3D57-4241F17E9B3C}"/>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19026" r="14606"/>
          <a:stretch>
            <a:fillRect/>
          </a:stretch>
        </p:blipFill>
        <p:spPr>
          <a:xfrm>
            <a:off x="8556350" y="10"/>
            <a:ext cx="3635653" cy="3660317"/>
          </a:xfrm>
          <a:custGeom>
            <a:avLst/>
            <a:gdLst/>
            <a:ahLst/>
            <a:cxnLst/>
            <a:rect l="l" t="t" r="r" b="b"/>
            <a:pathLst>
              <a:path w="3635653" h="3660327">
                <a:moveTo>
                  <a:pt x="402121" y="0"/>
                </a:moveTo>
                <a:lnTo>
                  <a:pt x="3635653" y="0"/>
                </a:lnTo>
                <a:lnTo>
                  <a:pt x="3635653" y="3605403"/>
                </a:lnTo>
                <a:lnTo>
                  <a:pt x="3616543" y="3610878"/>
                </a:lnTo>
                <a:cubicBezTo>
                  <a:pt x="3510165" y="3637200"/>
                  <a:pt x="3401766" y="3654952"/>
                  <a:pt x="3290337" y="3659389"/>
                </a:cubicBezTo>
                <a:cubicBezTo>
                  <a:pt x="3106332" y="3666430"/>
                  <a:pt x="1510274" y="3659697"/>
                  <a:pt x="861903" y="2652440"/>
                </a:cubicBezTo>
                <a:cubicBezTo>
                  <a:pt x="849470" y="2647542"/>
                  <a:pt x="835485" y="2634687"/>
                  <a:pt x="831133" y="2622444"/>
                </a:cubicBezTo>
                <a:cubicBezTo>
                  <a:pt x="810307" y="2565210"/>
                  <a:pt x="759333" y="2540419"/>
                  <a:pt x="713332" y="2509507"/>
                </a:cubicBezTo>
                <a:cubicBezTo>
                  <a:pt x="672925" y="2482267"/>
                  <a:pt x="630030" y="2453803"/>
                  <a:pt x="613246" y="2407892"/>
                </a:cubicBezTo>
                <a:cubicBezTo>
                  <a:pt x="591178" y="2346680"/>
                  <a:pt x="653963" y="2396875"/>
                  <a:pt x="665465" y="2373614"/>
                </a:cubicBezTo>
                <a:cubicBezTo>
                  <a:pt x="641532" y="2341785"/>
                  <a:pt x="604543" y="2312707"/>
                  <a:pt x="594908" y="2276592"/>
                </a:cubicBezTo>
                <a:cubicBezTo>
                  <a:pt x="559787" y="2146208"/>
                  <a:pt x="483946" y="2051328"/>
                  <a:pt x="370497" y="1977567"/>
                </a:cubicBezTo>
                <a:cubicBezTo>
                  <a:pt x="337860" y="1956449"/>
                  <a:pt x="316415" y="1917884"/>
                  <a:pt x="271969" y="1911765"/>
                </a:cubicBezTo>
                <a:cubicBezTo>
                  <a:pt x="173127" y="1898297"/>
                  <a:pt x="204209" y="1793011"/>
                  <a:pt x="151990" y="1746183"/>
                </a:cubicBezTo>
                <a:cubicBezTo>
                  <a:pt x="142044" y="1737306"/>
                  <a:pt x="133031" y="1719862"/>
                  <a:pt x="134895" y="1707927"/>
                </a:cubicBezTo>
                <a:cubicBezTo>
                  <a:pt x="137691" y="1690784"/>
                  <a:pt x="149504" y="1674564"/>
                  <a:pt x="159450" y="1659260"/>
                </a:cubicBezTo>
                <a:cubicBezTo>
                  <a:pt x="169707" y="1643958"/>
                  <a:pt x="185247" y="1630489"/>
                  <a:pt x="177788" y="1610290"/>
                </a:cubicBezTo>
                <a:cubicBezTo>
                  <a:pt x="174683" y="1602027"/>
                  <a:pt x="176855" y="1573257"/>
                  <a:pt x="153855" y="1595904"/>
                </a:cubicBezTo>
                <a:cubicBezTo>
                  <a:pt x="90759" y="1658037"/>
                  <a:pt x="54081" y="1599274"/>
                  <a:pt x="0" y="1571114"/>
                </a:cubicBezTo>
                <a:cubicBezTo>
                  <a:pt x="43514" y="1542037"/>
                  <a:pt x="82677" y="1521532"/>
                  <a:pt x="89205" y="1478072"/>
                </a:cubicBezTo>
                <a:cubicBezTo>
                  <a:pt x="102570" y="1388394"/>
                  <a:pt x="159758" y="1347382"/>
                  <a:pt x="246479" y="1339424"/>
                </a:cubicBezTo>
                <a:cubicBezTo>
                  <a:pt x="214465" y="1252808"/>
                  <a:pt x="214465" y="1252808"/>
                  <a:pt x="317968" y="1240870"/>
                </a:cubicBezTo>
                <a:cubicBezTo>
                  <a:pt x="278183" y="1185780"/>
                  <a:pt x="278183" y="1171701"/>
                  <a:pt x="326361" y="1152725"/>
                </a:cubicBezTo>
                <a:cubicBezTo>
                  <a:pt x="372673" y="1134666"/>
                  <a:pt x="423957" y="1128545"/>
                  <a:pt x="466852" y="1100695"/>
                </a:cubicBezTo>
                <a:cubicBezTo>
                  <a:pt x="427377" y="1030299"/>
                  <a:pt x="416187" y="948581"/>
                  <a:pt x="334753" y="914300"/>
                </a:cubicBezTo>
                <a:cubicBezTo>
                  <a:pt x="322010" y="909097"/>
                  <a:pt x="313307" y="887979"/>
                  <a:pt x="321386" y="875737"/>
                </a:cubicBezTo>
                <a:cubicBezTo>
                  <a:pt x="350915" y="831359"/>
                  <a:pt x="308644" y="747189"/>
                  <a:pt x="400645" y="737702"/>
                </a:cubicBezTo>
                <a:cubicBezTo>
                  <a:pt x="412147" y="736784"/>
                  <a:pt x="422716" y="727601"/>
                  <a:pt x="413701" y="715664"/>
                </a:cubicBezTo>
                <a:cubicBezTo>
                  <a:pt x="382618" y="674041"/>
                  <a:pt x="420228" y="676794"/>
                  <a:pt x="442916" y="671592"/>
                </a:cubicBezTo>
                <a:cubicBezTo>
                  <a:pt x="470270" y="665166"/>
                  <a:pt x="501352" y="683528"/>
                  <a:pt x="526840" y="660880"/>
                </a:cubicBezTo>
                <a:cubicBezTo>
                  <a:pt x="520932" y="637006"/>
                  <a:pt x="498866" y="637312"/>
                  <a:pt x="483325" y="629661"/>
                </a:cubicBezTo>
                <a:cubicBezTo>
                  <a:pt x="437945" y="607624"/>
                  <a:pt x="400956" y="581304"/>
                  <a:pt x="398780" y="524068"/>
                </a:cubicBezTo>
                <a:cubicBezTo>
                  <a:pt x="397228" y="477853"/>
                  <a:pt x="392254" y="437148"/>
                  <a:pt x="455041" y="423067"/>
                </a:cubicBezTo>
                <a:cubicBezTo>
                  <a:pt x="481149" y="417251"/>
                  <a:pt x="473687" y="383892"/>
                  <a:pt x="458768" y="367363"/>
                </a:cubicBezTo>
                <a:cubicBezTo>
                  <a:pt x="432038" y="337982"/>
                  <a:pt x="409972" y="298806"/>
                  <a:pt x="363968" y="296052"/>
                </a:cubicBezTo>
                <a:cubicBezTo>
                  <a:pt x="335995" y="294216"/>
                  <a:pt x="314548" y="281971"/>
                  <a:pt x="292481" y="267894"/>
                </a:cubicBezTo>
                <a:cubicBezTo>
                  <a:pt x="276630" y="257791"/>
                  <a:pt x="257670" y="249223"/>
                  <a:pt x="259533" y="227493"/>
                </a:cubicBezTo>
                <a:cubicBezTo>
                  <a:pt x="261399" y="206680"/>
                  <a:pt x="279736" y="198111"/>
                  <a:pt x="298387" y="193826"/>
                </a:cubicBezTo>
                <a:cubicBezTo>
                  <a:pt x="360552" y="180054"/>
                  <a:pt x="418983" y="159853"/>
                  <a:pt x="470893" y="113638"/>
                </a:cubicBezTo>
                <a:cubicBezTo>
                  <a:pt x="436390" y="89152"/>
                  <a:pt x="403444" y="71400"/>
                  <a:pt x="377957" y="46608"/>
                </a:cubicBezTo>
                <a:cubicBezTo>
                  <a:pt x="370264" y="39110"/>
                  <a:pt x="371678" y="29598"/>
                  <a:pt x="380092" y="18562"/>
                </a:cubicBezTo>
                <a:close/>
              </a:path>
            </a:pathLst>
          </a:custGeom>
        </p:spPr>
      </p:pic>
      <p:sp>
        <p:nvSpPr>
          <p:cNvPr id="3" name="Content Placeholder 2">
            <a:extLst>
              <a:ext uri="{FF2B5EF4-FFF2-40B4-BE49-F238E27FC236}">
                <a16:creationId xmlns:a16="http://schemas.microsoft.com/office/drawing/2014/main" id="{174BF0EF-11F1-EC2A-6649-65EC732A1D75}"/>
              </a:ext>
            </a:extLst>
          </p:cNvPr>
          <p:cNvSpPr>
            <a:spLocks noGrp="1"/>
          </p:cNvSpPr>
          <p:nvPr>
            <p:ph idx="1"/>
          </p:nvPr>
        </p:nvSpPr>
        <p:spPr>
          <a:xfrm>
            <a:off x="4498849" y="5000822"/>
            <a:ext cx="6864411" cy="1355528"/>
          </a:xfrm>
        </p:spPr>
        <p:txBody>
          <a:bodyPr vert="horz" lIns="91440" tIns="45720" rIns="91440" bIns="45720" rtlCol="0" anchor="t">
            <a:normAutofit/>
          </a:bodyPr>
          <a:lstStyle/>
          <a:p>
            <a:r>
              <a:rPr lang="en-US" sz="1400"/>
              <a:t>Measure system performance with basic KPI establishment</a:t>
            </a:r>
          </a:p>
          <a:p>
            <a:r>
              <a:rPr lang="en-US" sz="1400" dirty="0"/>
              <a:t>Identify breakdowns in housing conversion funnel  </a:t>
            </a:r>
          </a:p>
          <a:p>
            <a:r>
              <a:rPr lang="en-US" sz="1400"/>
              <a:t>Provide data-driven recommendations for outreach + capacity</a:t>
            </a:r>
          </a:p>
        </p:txBody>
      </p:sp>
    </p:spTree>
    <p:extLst>
      <p:ext uri="{BB962C8B-B14F-4D97-AF65-F5344CB8AC3E}">
        <p14:creationId xmlns:p14="http://schemas.microsoft.com/office/powerpoint/2010/main" val="2078158360"/>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C9CE08-1CDC-8D6A-722B-C3A91A13B4E8}"/>
              </a:ext>
            </a:extLst>
          </p:cNvPr>
          <p:cNvSpPr>
            <a:spLocks noGrp="1"/>
          </p:cNvSpPr>
          <p:nvPr>
            <p:ph type="title"/>
          </p:nvPr>
        </p:nvSpPr>
        <p:spPr>
          <a:xfrm>
            <a:off x="640080" y="329184"/>
            <a:ext cx="6894576" cy="1783080"/>
          </a:xfrm>
        </p:spPr>
        <p:txBody>
          <a:bodyPr anchor="b">
            <a:normAutofit/>
          </a:bodyPr>
          <a:lstStyle/>
          <a:p>
            <a:r>
              <a:rPr lang="en-US" sz="5400"/>
              <a:t>Objective 1: Customer Segmentation</a:t>
            </a:r>
          </a:p>
        </p:txBody>
      </p:sp>
      <p:sp>
        <p:nvSpPr>
          <p:cNvPr id="1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802DF2-BC35-4E8F-A257-95898B197295}"/>
              </a:ext>
            </a:extLst>
          </p:cNvPr>
          <p:cNvSpPr>
            <a:spLocks noGrp="1"/>
          </p:cNvSpPr>
          <p:nvPr>
            <p:ph idx="1"/>
          </p:nvPr>
        </p:nvSpPr>
        <p:spPr>
          <a:xfrm>
            <a:off x="640080" y="2706624"/>
            <a:ext cx="6894576" cy="3483864"/>
          </a:xfrm>
        </p:spPr>
        <p:txBody>
          <a:bodyPr vert="horz" lIns="91440" tIns="45720" rIns="91440" bIns="45720" rtlCol="0" anchor="t">
            <a:normAutofit/>
          </a:bodyPr>
          <a:lstStyle/>
          <a:p>
            <a:pPr marL="0" indent="0">
              <a:buNone/>
            </a:pPr>
            <a:endParaRPr lang="en-US" sz="2200" dirty="0"/>
          </a:p>
          <a:p>
            <a:r>
              <a:rPr lang="en-US" sz="2200"/>
              <a:t>Identify distinct </a:t>
            </a:r>
            <a:r>
              <a:rPr lang="en-US" sz="2200" dirty="0"/>
              <a:t>needs and barriers across </a:t>
            </a:r>
            <a:r>
              <a:rPr lang="en-US" sz="2200"/>
              <a:t>population segments</a:t>
            </a:r>
            <a:endParaRPr lang="en-US" dirty="0"/>
          </a:p>
          <a:p>
            <a:r>
              <a:rPr lang="en-US" sz="2200"/>
              <a:t>Use qualitative insights to understand documentation and access issues</a:t>
            </a:r>
            <a:endParaRPr lang="en-US" sz="2200" dirty="0"/>
          </a:p>
        </p:txBody>
      </p:sp>
      <p:pic>
        <p:nvPicPr>
          <p:cNvPr id="10" name="Picture 9">
            <a:extLst>
              <a:ext uri="{FF2B5EF4-FFF2-40B4-BE49-F238E27FC236}">
                <a16:creationId xmlns:a16="http://schemas.microsoft.com/office/drawing/2014/main" id="{D330C26B-269D-36CA-1C3E-FEF73756CA3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863840" y="624139"/>
            <a:ext cx="4014216" cy="2840057"/>
          </a:xfrm>
          <a:prstGeom prst="rect">
            <a:avLst/>
          </a:prstGeom>
        </p:spPr>
      </p:pic>
      <p:pic>
        <p:nvPicPr>
          <p:cNvPr id="8" name="Picture 7">
            <a:extLst>
              <a:ext uri="{FF2B5EF4-FFF2-40B4-BE49-F238E27FC236}">
                <a16:creationId xmlns:a16="http://schemas.microsoft.com/office/drawing/2014/main" id="{48DCADB9-7BBC-BF67-4D95-6ED9A6B53DAC}"/>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8231638" y="4079193"/>
            <a:ext cx="3260332" cy="2176272"/>
          </a:xfrm>
          <a:prstGeom prst="rect">
            <a:avLst/>
          </a:prstGeom>
        </p:spPr>
      </p:pic>
    </p:spTree>
    <p:extLst>
      <p:ext uri="{BB962C8B-B14F-4D97-AF65-F5344CB8AC3E}">
        <p14:creationId xmlns:p14="http://schemas.microsoft.com/office/powerpoint/2010/main" val="3731310251"/>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7A9CD7-E186-139B-3653-DE788C262832}"/>
              </a:ext>
            </a:extLst>
          </p:cNvPr>
          <p:cNvSpPr>
            <a:spLocks noGrp="1"/>
          </p:cNvSpPr>
          <p:nvPr>
            <p:ph type="title"/>
          </p:nvPr>
        </p:nvSpPr>
        <p:spPr>
          <a:xfrm>
            <a:off x="1043631" y="809898"/>
            <a:ext cx="10173010" cy="1554480"/>
          </a:xfrm>
        </p:spPr>
        <p:txBody>
          <a:bodyPr anchor="ctr">
            <a:normAutofit/>
          </a:bodyPr>
          <a:lstStyle/>
          <a:p>
            <a:r>
              <a:rPr lang="en-US" sz="4800"/>
              <a:t>Objective 2: Outreach Channel Optimization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C6DD881-A302-D9E0-A7FF-C8EDBE1C0136}"/>
              </a:ext>
            </a:extLst>
          </p:cNvPr>
          <p:cNvGraphicFramePr>
            <a:graphicFrameLocks noGrp="1"/>
          </p:cNvGraphicFramePr>
          <p:nvPr>
            <p:ph idx="1"/>
            <p:extLst>
              <p:ext uri="{D42A27DB-BD31-4B8C-83A1-F6EECF244321}">
                <p14:modId xmlns:p14="http://schemas.microsoft.com/office/powerpoint/2010/main" val="174009412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3751097"/>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FCB308-E9E0-45CB-8B92-217A41EC6D0D}"/>
              </a:ext>
            </a:extLst>
          </p:cNvPr>
          <p:cNvSpPr>
            <a:spLocks noGrp="1"/>
          </p:cNvSpPr>
          <p:nvPr>
            <p:ph type="title"/>
          </p:nvPr>
        </p:nvSpPr>
        <p:spPr>
          <a:xfrm>
            <a:off x="640080" y="329184"/>
            <a:ext cx="6894576" cy="1783080"/>
          </a:xfrm>
        </p:spPr>
        <p:txBody>
          <a:bodyPr anchor="b">
            <a:normAutofit/>
          </a:bodyPr>
          <a:lstStyle/>
          <a:p>
            <a:r>
              <a:rPr lang="en-US" sz="5000"/>
              <a:t>Objective 3: Personalized Resource Matching</a:t>
            </a:r>
          </a:p>
        </p:txBody>
      </p:sp>
      <p:sp>
        <p:nvSpPr>
          <p:cNvPr id="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B2AEF9CE-AA7E-FF65-4199-9CBC91B44543}"/>
              </a:ext>
            </a:extLst>
          </p:cNvPr>
          <p:cNvGraphicFramePr>
            <a:graphicFrameLocks noGrp="1"/>
          </p:cNvGraphicFramePr>
          <p:nvPr>
            <p:ph idx="1"/>
          </p:nvPr>
        </p:nvGraphicFramePr>
        <p:xfrm>
          <a:off x="640080" y="2706624"/>
          <a:ext cx="6894576" cy="34838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57DF7542-A426-38E7-D59A-84CBA0ABA881}"/>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7863840" y="443499"/>
            <a:ext cx="4014216" cy="3201337"/>
          </a:xfrm>
          <a:prstGeom prst="rect">
            <a:avLst/>
          </a:prstGeom>
        </p:spPr>
      </p:pic>
      <p:pic>
        <p:nvPicPr>
          <p:cNvPr id="8" name="Picture 7">
            <a:extLst>
              <a:ext uri="{FF2B5EF4-FFF2-40B4-BE49-F238E27FC236}">
                <a16:creationId xmlns:a16="http://schemas.microsoft.com/office/drawing/2014/main" id="{6BDD9E2E-B9CF-F052-DA59-8C673E97B240}"/>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7927340" y="4079193"/>
            <a:ext cx="3868928" cy="2176272"/>
          </a:xfrm>
          <a:prstGeom prst="rect">
            <a:avLst/>
          </a:prstGeom>
        </p:spPr>
      </p:pic>
    </p:spTree>
    <p:extLst>
      <p:ext uri="{BB962C8B-B14F-4D97-AF65-F5344CB8AC3E}">
        <p14:creationId xmlns:p14="http://schemas.microsoft.com/office/powerpoint/2010/main" val="2144286379"/>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5EBC18B6-E5C3-4AD1-97A4-E6A3477A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DC576-BEF4-0569-C8D8-ECBE86504128}"/>
              </a:ext>
            </a:extLst>
          </p:cNvPr>
          <p:cNvSpPr>
            <a:spLocks noGrp="1"/>
          </p:cNvSpPr>
          <p:nvPr>
            <p:ph type="title"/>
          </p:nvPr>
        </p:nvSpPr>
        <p:spPr>
          <a:xfrm>
            <a:off x="612648" y="1078992"/>
            <a:ext cx="6272784" cy="1545336"/>
          </a:xfrm>
        </p:spPr>
        <p:txBody>
          <a:bodyPr anchor="b">
            <a:normAutofit/>
          </a:bodyPr>
          <a:lstStyle/>
          <a:p>
            <a:r>
              <a:rPr lang="en-US" sz="5200"/>
              <a:t>Objective 4: Impact Measurement </a:t>
            </a:r>
          </a:p>
        </p:txBody>
      </p:sp>
      <p:sp>
        <p:nvSpPr>
          <p:cNvPr id="36" name="Rectangle 35">
            <a:extLst>
              <a:ext uri="{FF2B5EF4-FFF2-40B4-BE49-F238E27FC236}">
                <a16:creationId xmlns:a16="http://schemas.microsoft.com/office/drawing/2014/main" id="{136A4AB6-B72B-4CC6-ADCF-BE807B6C3D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039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ACA68F61-D755-BBB3-D6B8-9DF1EDC56BF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7986" b="5753"/>
          <a:stretch>
            <a:fillRect/>
          </a:stretch>
        </p:blipFill>
        <p:spPr>
          <a:xfrm>
            <a:off x="7684008" y="1"/>
            <a:ext cx="4507992" cy="2240280"/>
          </a:xfrm>
          <a:prstGeom prst="rect">
            <a:avLst/>
          </a:prstGeom>
        </p:spPr>
      </p:pic>
      <p:sp>
        <p:nvSpPr>
          <p:cNvPr id="37" name="Rectangle 36">
            <a:extLst>
              <a:ext uri="{FF2B5EF4-FFF2-40B4-BE49-F238E27FC236}">
                <a16:creationId xmlns:a16="http://schemas.microsoft.com/office/drawing/2014/main" id="{B35D540D-9486-4236-952A-F72DC52D79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792"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2" name="Content Placeholder 2">
            <a:extLst>
              <a:ext uri="{FF2B5EF4-FFF2-40B4-BE49-F238E27FC236}">
                <a16:creationId xmlns:a16="http://schemas.microsoft.com/office/drawing/2014/main" id="{10E7DABB-6C3A-FC53-1D60-F40646E17855}"/>
              </a:ext>
            </a:extLst>
          </p:cNvPr>
          <p:cNvGraphicFramePr>
            <a:graphicFrameLocks noGrp="1"/>
          </p:cNvGraphicFramePr>
          <p:nvPr>
            <p:ph idx="1"/>
          </p:nvPr>
        </p:nvGraphicFramePr>
        <p:xfrm>
          <a:off x="612648" y="3355848"/>
          <a:ext cx="6272784" cy="282549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5" name="Picture 4">
            <a:extLst>
              <a:ext uri="{FF2B5EF4-FFF2-40B4-BE49-F238E27FC236}">
                <a16:creationId xmlns:a16="http://schemas.microsoft.com/office/drawing/2014/main" id="{2FADF219-4877-3939-AF85-486B141C5489}"/>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t="21430"/>
          <a:stretch>
            <a:fillRect/>
          </a:stretch>
        </p:blipFill>
        <p:spPr>
          <a:xfrm>
            <a:off x="7684008" y="2308860"/>
            <a:ext cx="4507992" cy="2240280"/>
          </a:xfrm>
          <a:prstGeom prst="rect">
            <a:avLst/>
          </a:prstGeom>
        </p:spPr>
      </p:pic>
      <p:pic>
        <p:nvPicPr>
          <p:cNvPr id="11" name="Picture 10">
            <a:extLst>
              <a:ext uri="{FF2B5EF4-FFF2-40B4-BE49-F238E27FC236}">
                <a16:creationId xmlns:a16="http://schemas.microsoft.com/office/drawing/2014/main" id="{5BCAC10C-32F3-3D81-93CC-8C5E3962523A}"/>
              </a:ext>
            </a:extLst>
          </p:cNvPr>
          <p:cNvPicPr>
            <a:picLocks noChangeAspect="1"/>
          </p:cNvPicPr>
          <p:nvPr/>
        </p:nvPicPr>
        <p:blipFill>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t="11725" b="18527"/>
          <a:stretch>
            <a:fillRect/>
          </a:stretch>
        </p:blipFill>
        <p:spPr>
          <a:xfrm>
            <a:off x="7684008" y="4617720"/>
            <a:ext cx="4507992" cy="2240280"/>
          </a:xfrm>
          <a:prstGeom prst="rect">
            <a:avLst/>
          </a:prstGeom>
        </p:spPr>
      </p:pic>
    </p:spTree>
    <p:extLst>
      <p:ext uri="{BB962C8B-B14F-4D97-AF65-F5344CB8AC3E}">
        <p14:creationId xmlns:p14="http://schemas.microsoft.com/office/powerpoint/2010/main" val="1443109948"/>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6D24BC9E-AC6A-42EE-AFD8-B290720B8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107624"/>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5A534E-21DC-A2D3-D9F3-5FD66A4937D8}"/>
              </a:ext>
            </a:extLst>
          </p:cNvPr>
          <p:cNvSpPr>
            <a:spLocks noGrp="1"/>
          </p:cNvSpPr>
          <p:nvPr>
            <p:ph type="title"/>
          </p:nvPr>
        </p:nvSpPr>
        <p:spPr>
          <a:xfrm>
            <a:off x="1051560" y="4329321"/>
            <a:ext cx="3657600" cy="1645920"/>
          </a:xfrm>
        </p:spPr>
        <p:txBody>
          <a:bodyPr>
            <a:normAutofit/>
          </a:bodyPr>
          <a:lstStyle/>
          <a:p>
            <a:r>
              <a:rPr lang="en-US" sz="3200"/>
              <a:t>Problem Definition</a:t>
            </a:r>
          </a:p>
        </p:txBody>
      </p:sp>
      <p:pic>
        <p:nvPicPr>
          <p:cNvPr id="8" name="Picture 7">
            <a:extLst>
              <a:ext uri="{FF2B5EF4-FFF2-40B4-BE49-F238E27FC236}">
                <a16:creationId xmlns:a16="http://schemas.microsoft.com/office/drawing/2014/main" id="{5560D0BC-E108-E6C5-800E-90D119FA0BC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576470" y="361910"/>
            <a:ext cx="3449025" cy="3483864"/>
          </a:xfrm>
          <a:prstGeom prst="rect">
            <a:avLst/>
          </a:prstGeom>
        </p:spPr>
      </p:pic>
      <p:pic>
        <p:nvPicPr>
          <p:cNvPr id="5" name="Picture 4">
            <a:extLst>
              <a:ext uri="{FF2B5EF4-FFF2-40B4-BE49-F238E27FC236}">
                <a16:creationId xmlns:a16="http://schemas.microsoft.com/office/drawing/2014/main" id="{B9FA6287-3E49-9248-4408-F5A2B98CF4AA}"/>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6311049" y="357251"/>
            <a:ext cx="5298652" cy="3483864"/>
          </a:xfrm>
          <a:prstGeom prst="rect">
            <a:avLst/>
          </a:prstGeom>
        </p:spPr>
      </p:pic>
      <p:sp>
        <p:nvSpPr>
          <p:cNvPr id="31" name="Rectangle 30">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80023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5143137"/>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D88C11D-BDB4-2603-0A38-5A5654AAA302}"/>
              </a:ext>
            </a:extLst>
          </p:cNvPr>
          <p:cNvSpPr>
            <a:spLocks noGrp="1"/>
          </p:cNvSpPr>
          <p:nvPr>
            <p:ph idx="1"/>
          </p:nvPr>
        </p:nvSpPr>
        <p:spPr>
          <a:xfrm>
            <a:off x="5250106" y="4329321"/>
            <a:ext cx="6106742" cy="1645920"/>
          </a:xfrm>
        </p:spPr>
        <p:txBody>
          <a:bodyPr anchor="ctr">
            <a:normAutofit/>
          </a:bodyPr>
          <a:lstStyle/>
          <a:p>
            <a:r>
              <a:rPr lang="en-US" sz="1800" dirty="0"/>
              <a:t>Large portion of individuals remain unsheltered</a:t>
            </a:r>
            <a:endParaRPr lang="en-US" dirty="0"/>
          </a:p>
          <a:p>
            <a:r>
              <a:rPr lang="en-US" sz="1800" dirty="0"/>
              <a:t>Indicates failure in conversion stage of service </a:t>
            </a:r>
            <a:r>
              <a:rPr lang="en-US" sz="1800" dirty="0" err="1"/>
              <a:t>funne</a:t>
            </a:r>
            <a:r>
              <a:rPr lang="en-US" sz="1800" dirty="0"/>
              <a:t>l</a:t>
            </a:r>
          </a:p>
          <a:p>
            <a:r>
              <a:rPr lang="en-US" sz="1800"/>
              <a:t>Lack of KPIs prevents</a:t>
            </a:r>
          </a:p>
          <a:p>
            <a:pPr lvl="1">
              <a:buFont typeface="Courier New" panose="020B0604020202020204" pitchFamily="34" charset="0"/>
              <a:buChar char="o"/>
            </a:pPr>
            <a:r>
              <a:rPr lang="en-US" sz="1400" dirty="0"/>
              <a:t>Identifying bottlenecks</a:t>
            </a:r>
          </a:p>
          <a:p>
            <a:pPr lvl="1">
              <a:buFont typeface="Courier New" panose="020B0604020202020204" pitchFamily="34" charset="0"/>
              <a:buChar char="o"/>
            </a:pPr>
            <a:r>
              <a:rPr lang="en-US" sz="1400"/>
              <a:t>Improving resource allocation</a:t>
            </a:r>
            <a:endParaRPr lang="en-US" sz="1400" dirty="0"/>
          </a:p>
        </p:txBody>
      </p:sp>
      <p:sp>
        <p:nvSpPr>
          <p:cNvPr id="4" name="TextBox 3">
            <a:extLst>
              <a:ext uri="{FF2B5EF4-FFF2-40B4-BE49-F238E27FC236}">
                <a16:creationId xmlns:a16="http://schemas.microsoft.com/office/drawing/2014/main" id="{237EEBF7-2DE4-F762-1561-1CCC2881B652}"/>
              </a:ext>
            </a:extLst>
          </p:cNvPr>
          <p:cNvSpPr txBox="1"/>
          <p:nvPr/>
        </p:nvSpPr>
        <p:spPr>
          <a:xfrm>
            <a:off x="191637" y="6394664"/>
            <a:ext cx="112965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CORE ISSUE: Capacity + Conversion </a:t>
            </a:r>
            <a:r>
              <a:rPr lang="en-US"/>
              <a:t>Inefficiency</a:t>
            </a:r>
            <a:endParaRPr lang="en-US" dirty="0"/>
          </a:p>
        </p:txBody>
      </p:sp>
    </p:spTree>
    <p:extLst>
      <p:ext uri="{BB962C8B-B14F-4D97-AF65-F5344CB8AC3E}">
        <p14:creationId xmlns:p14="http://schemas.microsoft.com/office/powerpoint/2010/main" val="445269451"/>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CC99981-5BE0-76F8-D97C-D1C1B8A355D5}"/>
              </a:ext>
            </a:extLst>
          </p:cNvPr>
          <p:cNvSpPr>
            <a:spLocks noGrp="1"/>
          </p:cNvSpPr>
          <p:nvPr>
            <p:ph type="title"/>
          </p:nvPr>
        </p:nvSpPr>
        <p:spPr>
          <a:xfrm>
            <a:off x="621792" y="1161288"/>
            <a:ext cx="3602736" cy="4526280"/>
          </a:xfrm>
        </p:spPr>
        <p:txBody>
          <a:bodyPr>
            <a:normAutofit/>
          </a:bodyPr>
          <a:lstStyle/>
          <a:p>
            <a:r>
              <a:rPr lang="en-US" sz="4000"/>
              <a:t>Literature Review: Key Insights</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EC2CF30-33C6-694E-3CCB-C544D6AC91D6}"/>
              </a:ext>
            </a:extLst>
          </p:cNvPr>
          <p:cNvGraphicFramePr>
            <a:graphicFrameLocks noGrp="1"/>
          </p:cNvGraphicFramePr>
          <p:nvPr>
            <p:ph idx="1"/>
            <p:extLst>
              <p:ext uri="{D42A27DB-BD31-4B8C-83A1-F6EECF244321}">
                <p14:modId xmlns:p14="http://schemas.microsoft.com/office/powerpoint/2010/main" val="3460408220"/>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4248811"/>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B8B96-71C5-C9AE-07B6-88ECD44CA217}"/>
              </a:ext>
            </a:extLst>
          </p:cNvPr>
          <p:cNvSpPr>
            <a:spLocks noGrp="1"/>
          </p:cNvSpPr>
          <p:nvPr>
            <p:ph type="title"/>
          </p:nvPr>
        </p:nvSpPr>
        <p:spPr>
          <a:xfrm>
            <a:off x="630936" y="457200"/>
            <a:ext cx="4343400" cy="1929384"/>
          </a:xfrm>
        </p:spPr>
        <p:txBody>
          <a:bodyPr anchor="ctr">
            <a:normAutofit/>
          </a:bodyPr>
          <a:lstStyle/>
          <a:p>
            <a:r>
              <a:rPr lang="en-US" sz="4800"/>
              <a:t>Data Collection</a:t>
            </a:r>
          </a:p>
        </p:txBody>
      </p:sp>
      <p:sp>
        <p:nvSpPr>
          <p:cNvPr id="1033"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DF7A123-5556-C87B-F3BC-1C222CC79ED2}"/>
              </a:ext>
            </a:extLst>
          </p:cNvPr>
          <p:cNvSpPr>
            <a:spLocks noGrp="1"/>
          </p:cNvSpPr>
          <p:nvPr>
            <p:ph idx="1"/>
          </p:nvPr>
        </p:nvSpPr>
        <p:spPr>
          <a:xfrm>
            <a:off x="5541263" y="457200"/>
            <a:ext cx="6007608" cy="1929384"/>
          </a:xfrm>
        </p:spPr>
        <p:txBody>
          <a:bodyPr anchor="ctr">
            <a:normAutofit/>
          </a:bodyPr>
          <a:lstStyle/>
          <a:p>
            <a:r>
              <a:rPr lang="en-US" sz="1900"/>
              <a:t>Quantitative: HUD Point‑in‑Time (PIT) data (2007–2024) </a:t>
            </a:r>
          </a:p>
          <a:p>
            <a:r>
              <a:rPr lang="en-US" sz="1900"/>
              <a:t>Qualitative: Interview with a local organization with valuable insight on the inside</a:t>
            </a:r>
          </a:p>
          <a:p>
            <a:r>
              <a:rPr lang="en-US" sz="1900" dirty="0"/>
              <a:t>Limitation: Lack of granular, ind</a:t>
            </a:r>
            <a:r>
              <a:rPr lang="en-US" sz="1900"/>
              <a:t>ividual-level tracking</a:t>
            </a:r>
          </a:p>
        </p:txBody>
      </p:sp>
      <p:pic>
        <p:nvPicPr>
          <p:cNvPr id="5" name="Picture 4" descr="A graph of a number of people&#10;&#10;AI-generated content may be incorrect.">
            <a:extLst>
              <a:ext uri="{FF2B5EF4-FFF2-40B4-BE49-F238E27FC236}">
                <a16:creationId xmlns:a16="http://schemas.microsoft.com/office/drawing/2014/main" id="{A6D772E5-6DEF-AC84-498A-C8CD0175EF67}"/>
              </a:ext>
            </a:extLst>
          </p:cNvPr>
          <p:cNvPicPr>
            <a:picLocks noChangeAspect="1"/>
          </p:cNvPicPr>
          <p:nvPr/>
        </p:nvPicPr>
        <p:blipFill>
          <a:blip r:embed="rId3"/>
          <a:stretch>
            <a:fillRect/>
          </a:stretch>
        </p:blipFill>
        <p:spPr>
          <a:xfrm>
            <a:off x="187983" y="2570222"/>
            <a:ext cx="5720033" cy="4118575"/>
          </a:xfrm>
          <a:prstGeom prst="rect">
            <a:avLst/>
          </a:prstGeom>
        </p:spPr>
      </p:pic>
      <p:pic>
        <p:nvPicPr>
          <p:cNvPr id="7" name="Picture 6" descr="A graph with numbers and a line&#10;&#10;AI-generated content may be incorrect.">
            <a:extLst>
              <a:ext uri="{FF2B5EF4-FFF2-40B4-BE49-F238E27FC236}">
                <a16:creationId xmlns:a16="http://schemas.microsoft.com/office/drawing/2014/main" id="{74635B83-34C5-2CF2-38E8-4F5F52362170}"/>
              </a:ext>
            </a:extLst>
          </p:cNvPr>
          <p:cNvPicPr>
            <a:picLocks noChangeAspect="1"/>
          </p:cNvPicPr>
          <p:nvPr/>
        </p:nvPicPr>
        <p:blipFill>
          <a:blip r:embed="rId4"/>
          <a:stretch>
            <a:fillRect/>
          </a:stretch>
        </p:blipFill>
        <p:spPr>
          <a:xfrm>
            <a:off x="5906694" y="3078192"/>
            <a:ext cx="6096784" cy="3486383"/>
          </a:xfrm>
          <a:prstGeom prst="rect">
            <a:avLst/>
          </a:prstGeom>
        </p:spPr>
      </p:pic>
    </p:spTree>
    <p:extLst>
      <p:ext uri="{BB962C8B-B14F-4D97-AF65-F5344CB8AC3E}">
        <p14:creationId xmlns:p14="http://schemas.microsoft.com/office/powerpoint/2010/main" val="3511747149"/>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5EBC18B6-E5C3-4AD1-97A4-E6A3477A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D75F06-CB1F-AB4A-7465-5DDB66EC142E}"/>
              </a:ext>
            </a:extLst>
          </p:cNvPr>
          <p:cNvSpPr>
            <a:spLocks noGrp="1"/>
          </p:cNvSpPr>
          <p:nvPr>
            <p:ph type="title"/>
          </p:nvPr>
        </p:nvSpPr>
        <p:spPr>
          <a:xfrm>
            <a:off x="612648" y="1078992"/>
            <a:ext cx="6272784" cy="1545336"/>
          </a:xfrm>
        </p:spPr>
        <p:txBody>
          <a:bodyPr anchor="b">
            <a:normAutofit/>
          </a:bodyPr>
          <a:lstStyle/>
          <a:p>
            <a:r>
              <a:rPr lang="en-US" sz="5200"/>
              <a:t>Methodology</a:t>
            </a:r>
          </a:p>
        </p:txBody>
      </p:sp>
      <p:sp>
        <p:nvSpPr>
          <p:cNvPr id="46" name="Rectangle 45">
            <a:extLst>
              <a:ext uri="{FF2B5EF4-FFF2-40B4-BE49-F238E27FC236}">
                <a16:creationId xmlns:a16="http://schemas.microsoft.com/office/drawing/2014/main" id="{136A4AB6-B72B-4CC6-ADCF-BE807B6C3D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039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2BDAEDA-0770-2538-1233-017348A2734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9958" b="5869"/>
          <a:stretch>
            <a:fillRect/>
          </a:stretch>
        </p:blipFill>
        <p:spPr>
          <a:xfrm>
            <a:off x="7684008" y="1"/>
            <a:ext cx="4507992" cy="2240280"/>
          </a:xfrm>
          <a:prstGeom prst="rect">
            <a:avLst/>
          </a:prstGeom>
        </p:spPr>
      </p:pic>
      <p:sp>
        <p:nvSpPr>
          <p:cNvPr id="47" name="Rectangle 46">
            <a:extLst>
              <a:ext uri="{FF2B5EF4-FFF2-40B4-BE49-F238E27FC236}">
                <a16:creationId xmlns:a16="http://schemas.microsoft.com/office/drawing/2014/main" id="{B35D540D-9486-4236-952A-F72DC52D79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792"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D63DEAE-E09A-AB26-7B91-FCB4F63B3026}"/>
              </a:ext>
            </a:extLst>
          </p:cNvPr>
          <p:cNvSpPr>
            <a:spLocks noGrp="1"/>
          </p:cNvSpPr>
          <p:nvPr>
            <p:ph idx="1"/>
          </p:nvPr>
        </p:nvSpPr>
        <p:spPr>
          <a:xfrm>
            <a:off x="612648" y="3355848"/>
            <a:ext cx="6272784" cy="2825496"/>
          </a:xfrm>
        </p:spPr>
        <p:txBody>
          <a:bodyPr vert="horz" lIns="91440" tIns="45720" rIns="91440" bIns="45720" rtlCol="0" anchor="t">
            <a:normAutofit/>
          </a:bodyPr>
          <a:lstStyle/>
          <a:p>
            <a:r>
              <a:rPr lang="en-US" sz="2200"/>
              <a:t>Mixed – Method approach</a:t>
            </a:r>
            <a:endParaRPr lang="en-US"/>
          </a:p>
          <a:p>
            <a:r>
              <a:rPr lang="en-US" sz="2200"/>
              <a:t>PIT data cleaned + consolidated in Power BI </a:t>
            </a:r>
          </a:p>
          <a:p>
            <a:r>
              <a:rPr lang="en-US" sz="2200"/>
              <a:t>KPIs developed to assess system performance </a:t>
            </a:r>
          </a:p>
          <a:p>
            <a:r>
              <a:rPr lang="en-US" sz="2200"/>
              <a:t>Interview data coded for segmentation + barrier identification</a:t>
            </a:r>
          </a:p>
          <a:p>
            <a:r>
              <a:rPr lang="en-US" sz="2200"/>
              <a:t>Iterative analysis to refine outreach strategies</a:t>
            </a:r>
          </a:p>
        </p:txBody>
      </p:sp>
      <p:pic>
        <p:nvPicPr>
          <p:cNvPr id="4" name="Picture 3">
            <a:extLst>
              <a:ext uri="{FF2B5EF4-FFF2-40B4-BE49-F238E27FC236}">
                <a16:creationId xmlns:a16="http://schemas.microsoft.com/office/drawing/2014/main" id="{BED70A0B-E4F8-D95E-4193-56BD23C8244D}"/>
              </a:ext>
            </a:extLst>
          </p:cNvPr>
          <p:cNvPicPr>
            <a:picLocks noChangeAspect="1"/>
          </p:cNvPicPr>
          <p:nvPr/>
        </p:nvPicPr>
        <p:blipFill>
          <a:blip r:embed="rId5">
            <a:extLst>
              <a:ext uri="{28A0092B-C50C-407E-A947-70E740481C1C}">
                <a14:useLocalDpi xmlns:a14="http://schemas.microsoft.com/office/drawing/2010/main" val="0"/>
              </a:ext>
            </a:extLst>
          </a:blip>
          <a:srcRect t="11652"/>
          <a:stretch>
            <a:fillRect/>
          </a:stretch>
        </p:blipFill>
        <p:spPr>
          <a:xfrm>
            <a:off x="7684008" y="2308860"/>
            <a:ext cx="4507992" cy="2240280"/>
          </a:xfrm>
          <a:prstGeom prst="rect">
            <a:avLst/>
          </a:prstGeom>
        </p:spPr>
      </p:pic>
      <p:pic>
        <p:nvPicPr>
          <p:cNvPr id="8" name="Picture 7">
            <a:extLst>
              <a:ext uri="{FF2B5EF4-FFF2-40B4-BE49-F238E27FC236}">
                <a16:creationId xmlns:a16="http://schemas.microsoft.com/office/drawing/2014/main" id="{8518F256-52EA-B467-511C-DAB6510B1E5E}"/>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r="15486"/>
          <a:stretch>
            <a:fillRect/>
          </a:stretch>
        </p:blipFill>
        <p:spPr>
          <a:xfrm>
            <a:off x="7684008" y="4617720"/>
            <a:ext cx="4507992" cy="2240280"/>
          </a:xfrm>
          <a:prstGeom prst="rect">
            <a:avLst/>
          </a:prstGeom>
        </p:spPr>
      </p:pic>
    </p:spTree>
    <p:extLst>
      <p:ext uri="{BB962C8B-B14F-4D97-AF65-F5344CB8AC3E}">
        <p14:creationId xmlns:p14="http://schemas.microsoft.com/office/powerpoint/2010/main" val="692877973"/>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4F9564-0D59-95F4-CAED-CC47FD6A2D51}"/>
              </a:ext>
            </a:extLst>
          </p:cNvPr>
          <p:cNvSpPr>
            <a:spLocks noGrp="1"/>
          </p:cNvSpPr>
          <p:nvPr>
            <p:ph type="title"/>
          </p:nvPr>
        </p:nvSpPr>
        <p:spPr>
          <a:xfrm>
            <a:off x="4797501" y="329184"/>
            <a:ext cx="6755626" cy="1783080"/>
          </a:xfrm>
        </p:spPr>
        <p:txBody>
          <a:bodyPr anchor="b">
            <a:normAutofit/>
          </a:bodyPr>
          <a:lstStyle/>
          <a:p>
            <a:r>
              <a:rPr lang="en-US" sz="5400"/>
              <a:t>Key finding: Homelessness Trend</a:t>
            </a:r>
          </a:p>
        </p:txBody>
      </p:sp>
      <p:pic>
        <p:nvPicPr>
          <p:cNvPr id="7" name="Picture 6">
            <a:extLst>
              <a:ext uri="{FF2B5EF4-FFF2-40B4-BE49-F238E27FC236}">
                <a16:creationId xmlns:a16="http://schemas.microsoft.com/office/drawing/2014/main" id="{B1471DC6-1C55-E908-A653-34C09D791920}"/>
              </a:ext>
            </a:extLst>
          </p:cNvPr>
          <p:cNvPicPr>
            <a:picLocks noChangeAspect="1"/>
          </p:cNvPicPr>
          <p:nvPr/>
        </p:nvPicPr>
        <p:blipFill>
          <a:blip r:embed="rId3"/>
          <a:stretch>
            <a:fillRect/>
          </a:stretch>
        </p:blipFill>
        <p:spPr>
          <a:xfrm>
            <a:off x="320040" y="659183"/>
            <a:ext cx="4014216" cy="2589169"/>
          </a:xfrm>
          <a:prstGeom prst="rect">
            <a:avLst/>
          </a:prstGeom>
        </p:spPr>
      </p:pic>
      <p:sp>
        <p:nvSpPr>
          <p:cNvPr id="18"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7A2015A-0CA8-A227-FCE4-81BA119042FE}"/>
              </a:ext>
            </a:extLst>
          </p:cNvPr>
          <p:cNvPicPr>
            <a:picLocks noChangeAspect="1"/>
          </p:cNvPicPr>
          <p:nvPr/>
        </p:nvPicPr>
        <p:blipFill>
          <a:blip r:embed="rId4"/>
          <a:stretch>
            <a:fillRect/>
          </a:stretch>
        </p:blipFill>
        <p:spPr>
          <a:xfrm>
            <a:off x="444074" y="4149598"/>
            <a:ext cx="3747860" cy="2098802"/>
          </a:xfrm>
          <a:prstGeom prst="rect">
            <a:avLst/>
          </a:prstGeom>
        </p:spPr>
      </p:pic>
      <p:sp>
        <p:nvSpPr>
          <p:cNvPr id="3" name="Content Placeholder 2">
            <a:extLst>
              <a:ext uri="{FF2B5EF4-FFF2-40B4-BE49-F238E27FC236}">
                <a16:creationId xmlns:a16="http://schemas.microsoft.com/office/drawing/2014/main" id="{1F1C2BE4-E773-2A41-2154-D8C77F36DA87}"/>
              </a:ext>
            </a:extLst>
          </p:cNvPr>
          <p:cNvSpPr>
            <a:spLocks noGrp="1"/>
          </p:cNvSpPr>
          <p:nvPr>
            <p:ph idx="1"/>
          </p:nvPr>
        </p:nvSpPr>
        <p:spPr>
          <a:xfrm>
            <a:off x="4797494" y="2706624"/>
            <a:ext cx="6755626" cy="3483864"/>
          </a:xfrm>
        </p:spPr>
        <p:txBody>
          <a:bodyPr vert="horz" lIns="91440" tIns="45720" rIns="91440" bIns="45720" rtlCol="0" anchor="t">
            <a:normAutofit/>
          </a:bodyPr>
          <a:lstStyle/>
          <a:p>
            <a:r>
              <a:rPr lang="en-US" sz="2200"/>
              <a:t>Cumberland County (2007–2024) </a:t>
            </a:r>
          </a:p>
          <a:p>
            <a:pPr lvl="1"/>
            <a:r>
              <a:rPr lang="en-US" sz="2200"/>
              <a:t>Peak around 2012, d</a:t>
            </a:r>
            <a:r>
              <a:rPr lang="en-US" sz="2200" dirty="0"/>
              <a:t>ecline</a:t>
            </a:r>
            <a:r>
              <a:rPr lang="en-US" sz="2200"/>
              <a:t> through 2021 </a:t>
            </a:r>
          </a:p>
          <a:p>
            <a:pPr lvl="1"/>
            <a:r>
              <a:rPr lang="en-US" sz="2200" dirty="0"/>
              <a:t>Recent </a:t>
            </a:r>
            <a:r>
              <a:rPr lang="en-US" sz="2200"/>
              <a:t>increase </a:t>
            </a:r>
            <a:r>
              <a:rPr lang="en-US" sz="2200" dirty="0"/>
              <a:t>indicates renewed demand</a:t>
            </a:r>
          </a:p>
          <a:p>
            <a:pPr lvl="1"/>
            <a:r>
              <a:rPr lang="en-US" sz="2200"/>
              <a:t>System under continued pressure</a:t>
            </a:r>
          </a:p>
          <a:p>
            <a:endParaRPr lang="en-US" sz="2200"/>
          </a:p>
        </p:txBody>
      </p:sp>
      <p:pic>
        <p:nvPicPr>
          <p:cNvPr id="4" name="Picture 3" descr="A graph of a number of homeless people&#10;&#10;AI-generated content may be incorrect.">
            <a:extLst>
              <a:ext uri="{FF2B5EF4-FFF2-40B4-BE49-F238E27FC236}">
                <a16:creationId xmlns:a16="http://schemas.microsoft.com/office/drawing/2014/main" id="{07B0FE3B-7042-C6B7-56FB-1737C52E2600}"/>
              </a:ext>
            </a:extLst>
          </p:cNvPr>
          <p:cNvPicPr>
            <a:picLocks noChangeAspect="1"/>
          </p:cNvPicPr>
          <p:nvPr/>
        </p:nvPicPr>
        <p:blipFill>
          <a:blip r:embed="rId5"/>
          <a:stretch>
            <a:fillRect/>
          </a:stretch>
        </p:blipFill>
        <p:spPr>
          <a:xfrm>
            <a:off x="5133166" y="4153528"/>
            <a:ext cx="5016799" cy="2705999"/>
          </a:xfrm>
          <a:prstGeom prst="rect">
            <a:avLst/>
          </a:prstGeom>
        </p:spPr>
      </p:pic>
    </p:spTree>
    <p:extLst>
      <p:ext uri="{BB962C8B-B14F-4D97-AF65-F5344CB8AC3E}">
        <p14:creationId xmlns:p14="http://schemas.microsoft.com/office/powerpoint/2010/main" val="1580655717"/>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8BA72-85F8-9BA1-F936-BBA7F8BB1334}"/>
              </a:ext>
            </a:extLst>
          </p:cNvPr>
          <p:cNvSpPr>
            <a:spLocks noGrp="1"/>
          </p:cNvSpPr>
          <p:nvPr>
            <p:ph type="title"/>
          </p:nvPr>
        </p:nvSpPr>
        <p:spPr>
          <a:xfrm>
            <a:off x="795528" y="386930"/>
            <a:ext cx="10141799" cy="1300554"/>
          </a:xfrm>
        </p:spPr>
        <p:txBody>
          <a:bodyPr anchor="b">
            <a:normAutofit/>
          </a:bodyPr>
          <a:lstStyle/>
          <a:p>
            <a:r>
              <a:rPr lang="en-US" sz="4800"/>
              <a:t>Implementation</a:t>
            </a:r>
          </a:p>
        </p:txBody>
      </p:sp>
      <p:sp>
        <p:nvSpPr>
          <p:cNvPr id="25" name="Rectangle 24">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BC0A3EC-4CBC-0C6C-2254-D138F2474C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295" y="2933322"/>
            <a:ext cx="5150277" cy="2897029"/>
          </a:xfrm>
          <a:prstGeom prst="rect">
            <a:avLst/>
          </a:prstGeom>
        </p:spPr>
      </p:pic>
      <p:sp>
        <p:nvSpPr>
          <p:cNvPr id="29" name="Rectangle 28">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1A6A2212-4F4A-A00F-85BA-CB4A5B797EC3}"/>
              </a:ext>
            </a:extLst>
          </p:cNvPr>
          <p:cNvGraphicFramePr/>
          <p:nvPr>
            <p:extLst>
              <p:ext uri="{D42A27DB-BD31-4B8C-83A1-F6EECF244321}">
                <p14:modId xmlns:p14="http://schemas.microsoft.com/office/powerpoint/2010/main" val="3474486296"/>
              </p:ext>
            </p:extLst>
          </p:nvPr>
        </p:nvGraphicFramePr>
        <p:xfrm>
          <a:off x="6406429" y="2599509"/>
          <a:ext cx="4530898" cy="36394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13350669"/>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87571F-1AAA-7826-A69D-8B5A0C984C5E}"/>
              </a:ext>
            </a:extLst>
          </p:cNvPr>
          <p:cNvSpPr>
            <a:spLocks noGrp="1"/>
          </p:cNvSpPr>
          <p:nvPr>
            <p:ph type="title"/>
          </p:nvPr>
        </p:nvSpPr>
        <p:spPr>
          <a:xfrm>
            <a:off x="838200" y="556995"/>
            <a:ext cx="10515600" cy="1133693"/>
          </a:xfrm>
        </p:spPr>
        <p:txBody>
          <a:bodyPr>
            <a:normAutofit/>
          </a:bodyPr>
          <a:lstStyle/>
          <a:p>
            <a:r>
              <a:rPr lang="en-US" sz="5200"/>
              <a:t>Recommendation</a:t>
            </a:r>
          </a:p>
        </p:txBody>
      </p:sp>
      <p:graphicFrame>
        <p:nvGraphicFramePr>
          <p:cNvPr id="7" name="Content Placeholder 2">
            <a:extLst>
              <a:ext uri="{FF2B5EF4-FFF2-40B4-BE49-F238E27FC236}">
                <a16:creationId xmlns:a16="http://schemas.microsoft.com/office/drawing/2014/main" id="{6C0CB2A2-1132-A42B-9535-53EE4BE3610E}"/>
              </a:ext>
            </a:extLst>
          </p:cNvPr>
          <p:cNvGraphicFramePr>
            <a:graphicFrameLocks noGrp="1"/>
          </p:cNvGraphicFramePr>
          <p:nvPr>
            <p:ph idx="1"/>
            <p:extLst>
              <p:ext uri="{D42A27DB-BD31-4B8C-83A1-F6EECF244321}">
                <p14:modId xmlns:p14="http://schemas.microsoft.com/office/powerpoint/2010/main" val="354881676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248565"/>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BB3BB7-196A-BDAE-6AB5-AEE5B96E3768}"/>
              </a:ext>
            </a:extLst>
          </p:cNvPr>
          <p:cNvSpPr>
            <a:spLocks noGrp="1"/>
          </p:cNvSpPr>
          <p:nvPr>
            <p:ph type="title"/>
          </p:nvPr>
        </p:nvSpPr>
        <p:spPr>
          <a:xfrm>
            <a:off x="635000" y="640823"/>
            <a:ext cx="3418659" cy="5583148"/>
          </a:xfrm>
        </p:spPr>
        <p:txBody>
          <a:bodyPr anchor="ctr">
            <a:normAutofit/>
          </a:bodyPr>
          <a:lstStyle/>
          <a:p>
            <a:r>
              <a:rPr lang="en-US" sz="5400"/>
              <a:t>Conclusion</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AA9467C-CC98-F486-0928-B76239168525}"/>
              </a:ext>
            </a:extLst>
          </p:cNvPr>
          <p:cNvGraphicFramePr>
            <a:graphicFrameLocks noGrp="1"/>
          </p:cNvGraphicFramePr>
          <p:nvPr>
            <p:ph idx="1"/>
            <p:extLst>
              <p:ext uri="{D42A27DB-BD31-4B8C-83A1-F6EECF244321}">
                <p14:modId xmlns:p14="http://schemas.microsoft.com/office/powerpoint/2010/main" val="205534464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1858616"/>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AE9FC70-8A26-4CF2-8E04-EBDADB8B8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09CB703-C563-4F1F-BF28-83C06E978C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91CB0EE1-8E2F-2632-60FD-EF02F749DCDA}"/>
              </a:ext>
            </a:extLst>
          </p:cNvPr>
          <p:cNvSpPr>
            <a:spLocks noGrp="1"/>
          </p:cNvSpPr>
          <p:nvPr>
            <p:ph type="title"/>
          </p:nvPr>
        </p:nvSpPr>
        <p:spPr>
          <a:xfrm>
            <a:off x="5207000" y="583345"/>
            <a:ext cx="5833787" cy="2274155"/>
          </a:xfrm>
        </p:spPr>
        <p:txBody>
          <a:bodyPr vert="horz" lIns="91440" tIns="45720" rIns="91440" bIns="45720" rtlCol="0" anchor="b">
            <a:normAutofit/>
          </a:bodyPr>
          <a:lstStyle/>
          <a:p>
            <a:pPr algn="r"/>
            <a:r>
              <a:rPr lang="en-US" sz="5600" kern="1200">
                <a:solidFill>
                  <a:srgbClr val="FFFFFF"/>
                </a:solidFill>
                <a:latin typeface="+mj-lt"/>
                <a:ea typeface="+mj-ea"/>
                <a:cs typeface="+mj-cs"/>
              </a:rPr>
              <a:t>Any </a:t>
            </a:r>
            <a:r>
              <a:rPr lang="en-US" sz="5600">
                <a:solidFill>
                  <a:srgbClr val="FFFFFF"/>
                </a:solidFill>
              </a:rPr>
              <a:t>Questions?</a:t>
            </a:r>
            <a:endParaRPr lang="en-US" sz="5600" kern="1200">
              <a:solidFill>
                <a:srgbClr val="FFFFFF"/>
              </a:solidFill>
              <a:latin typeface="+mj-lt"/>
              <a:ea typeface="+mj-ea"/>
              <a:cs typeface="+mj-cs"/>
            </a:endParaRPr>
          </a:p>
        </p:txBody>
      </p:sp>
      <p:sp>
        <p:nvSpPr>
          <p:cNvPr id="2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041" y="25973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cxnSp>
        <p:nvCxnSpPr>
          <p:cNvPr id="23" name="Straight Connector 2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7" name="Graphic 6" descr="Help">
            <a:extLst>
              <a:ext uri="{FF2B5EF4-FFF2-40B4-BE49-F238E27FC236}">
                <a16:creationId xmlns:a16="http://schemas.microsoft.com/office/drawing/2014/main" id="{87EB4CF3-C825-51EA-DC91-ABCB659423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08391" y="2814239"/>
            <a:ext cx="3217333" cy="3217333"/>
          </a:xfrm>
          <a:prstGeom prst="rect">
            <a:avLst/>
          </a:prstGeom>
        </p:spPr>
      </p:pic>
      <p:sp>
        <p:nvSpPr>
          <p:cNvPr id="25"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7821" y="28266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27"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9869" y="610939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099100948"/>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73691D-6046-58D0-3817-BE512B27FCCA}"/>
              </a:ext>
            </a:extLst>
          </p:cNvPr>
          <p:cNvSpPr>
            <a:spLocks noGrp="1"/>
          </p:cNvSpPr>
          <p:nvPr>
            <p:ph type="title"/>
          </p:nvPr>
        </p:nvSpPr>
        <p:spPr>
          <a:xfrm>
            <a:off x="686834" y="1153572"/>
            <a:ext cx="3200400" cy="4461163"/>
          </a:xfrm>
        </p:spPr>
        <p:txBody>
          <a:bodyPr>
            <a:normAutofit/>
          </a:bodyPr>
          <a:lstStyle/>
          <a:p>
            <a:r>
              <a:rPr lang="en-US">
                <a:solidFill>
                  <a:srgbClr val="FFFFFF"/>
                </a:solidFill>
              </a:rPr>
              <a:t>References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E91B704-373E-6E6E-319E-D0C085765BBE}"/>
              </a:ext>
            </a:extLst>
          </p:cNvPr>
          <p:cNvSpPr>
            <a:spLocks noGrp="1"/>
          </p:cNvSpPr>
          <p:nvPr>
            <p:ph idx="1"/>
          </p:nvPr>
        </p:nvSpPr>
        <p:spPr>
          <a:xfrm>
            <a:off x="4447308" y="591344"/>
            <a:ext cx="6906491" cy="5585619"/>
          </a:xfrm>
        </p:spPr>
        <p:txBody>
          <a:bodyPr anchor="ctr">
            <a:normAutofit/>
          </a:bodyPr>
          <a:lstStyle/>
          <a:p>
            <a:r>
              <a:rPr lang="en-US" sz="700"/>
              <a:t>Case Studies of Nonprofit Organizations Effectively Using ... (2025). https://socialtargeter.com/blogs/case-studies-of-nonprofit-organizations-effectively-using-data-analytics-to-drive-donations</a:t>
            </a:r>
          </a:p>
          <a:p>
            <a:r>
              <a:rPr lang="en-US" sz="700"/>
              <a:t>Changing Perceptions on Homelessness Through ... (n.d.). Retrieved https://mediacause.com/our-work/case-study/changing-perceptions-mobilization-campaign/</a:t>
            </a:r>
          </a:p>
          <a:p>
            <a:r>
              <a:rPr lang="en-US" sz="700"/>
              <a:t>Effective Messaging and the Solution to End Homelessness. (n.d.). Retrieved https://gomixte.com/blog/effective-messaging-solution-to-end-homelessness/</a:t>
            </a:r>
          </a:p>
          <a:p>
            <a:r>
              <a:rPr lang="en-US" sz="700"/>
              <a:t>Evans, W., Phillips, D., &amp; Ruffini, K. J. (2019). Reducing and Preventing Homelessness: A Review of the Evidence and Charting a Research Agenda. Randomized Social Experiments </a:t>
            </a:r>
            <a:r>
              <a:rPr lang="en-US" sz="700" err="1"/>
              <a:t>eJournal</a:t>
            </a:r>
            <a:r>
              <a:rPr lang="en-US" sz="700"/>
              <a:t>. https://www.nber.org/system/files/working_papers/w26232/w26232.pdf</a:t>
            </a:r>
          </a:p>
          <a:p>
            <a:r>
              <a:rPr lang="en-US" sz="700"/>
              <a:t>Homelessness. (2025). https://isocialmarketing.org/homelessness/</a:t>
            </a:r>
          </a:p>
          <a:p>
            <a:r>
              <a:rPr lang="en-US" sz="700"/>
              <a:t>Homelessness Toolkit to Support Local Businesses. (2025). https://fwhcc.org/homelessnesstoolkit/</a:t>
            </a:r>
          </a:p>
          <a:p>
            <a:r>
              <a:rPr lang="en-US" sz="700"/>
              <a:t>Housing-Focused Street Outreach: Starting with Data to Inform Decision- ... (n.d.). Retrieved https://endhomelessness.org/webinars/housing-focused-street-outreach-starting-with-data-to-inform-decision-making/</a:t>
            </a:r>
          </a:p>
          <a:p>
            <a:r>
              <a:rPr lang="en-US" sz="700"/>
              <a:t>How Can Social Marketing Help Reduce Homelessness in ... (2023). https://patimes.org/how-can-social-marketing-help-reduce-homelessness-in-the-united-states/</a:t>
            </a:r>
          </a:p>
          <a:p>
            <a:r>
              <a:rPr lang="en-US" sz="700"/>
              <a:t>How to Leverage Data Analytics to Drive Non-Profit Growth. (2025). https://www.bradymartz.com/how-to-leverage-data-analytics-to-drive-non-profit-growth/</a:t>
            </a:r>
          </a:p>
          <a:p>
            <a:r>
              <a:rPr lang="en-US" sz="700"/>
              <a:t>Innovative Marketing Strategies for Homeless Shelters. (2024). https://desygner.com/blog/industry/how-to-market-homeless-shelters-business</a:t>
            </a:r>
          </a:p>
          <a:p>
            <a:r>
              <a:rPr lang="en-US" sz="700"/>
              <a:t>Kube, A., Das, S., &amp; Fowler, P. J. (2019). Allocating Interventions Based on Predicted Outcomes: A Case Study on Homelessness Services. Proceedings of the AAAI Conference on Artificial Intelligence, 33(01), 622-629. https://doi.org/10.1609/aaai.v33i01.3301622</a:t>
            </a:r>
          </a:p>
          <a:p>
            <a:r>
              <a:rPr lang="en-US" sz="700"/>
              <a:t>Marketing for Homeless Shelters and Housing Insecurity ... (n.d.). Retrieved https://nonprofit-nerd.com/marketing-homeless-shelters</a:t>
            </a:r>
          </a:p>
          <a:p>
            <a:r>
              <a:rPr lang="en-US" sz="700"/>
              <a:t>Marshall CA, Boland L, Westover LA, Marcellus B, Weil S, Wickett S. Effectiveness of interventions targeting community integration among individuals with lived experiences of homelessness: A systematic review. Health Soc Care Community. 2020;28:1843–1862. https://doi.org/10.1111/hsc.13030</a:t>
            </a:r>
          </a:p>
          <a:p>
            <a:r>
              <a:rPr lang="en-US" sz="700"/>
              <a:t>Navigating Homelessness and Housing Needs Data: Tailoring and ... (n.d.). Retrieved https://www.usich.gov/sites/default/files/document/Navigating-Homelessness-Housing-Needs-Data-2020-update.pdf</a:t>
            </a:r>
          </a:p>
          <a:p>
            <a:r>
              <a:rPr lang="en-US" sz="700"/>
              <a:t>Nonprofit Analytics: Data Analysis Tools, Software &amp; ... (2026). https://www.sopact.com/use-case/nonprofit-analytics</a:t>
            </a:r>
          </a:p>
          <a:p>
            <a:r>
              <a:rPr lang="en-US" sz="700"/>
              <a:t>Social Media Marketing for Homeless Shelters - Waleed. (n.d.). Retrieved https://mwaleed.org/homeless-shelter-social-media-marketing/</a:t>
            </a:r>
          </a:p>
          <a:p>
            <a:r>
              <a:rPr lang="en-US" sz="700"/>
              <a:t>Understanding the Role of Data Analytics in Homelessness Policy ... (2024). https://www.bitfocus.com/blog/role-of-data-in-homeless-policy-evaluation</a:t>
            </a:r>
          </a:p>
          <a:p>
            <a:r>
              <a:rPr lang="en-US" sz="700"/>
              <a:t>Using OOH to Help the Homeless. (2019). https://oaaa.org/blog-posts/using-ooh-to-help-the-homeless/</a:t>
            </a:r>
          </a:p>
          <a:p>
            <a:r>
              <a:rPr lang="en-US" sz="700"/>
              <a:t>White, H., Saran, A., Fowler, B., Portes, A., Fitzpatrick, S., &amp; Teixeira, L. (2019). PROTOCOL: Studies of the effectiveness of interventions to improve the welfare of those affected by, and at risk of, homelessness in high‐income countries: An evidence and gap map. Campbell Systematic Reviews. https://journals.sagepub.com/doi/full/10.1002/cl2.1069</a:t>
            </a:r>
          </a:p>
          <a:p>
            <a:r>
              <a:rPr lang="en-US" sz="700"/>
              <a:t>Why Data Analytics Is Within Reach for Nonprofits. (2026). https://www.mjcpa.com/why-data-analytics-is-wit</a:t>
            </a:r>
          </a:p>
        </p:txBody>
      </p:sp>
    </p:spTree>
    <p:extLst>
      <p:ext uri="{BB962C8B-B14F-4D97-AF65-F5344CB8AC3E}">
        <p14:creationId xmlns:p14="http://schemas.microsoft.com/office/powerpoint/2010/main" val="1459255344"/>
      </p:ext>
    </p:extLst>
  </p:cSld>
  <p:clrMapOvr>
    <a:masterClrMapping/>
  </p:clrMapOvr>
  <p:transition spd="slow">
    <p:randomBar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activity xmlns="7eaef425-6e1d-4e05-be59-ff4b2d0c1ece"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8111208AFF49445AD182479A1EDCE88" ma:contentTypeVersion="19" ma:contentTypeDescription="Create a new document." ma:contentTypeScope="" ma:versionID="814f897146d16a825c74009e9f5d2613">
  <xsd:schema xmlns:xsd="http://www.w3.org/2001/XMLSchema" xmlns:xs="http://www.w3.org/2001/XMLSchema" xmlns:p="http://schemas.microsoft.com/office/2006/metadata/properties" xmlns:ns1="http://schemas.microsoft.com/sharepoint/v3" xmlns:ns3="7eaef425-6e1d-4e05-be59-ff4b2d0c1ece" xmlns:ns4="27ab2fe0-3c6d-4537-b5b4-9393a2270db1" targetNamespace="http://schemas.microsoft.com/office/2006/metadata/properties" ma:root="true" ma:fieldsID="1ed9f8b754c1d3ce2681dccf0dd5ca4a" ns1:_="" ns3:_="" ns4:_="">
    <xsd:import namespace="http://schemas.microsoft.com/sharepoint/v3"/>
    <xsd:import namespace="7eaef425-6e1d-4e05-be59-ff4b2d0c1ece"/>
    <xsd:import namespace="27ab2fe0-3c6d-4537-b5b4-9393a2270db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eaef425-6e1d-4e05-be59-ff4b2d0c1e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AutoTags" ma:index="19" nillable="true" ma:displayName="Tags" ma:internalName="MediaServiceAutoTags"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7ab2fe0-3c6d-4537-b5b4-9393a2270db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2074BD-E635-48C4-924D-16DF37AF35A3}">
  <ds:schemaRefs>
    <ds:schemaRef ds:uri="http://purl.org/dc/terms/"/>
    <ds:schemaRef ds:uri="http://purl.org/dc/dcmitype/"/>
    <ds:schemaRef ds:uri="27ab2fe0-3c6d-4537-b5b4-9393a2270db1"/>
    <ds:schemaRef ds:uri="7eaef425-6e1d-4e05-be59-ff4b2d0c1ece"/>
    <ds:schemaRef ds:uri="http://purl.org/dc/elements/1.1/"/>
    <ds:schemaRef ds:uri="http://schemas.microsoft.com/sharepoint/v3"/>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59E53F04-92CD-42CC-B362-4686A4748609}">
  <ds:schemaRefs>
    <ds:schemaRef ds:uri="27ab2fe0-3c6d-4537-b5b4-9393a2270db1"/>
    <ds:schemaRef ds:uri="7eaef425-6e1d-4e05-be59-ff4b2d0c1ec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6C5B5F0-4111-4C10-B436-2FDF8041C9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2424</Words>
  <Application>Microsoft Office PowerPoint</Application>
  <PresentationFormat>Widescreen</PresentationFormat>
  <Paragraphs>190</Paragraphs>
  <Slides>18</Slides>
  <Notes>16</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Courier New</vt:lpstr>
      <vt:lpstr>Office Theme</vt:lpstr>
      <vt:lpstr>Marketing and Customer Analytics in Housing for Individuals Experiencing Homelessness</vt:lpstr>
      <vt:lpstr>Introduction / Project Overview</vt:lpstr>
      <vt:lpstr>Motivation</vt:lpstr>
      <vt:lpstr>Project Goals</vt:lpstr>
      <vt:lpstr>Objective 1: Customer Segmentation</vt:lpstr>
      <vt:lpstr>Objective 2: Outreach Channel Optimization</vt:lpstr>
      <vt:lpstr>Objective 3: Personalized Resource Matching</vt:lpstr>
      <vt:lpstr>Objective 4: Impact Measurement </vt:lpstr>
      <vt:lpstr>Problem Definition</vt:lpstr>
      <vt:lpstr>Literature Review: Key Insights</vt:lpstr>
      <vt:lpstr>Data Collection</vt:lpstr>
      <vt:lpstr>Methodology</vt:lpstr>
      <vt:lpstr>Key finding: Homelessness Trend</vt:lpstr>
      <vt:lpstr>Implementation</vt:lpstr>
      <vt:lpstr>Recommendation</vt:lpstr>
      <vt:lpstr>Conclusion</vt:lpstr>
      <vt:lpstr>Any Questions?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Mercy D (mharris21)</dc:creator>
  <cp:lastModifiedBy>Baker, Braeden S</cp:lastModifiedBy>
  <cp:revision>2</cp:revision>
  <dcterms:created xsi:type="dcterms:W3CDTF">2026-04-24T23:06:51Z</dcterms:created>
  <dcterms:modified xsi:type="dcterms:W3CDTF">2026-05-01T00:57:20Z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0x010100D8111208AFF49445AD182479A1EDCE88</vt:lpwstr>
  </property>
</Properties>
</file>